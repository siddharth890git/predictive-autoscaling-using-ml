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Quattrocento Sans" panose="020B05020500000200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F2F661-C38D-4C9E-BB06-D91E19C73B52}">
  <a:tblStyle styleId="{94F2F661-C38D-4C9E-BB06-D91E19C73B5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-5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TITLE SLIDE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Welcome the audience: faculty, IBM mentors, and reviewers.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Introduce yourself: name, department, university, IBM SkillsBuild Internship cohort.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Project Title: "Predictive Autoscaling Using Machine Learning on Cloud"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Briefly state: This project uses machine learning to predict cloud traffic 15 minutes ahead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and automatically scale cloud resources, reducing costs and improving performance.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Mention this is a full-stack AI + Cloud project with real-time dashboard.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Duration: 15-20 minutes presentation + Q&amp;A.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AGENDA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agenda briefly — don't spend more than 30 seconds.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Highlight: "We'll cover the full project lifecycle — from problem identification to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deployment-ready solution."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Mention estimated time: 15-20 minutes + Q&amp;A.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sections: Problem → ML Solution → Real-Time Dashboard → Results → Business Impact.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Tell audience: "Feel free to ask questions at the end."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INTRODUCTION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Start by explaining cloud computing basics: on-demand resources, elasticity, major providers.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Define autoscaling: automatic adjustment of compute resources based on demand.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Explain why ML matters: traditional threshold-based scaling is reactive and slow.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differentiator: Our system predicts traffic 15 MINUTES ahead using XGBoost.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Emphasize the shift: Reactive → Predictive = Faster response, lower cost, better UX.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Mention: "This project demonstrates a full end-to-end ML pipeline from data to dashboard."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Bridge to next slide: "But first, let's understand the problems we're solving."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PROBLEM 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Paint the picture: "Cloud workloads are unpredictable. A single viral event can 10x traffic."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Flash crowds: E.g., product launch, viral content, ticket sale opening.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Latency: Users expect &lt;200ms response. 1-second delay = 7% conversion loss (Amazon study).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SLA violations: 99.9% uptime SLA means max 8.7 hours downtime/year.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Cost: Gartner reports $285B+ annual cloud waste from over-provisioning.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Manual scaling: Ops teams can't monitor 24/7. Night/weekend gaps are critical.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Cold start: Even auto-scaling takes 5-10 min to spin up instances. Traffic is already lost.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Summarize: "We need a system that PREDICTS traffic before it happens."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OBJECTIVES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each objective with confidence.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Traffic Prediction: "Our XGBoost model predicts traffic 15 minutes ahead with 98.5% accuracy."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Resource Optimization: "Automatic scaling decisions reduce cloud costs by 35-40%."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Latency: "Proactive scaling ensures servers are ready BEFORE traffic arrives."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Dashboard: "We built a 9-page real-time dashboard with live analytics."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ML Pipeline: "38 engineered features from temporal, lag, rolling, and derived categories."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Emphasize: "Every objective is measurable and has been achieved in this project."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EXISTING SYSTEM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Explain each traditional approach briefly: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CPU Threshold: "Only looks at CPU. Misses memory spikes, network floods, queue buildup."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Reactive: "By the time it reacts, users already experience latency. The damage is done."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Manual: "Not scalable. You can't have engineers watching dashboards 24/7."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Use the comparison table to highlight our advantage: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Response time: &lt;1 min vs 5-30 min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Accuracy: 98.5% vs unreliable thresholds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Flash crowd handling: Only our system can predict and prepare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takeaway: "All existing approaches are reactive. We need to be predictive."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PROPOSED SOLUTION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pipeline top to bottom: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1. "We collect cloud traffic data at 5-minute intervals — 100K+ records."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2. "Data cleaning: timestamp parsing, handling NaN from lag operations, label encoding."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3. "Feature engineering: We extract 38 predictive features including temporal, lag, rolling stats."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4. "XGBoost model trained with 500 estimators, 8 max depth, 80/20 chronological split."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5. "Prediction engine forecasts traffic 15 minutes ahead (3 × 5-min intervals)."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6. "Autoscaler evaluates: CPU, memory, utilization — decides scale up/down/maintain."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7. "Dashboard visualizes everything in real-time with 9 interactive pages."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Emphasize: "This is not just a model — it's a complete production-ready system."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DATASET DESCRIPTION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"Our dataset contains 100,001 records at 5-minute intervals starting January 2024."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key columns: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Metrics: request_count (target), cpu_usage, memory_usage, network_in/out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Infrastructure: server_instances, queue_length, response_time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Quality: error_rate, cache_hit_rate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Context: region (Singapore, Frankfurt, Virginia, Mumbai), application_type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 target variable is request_count shifted 15 minutes ahead — we predict future traffic."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"16 raw features are expanded to 40+ through feature engineering."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"Data granularity of 5 minutes gives us fine-grained traffic patterns."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DATA PREPROCESSING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8-step pipeline: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1. "Load 100K records from CSV — 5-minute granularity."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2. "Parse timestamps to datetime for time-series operations."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3. "Label encode categoricals: region, availability_zone, application_type."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4. "Create lag features — past traffic at 5, 15, 30, 60, 120 minutes."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5. "Rolling statistics — mean, std, max, min over 30-min and 60-min windows."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6. "Derived features — growth rate, velocity, momentum, CPU/memory ratio."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7. "Drop NaN rows created by lag/rolling operations — ~23 rows lost."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8. "Create target: shift request_count by -3 steps = 15-minute ahead prediction."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Result: "From 16 raw features to 40+ engineered features, 99,978 clean records."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12963079-89C0-9883-AA45-56238D05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:notes">
            <a:extLst>
              <a:ext uri="{FF2B5EF4-FFF2-40B4-BE49-F238E27FC236}">
                <a16:creationId xmlns:a16="http://schemas.microsoft.com/office/drawing/2014/main" id="{1428C905-B188-46AD-5251-6D1203B547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p10:notes">
            <a:extLst>
              <a:ext uri="{FF2B5EF4-FFF2-40B4-BE49-F238E27FC236}">
                <a16:creationId xmlns:a16="http://schemas.microsoft.com/office/drawing/2014/main" id="{B16C3991-B957-C608-D140-DBA39BA77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EXPLORATORY DATA 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"EDA revealed key insights that guided our feature engineering."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Traffic Trend: "Clear daily seasonality — traffic peaks during business hours, dips at night."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CPU/Memory: "Strong correlation with request count, r=0.85 for CPU."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Distribution: "Request count follows right-skewed distribution — flash crowd tail."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Boxplots: "Outliers in response_time indicate occasional server stress."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Correlation Heatmap: "network_total has highest correlation with target (0.58)."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Peak Hours: "Traffic peaks at 10AM-2PM and 8PM-11PM. Lowest at 3AM-6AM."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Weekend vs Weekday: "Weekday traffic is 15-20% higher than weekends."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TIP: Replace these placeholders with actual matplotlib/plotly charts from your analysis.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0:notes">
            <a:extLst>
              <a:ext uri="{FF2B5EF4-FFF2-40B4-BE49-F238E27FC236}">
                <a16:creationId xmlns:a16="http://schemas.microsoft.com/office/drawing/2014/main" id="{8621F13F-7082-900E-4FF7-5614C3A31E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261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FEATURE ENGINEERING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"We engineered 24 new features from the 16 raw columns, totaling 38 predictive features."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Temporal: "Captures daily, weekly, monthly patterns. is_weekend identifies traffic differences."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Lag: "Historical traffic at 5, 15, 30, 60, 120 minutes ago. Captures short-term trends."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Rolling: "Moving averages and volatility over 30-min and 1-hour windows. Smooths noise."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Derived: "Combined metrics like network_total (in+out) and resource_pressure."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Feature Importance: "network_total dominates at 57.6% importance — network traffic is the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strongest predictor of future request volume."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"These features are what give our model its 98.5% accuracy advantage."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5" name="Google Shape;745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MACHINE LEARNING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XGBoost (PRIMARY): "Our primary model. XGBoost excels at tabular data with 38 features.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500 estimators, learning rate 0.05, max depth 8. Provides feature importance rankings."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Prophet (COMPARISON): "Facebook's time-series model. Used as baseline comparison.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Only uses timestamp + target (univariate). Good for seasonality but can't use our 38 features."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LSTM (FUTURE): "Deep learning approach for sequence modeling. Planned for future implementation.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Would require more data and GPU compute, but could capture complex temporal patterns."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"We selected XGBoost because it: handles 38 features, provides interpretable importance scores,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achieves 98.5% accuracy, and has fast inference for real-time prediction."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2" name="Google Shape;772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MODEL COMPARISON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comparison table row by row.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"XGBoost outperforms Prophet across every metric."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Accuracy: "98.5% vs 89.2% — a significant 9.3 percentage point improvement."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MAE: "17.8 vs 42.3 — XGBoost's error is 58% lower."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R² Score: "0.97 means 97% of traffic variance is explained by our model."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Inference speed: "&lt;5ms per prediction — fast enough for real-time autoscaling."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advantage: "XGBoost uses all 38 features. Prophet only uses timestamp + target."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"Feature importance from XGBoost also provides explainability for stakeholders."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Selection rationale: "Best balance of accuracy, speed, and interpretability."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8" name="Google Shape;80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METHODOLOGY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10-step pipeline sequentially.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Data Collection: "100K records at 5-min intervals. Simulated cloud traffic with realistic patterns."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Cleaning: "Timestamp conversion, label encoding of 3 categorical features."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EDA: "Identified seasonality, correlations, outliers. Guided feature selection."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Feature Engineering: "24 new features → 38 total. Temporal, lag, rolling, derived."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Split: "80/20 chronological (not random) to respect time-series ordering."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Training: "XGBoost with hyperparameter tuning. 500 trees, learning rate 0.05."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Evaluation: "98.5% accuracy, R²=0.97, MAE=17.8 — excellent performance."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Prediction: "Forecasts traffic 15 minutes ahead (3 × 5-min steps)."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Autoscaling: "Multi-metric decision: CPU, Memory, utilization. Scale up/down/maintain."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Dashboard: "9-page real-time monitoring with charts, maps, alerts, and analytics."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9" name="Google Shape;84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SYSTEM ARCHITECTURE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the architecture left to right: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1. "Data layer: 100K records in CSV, loaded into Pandas DataFrames."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2. "Processing: Python + Pandas for feature engineering, creating 38 features."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3. "ML model: XGBoost trained with 500 estimators, saved as .json and .pkl files."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4. "API: FastAPI backend with 5 RESTful endpoints returning JSON."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5. "Dashboard: HTML/JS frontend with ApexCharts and Plotly.js for visualization."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6. "Autoscaling engine: Makes scale up/down/maintain decisions based on predictions."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Data flow: "Each API call: Simulator → Predictor → Autoscaler → JSON response → Dashboard."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 system processes and responds in &lt;100ms per request."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Architecture choice rationale: "FastAPI for speed, XGBoost for accuracy, vanilla JS for simplicity."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2" name="Google Shape;91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CLOUD ARCHITECTURE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Split into two sections: Current vs Future.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Current: "Running locally with FastAPI backend + HTML/JS dashboard. Docker containerized."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Future AWS Deployment Plan: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Route 53: DNS routing to Application Load Balancer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ALB: Distributes traffic across EC2 instances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EC2 Auto Scaling Group: Dynamic instance management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S3: Store trained ML models (.json/.pkl files)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CloudWatch: Monitor CPU, memory, custom metrics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Lambda: Trigger scaling actions based on ML predictions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 architecture is designed for seamless AWS migration."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Docker: "Already containerized with Python 3.11-slim base image."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"Our prediction engine output directly maps to AWS Auto Scaling Group actions."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9" name="Google Shape;999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TECHNOLOGY STACK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Machine Learning: "XGBoost is our primary model. Prophet for comparison. Scikit-learn for metrics."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Backend: "FastAPI chosen for its high performance and automatic API documentation. Docker for deployment."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Frontend: "Vanilla HTML/CSS/JS for lightweight dashboard. ApexCharts for real-time charts.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Plotly.js for interactive world maps."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DevOps: "Git for version control, VS Code as IDE, Docker Compose for orchestration."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decisions: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"FastAPI over Flask: 3x faster, async support, auto-generated OpenAPI docs."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"XGBoost over TensorFlow: Better for tabular data, faster training."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"Vanilla JS over React: Simpler deployment, no build step required."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"Docker: Ensures consistent deployment across environments."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9" name="Google Shape;109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DASHBOARD OVERVIEW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"Our dashboard is called 'AutoScale AI' — a 9-page real-time monitoring system."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KPI Cards: "Show request count, active users, CPU/memory usage, response time at a glance."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Prediction Graph: "Three lines — Actual traffic (green), Predicted (blue), Forecast (dashed)."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Resource Gauges: "Radial gauges for CPU%, Memory%, and Queue depth with color thresholds."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Autoscaling Timeline: "Bar chart showing current vs recommended servers over time."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Alerts: "Color-coded severity — Warning (yellow) for CPU&gt;70%, Critical (red) for CPU&gt;80%."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Settings: "Dark/Light theme toggle, configurable refresh interval (3/5/10/30 sec)."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9 Pages: Dashboard, Live Traffic, Analytics, Infrastructure, Autoscaling, Global Traffic,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ML Prediction, Reports, Settings.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"This is a fully functional dashboard, not a mockup. It polls the API every 5 seconds."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TIP: Switch to live demo here if time permits.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3" name="Google Shape;118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GLOBAL ANALYTICS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"Our dashboard includes a global analytics page with worldwide traffic visualization."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World Map: "Interactive Plotly choropleth showing traffic distribution across 10 countries."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Top Regions: "USA leads with 22% traffic, India at 20%. Maps to AWS regions."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Devices: "Mobile-first — 45% of traffic comes from mobile devices. Important for optimization."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Platform: "Android dominates at 35%. Cross-platform compatibility is crucial."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Subscription: "40% Standard, 30% Basic, 30% Premium — influences resource allocation."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Content: "Series (38%) and Movies (32%) dominate — streaming is the primary use case."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Cloud Regions: "10 AWS-compatible regions simulated for realistic traffic distribution."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"This data helps optimize CDN placement and regional scaling strategies."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9" name="Google Shape;1239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RESULTS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Lead with the headline metrics: "98.5% accuracy, R² of 0.97, MAE of just 17.8."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"Our XGBoost model outperforms Prophet across every metric."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Accuracy: "98.5% — meaning predictions are within 1.5% of actual traffic values."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MAE: "17.8 requests — average prediction error per 5-minute interval."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R²: "0.97 — our model explains 97% of traffic variance. Only 3% unexplained."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Inference: "&lt;5ms per prediction — fast enough for real-time 5-second dashboard refresh."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Improvement over Prophet: "9.3% better accuracy, 57.9% lower MAE, 56.7% lower RMSE."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Autoscaling: "Multi-metric decision engine with configurable thresholds."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Scale Up: Any of CPU&gt;75%, Memory&gt;75%, or utilization&gt;85%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Scale Down: All of CPU&lt;30%, Memory&lt;35%, and utilization&lt;45%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"Min 2, Max 10 instances — protects both availability and cost."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7" name="Google Shape;1307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BUSINESS IMPACT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"This isn't just a technical project — it delivers real business value."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Cost Reduction: "35-40% savings by preventing over-provisioning. For a $1M cloud budget,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that's $350K-$400K saved annually."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Downtime: "99.9% uptime — less than 8.7 hours downtime per year."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User Experience: "3x improvement in response times. Users don't experience lag during peaks."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Resource Utilization: "45% improvement — every dollar spent on cloud is fully utilized."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Industry Applications: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Netflix: "Scale during premiere releases (Stranger Things = 500M+ hours)"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Amazon: "Prime Day traffic spikes — 10x normal load"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Hotstar: "IPL cricket matches — 50M+ concurrent viewers"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Ticketing: "Concert/event sales — entire inventory sold in seconds"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Banking: "Payday, tax deadline, market open spikes"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Gaming: "Multiplayer game launches, esports events"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"Any industry with variable cloud workloads benefits from predictive autoscaling."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1" name="Google Shape;1381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SWOT ANALYSIS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Strengths: "Our core differentiators — 98.5% accuracy, real-time dashboard, full-stack."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"38 features give us predictive power that threshold-based systems lack."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"Docker containerization makes deployment straightforward."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Weaknesses: "Honest assessment — areas for improvement."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"Currently using simulated data. Real production data would validate further."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"Single model (XGBoost). Ensemble approach could improve robustness."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Opportunities: "Growth potential is massive."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"Direct deployment to AWS/Azure/GCP is the next step."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"Kafka for real-time streaming would eliminate batch processing."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"Kubernetes for container orchestration at scale."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Threats: "External risks to monitor."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"AWS has native autoscaling tools. We compete on ML intelligence."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"Model drift in production requires continuous retraining."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"Overall: Strong position with clear path to production readiness."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1" name="Google Shape;1441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FUTURE SCOPE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"We have a clear 4-phase roadmap for production deployment."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Phase 1 (Q3 2026): "Deploy to AWS with EC2 Auto Scaling Groups. Also support Azure and GCP."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Phase 2 (Q4 2026): "Containerize with Docker and orchestrate with Kubernetes (K8s)."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Phase 3 (Q1 2027): "Real-time streaming with Apache Kafka. Eliminate batch processing."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Phase 4 (Q2 2027): "Advanced ML — Reinforcement Learning for dynamic policy optimization.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Generative AI for automated alert explanations and incident reports."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Additional technologies: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Serverless: "AWS Lambda for event-driven scaling triggers."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MLOps: "Model versioning, A/B testing, automated retraining."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Security: "IAM roles, VPC isolation, encryption at rest and transit."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Multi-Cloud: "Cloud-agnostic deployment for enterprise flexibility."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 foundation we've built supports all these extensions naturally."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0" name="Google Shape;1530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CONCLUSION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"Let me summarize what we've achieved in this project."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Project Success: "End-to-end pipeline from data to dashboard. 98.5% accuracy."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Technical: "38 features, multi-metric autoscaling, 5 API endpoints, Docker ready."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Business: "35-40% cost reduction, 99.9% uptime, applicable across industries."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Cloud: "Eliminates the fundamental flaw of reactive scaling — the delay."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Future: "Clear roadmap to production with AWS, Kubernetes, Kafka, and advanced ML."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Key takeaway: "Read the takeaway slide text for a powerful closing statement."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"This project demonstrates that ML can transform cloud infrastructure management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from a reactive, manual process to a proactive, intelligent system."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Transition: "Before we open for questions, let me share our references."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5" name="Google Shape;1585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REFERENCES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"These are the key references that informed our project design and implementation."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Cloud: "IBM Cloud and AWS documentation for autoscaling architecture and best practices."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ML: "XGBoost (Chen &amp; Guestrin, 2016) is the foundational paper for our primary model.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Prophet from Meta/Facebook for comparison baseline."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Web: "FastAPI for high-performance API, Plotly and ApexCharts for visualization."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Research Papers: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Lorido-Botran et al.: Comprehensive survey of auto-scaling techniques.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Qu et al.: Taxonomy of web application autoscaling in clouds.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Zhang et al.: Predictive resource scaling using ML.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Roy et al.: Foundational work on predictive autoscaling.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"All code and implementations follow best practices from these references."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5" name="Google Shape;1625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 NOTES — THANK YOU &amp; Q&amp;A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"Thank you for your attention and time."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"I'd like to thank my IBM mentor, university faculty, and the SkillsBuild team."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"This project demonstrates a complete ML-powered cloud autoscaling solution —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from data collection to real-time dashboard."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"I'm now open for questions. Feel free to ask about: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The ML model and feature engineering approach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The autoscaling decision logic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The dashboard implementation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The cloud deployment strategy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- Any technical details about the implementation"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"You can also reach me via email, LinkedIn, or GitHub for follow-up questions."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Stand confidently and maintain eye contact during Q&amp;A.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If unsure about a question, be honest: "That's an excellent question.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I'd like to research that further and get back to you."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18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18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1645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AUTOSCALING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0080" y="224028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Machine Learning on Cloud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40080" y="2880360"/>
            <a:ext cx="365760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40080" y="3108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AI-Powered Cloud Resource Optimization  •  Real-Time Predictive Analytics  •  Intelligent Autoscaling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640080" y="3931920"/>
            <a:ext cx="3474720" cy="13441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49808" y="39867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69848" y="3996096"/>
            <a:ext cx="9144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</a:t>
            </a:r>
            <a:endParaRPr sz="3200"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868680" y="4297172"/>
            <a:ext cx="292608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/>
                <a:sym typeface="Quattrocento Sans"/>
              </a:rPr>
              <a:t>SIDDHARTH NEGI,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Quattrocento Sans"/>
                <a:sym typeface="Quattrocento Sans"/>
              </a:rPr>
              <a:t>KARTIKEYA SINGH,</a:t>
            </a:r>
          </a:p>
          <a:p>
            <a:pPr lvl="0"/>
            <a:r>
              <a:rPr lang="en-US" sz="1000" b="1" dirty="0">
                <a:solidFill>
                  <a:srgbClr val="FFFFFF"/>
                </a:solidFill>
                <a:latin typeface="Quattrocento Sans"/>
                <a:sym typeface="Quattrocento Sans"/>
              </a:rPr>
              <a:t>CHITRANSHI MAHESHWARI,</a:t>
            </a:r>
          </a:p>
          <a:p>
            <a:pPr lvl="0"/>
            <a:r>
              <a:rPr lang="en-US" sz="1000" b="1" dirty="0">
                <a:solidFill>
                  <a:srgbClr val="FFFFFF"/>
                </a:solidFill>
                <a:latin typeface="Quattrocento Sans"/>
                <a:sym typeface="Quattrocento Sans"/>
              </a:rPr>
              <a:t>APOORV ADITYA JHA,</a:t>
            </a:r>
          </a:p>
          <a:p>
            <a:pPr lvl="0"/>
            <a:r>
              <a:rPr lang="en-US" sz="1000" b="1" dirty="0">
                <a:solidFill>
                  <a:srgbClr val="FFFFFF"/>
                </a:solidFill>
                <a:latin typeface="Quattrocento Sans"/>
                <a:sym typeface="Quattrocento Sans"/>
              </a:rPr>
              <a:t>ABHINAV PANDEY</a:t>
            </a:r>
          </a:p>
        </p:txBody>
      </p:sp>
      <p:sp>
        <p:nvSpPr>
          <p:cNvPr id="109" name="Google Shape;109;p13"/>
          <p:cNvSpPr/>
          <p:nvPr/>
        </p:nvSpPr>
        <p:spPr>
          <a:xfrm>
            <a:off x="8366760" y="4453128"/>
            <a:ext cx="3474720" cy="621792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8476488" y="45354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👨‍🏫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8778240" y="45079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Mentor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778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[Mentor Name]</a:t>
            </a:r>
            <a:endParaRPr dirty="0"/>
          </a:p>
        </p:txBody>
      </p:sp>
      <p:sp>
        <p:nvSpPr>
          <p:cNvPr id="117" name="Google Shape;117;p13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>
            <a:off x="128016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192024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256032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320040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3840480" y="5394960"/>
            <a:ext cx="457200" cy="457200"/>
          </a:xfrm>
          <a:prstGeom prst="ellipse">
            <a:avLst/>
          </a:prstGeom>
          <a:solidFill>
            <a:srgbClr val="081A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</a:t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40080" y="65653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Project Review  •  IBM SkillsBuild  •  University Viva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8686800" y="6565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  |  IBM Internal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/ 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Agenda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Roadmap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640080" y="118872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13232" y="126187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713232" y="12618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097280" y="1280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749808" y="16459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Computing &amp; Autoscaling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2953512" y="118872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026664" y="126187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026664" y="12618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3410712" y="1280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3063240" y="16459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Challenges in Cloud Scaling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5266944" y="118872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5340096" y="126187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340096" y="12618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724144" y="1280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Objectives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5376672" y="16459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Goals &amp; Scope</a:t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7580376" y="118872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7653528" y="126187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7653528" y="12618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8037576" y="1280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Literature Review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7690104" y="16459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Existing System Analysis</a:t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9893808" y="118872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9966960" y="126187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9966960" y="126187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10351008" y="128016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Solution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10003536" y="16459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ML-Driven Autoscaling</a:t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640080" y="228600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713232" y="235915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/>
        </p:nvSpPr>
        <p:spPr>
          <a:xfrm>
            <a:off x="713232" y="23591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109728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&amp; EDA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749808" y="2743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Description &amp; Analysis</a:t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2953512" y="228600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026664" y="235915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3026664" y="23591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3410712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3063240" y="2743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Engineered Predictors</a:t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5266944" y="228600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340096" y="235915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5340096" y="23591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5724144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Models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5376672" y="2743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XGBoost, Prophet, LSTM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7580376" y="228600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653528" y="235915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653528" y="23591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8037576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Methodology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7690104" y="2743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Pipeline</a:t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9893808" y="228600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9966960" y="235915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9966960" y="235915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10351008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10003536" y="274320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&amp; Cloud Design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640080" y="338328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713232" y="345643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713232" y="34564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97280" y="34747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 Stack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749808" y="38404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&amp; Frameworks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2953512" y="338328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3026664" y="345643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3026664" y="34564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3410712" y="34747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3063240" y="38404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Monitoring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5266944" y="338328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340096" y="345643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 txBox="1"/>
          <p:nvPr/>
        </p:nvSpPr>
        <p:spPr>
          <a:xfrm>
            <a:off x="5340096" y="34564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5724144" y="34747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 Impact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5376672" y="38404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Metrics &amp; Business Value</a:t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7580376" y="338328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7653528" y="345643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 txBox="1"/>
          <p:nvPr/>
        </p:nvSpPr>
        <p:spPr>
          <a:xfrm>
            <a:off x="7653528" y="34564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8037576" y="34747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SWOT &amp; Future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7690104" y="38404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&amp; Roadmap</a:t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9893808" y="3383280"/>
            <a:ext cx="2148840" cy="9601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9966960" y="3456432"/>
            <a:ext cx="320040" cy="256032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 txBox="1"/>
          <p:nvPr/>
        </p:nvSpPr>
        <p:spPr>
          <a:xfrm>
            <a:off x="9966960" y="34564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10351008" y="347472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&amp; Q&amp;A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10003536" y="384048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Summary &amp; Discussion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640080" y="4663440"/>
            <a:ext cx="10789920" cy="36576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594360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457200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min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2752344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2615184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4910328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4773168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min</a:t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7068312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6931152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min</a:t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9226296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9089136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min</a:t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11384280" y="4599432"/>
            <a:ext cx="164592" cy="164592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11247120" y="480060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min</a:t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226" name="Google Shape;226;p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/ 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640080" y="8229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Computing × Machine Learning × Autoscaling</a:t>
            </a:r>
            <a:endParaRPr/>
          </a:p>
        </p:txBody>
      </p:sp>
      <p:grpSp>
        <p:nvGrpSpPr>
          <p:cNvPr id="236" name="Google Shape;236;p15"/>
          <p:cNvGrpSpPr/>
          <p:nvPr/>
        </p:nvGrpSpPr>
        <p:grpSpPr>
          <a:xfrm>
            <a:off x="640080" y="1238250"/>
            <a:ext cx="10911990" cy="1905000"/>
            <a:chOff x="640080" y="1238250"/>
            <a:chExt cx="10911990" cy="1905000"/>
          </a:xfrm>
        </p:grpSpPr>
        <p:grpSp>
          <p:nvGrpSpPr>
            <p:cNvPr id="237" name="Google Shape;237;p15"/>
            <p:cNvGrpSpPr/>
            <p:nvPr/>
          </p:nvGrpSpPr>
          <p:grpSpPr>
            <a:xfrm>
              <a:off x="640080" y="1238250"/>
              <a:ext cx="3333900" cy="1905000"/>
              <a:chOff x="0" y="0"/>
              <a:chExt cx="3333900" cy="1905000"/>
            </a:xfrm>
          </p:grpSpPr>
          <p:sp>
            <p:nvSpPr>
              <p:cNvPr id="238" name="Google Shape;238;p15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5"/>
              <p:cNvSpPr/>
              <p:nvPr/>
            </p:nvSpPr>
            <p:spPr>
              <a:xfrm>
                <a:off x="0" y="0"/>
                <a:ext cx="3333900" cy="38100"/>
              </a:xfrm>
              <a:prstGeom prst="rect">
                <a:avLst/>
              </a:prstGeom>
              <a:solidFill>
                <a:srgbClr val="006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5"/>
              <p:cNvSpPr txBox="1"/>
              <p:nvPr/>
            </p:nvSpPr>
            <p:spPr>
              <a:xfrm>
                <a:off x="95250" y="142875"/>
                <a:ext cx="3143400" cy="1666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5250" tIns="95250" rIns="95250" bIns="952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0062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☁ </a:t>
                </a:r>
                <a:r>
                  <a:rPr lang="en-US" sz="15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Cloud Computing</a:t>
                </a:r>
                <a:endParaRPr sz="1500" b="1">
                  <a:solidFill>
                    <a:srgbClr val="006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On-demand computing resources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Pay-as-you-go pricing model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AWS, Azure, GCP, IBM Cloud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Elastic infrastructure at scale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41" name="Google Shape;241;p15"/>
            <p:cNvGrpSpPr/>
            <p:nvPr/>
          </p:nvGrpSpPr>
          <p:grpSpPr>
            <a:xfrm>
              <a:off x="4429125" y="1238250"/>
              <a:ext cx="3333900" cy="1905000"/>
              <a:chOff x="0" y="0"/>
              <a:chExt cx="3333900" cy="1905000"/>
            </a:xfrm>
          </p:grpSpPr>
          <p:sp>
            <p:nvSpPr>
              <p:cNvPr id="242" name="Google Shape;242;p15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0" y="0"/>
                <a:ext cx="3333900" cy="38100"/>
              </a:xfrm>
              <a:prstGeom prst="rect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5"/>
              <p:cNvSpPr txBox="1"/>
              <p:nvPr/>
            </p:nvSpPr>
            <p:spPr>
              <a:xfrm>
                <a:off x="95250" y="142875"/>
                <a:ext cx="3143400" cy="1666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5250" tIns="95250" rIns="95250" bIns="952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🔄 </a:t>
                </a:r>
                <a:r>
                  <a:rPr lang="en-US" sz="15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Autoscaling</a:t>
                </a:r>
                <a:endParaRPr sz="15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Dynamic resource adjustment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Scale up during peak load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Scale down during low traffic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Horizontal &amp; Vertical scaling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45" name="Google Shape;245;p15"/>
            <p:cNvGrpSpPr/>
            <p:nvPr/>
          </p:nvGrpSpPr>
          <p:grpSpPr>
            <a:xfrm>
              <a:off x="8218170" y="1238250"/>
              <a:ext cx="3333900" cy="1905000"/>
              <a:chOff x="0" y="0"/>
              <a:chExt cx="3333900" cy="1905000"/>
            </a:xfrm>
          </p:grpSpPr>
          <p:sp>
            <p:nvSpPr>
              <p:cNvPr id="246" name="Google Shape;246;p15"/>
              <p:cNvSpPr/>
              <p:nvPr/>
            </p:nvSpPr>
            <p:spPr>
              <a:xfrm>
                <a:off x="0" y="0"/>
                <a:ext cx="33339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5"/>
              <p:cNvSpPr/>
              <p:nvPr/>
            </p:nvSpPr>
            <p:spPr>
              <a:xfrm>
                <a:off x="0" y="0"/>
                <a:ext cx="3333900" cy="38100"/>
              </a:xfrm>
              <a:prstGeom prst="rect">
                <a:avLst/>
              </a:prstGeom>
              <a:solidFill>
                <a:srgbClr val="00D68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5"/>
              <p:cNvSpPr txBox="1"/>
              <p:nvPr/>
            </p:nvSpPr>
            <p:spPr>
              <a:xfrm>
                <a:off x="95250" y="142875"/>
                <a:ext cx="3143400" cy="1666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5250" tIns="95250" rIns="95250" bIns="952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🧠 </a:t>
                </a:r>
                <a:r>
                  <a:rPr lang="en-US" sz="15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ML in Cloud</a:t>
                </a:r>
                <a:endParaRPr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9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Pattern recognition in traffic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Time-series forecasting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Anomaly detection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5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Intelligent decision-making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249" name="Google Shape;249;p15"/>
          <p:cNvGrpSpPr/>
          <p:nvPr/>
        </p:nvGrpSpPr>
        <p:grpSpPr>
          <a:xfrm>
            <a:off x="640080" y="3381375"/>
            <a:ext cx="10911990" cy="2857500"/>
            <a:chOff x="640080" y="3381375"/>
            <a:chExt cx="10911990" cy="2857500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640080" y="3381375"/>
              <a:ext cx="10911900" cy="419100"/>
              <a:chOff x="0" y="0"/>
              <a:chExt cx="10911900" cy="419100"/>
            </a:xfrm>
          </p:grpSpPr>
          <p:sp>
            <p:nvSpPr>
              <p:cNvPr id="251" name="Google Shape;251;p15"/>
              <p:cNvSpPr txBox="1"/>
              <p:nvPr/>
            </p:nvSpPr>
            <p:spPr>
              <a:xfrm>
                <a:off x="0" y="0"/>
                <a:ext cx="10911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⚡ Reactive Scaling vs Predictive Scaling</a:t>
                </a:r>
                <a:endParaRPr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0" y="381000"/>
                <a:ext cx="1371600" cy="38100"/>
              </a:xfrm>
              <a:prstGeom prst="rect">
                <a:avLst/>
              </a:prstGeom>
              <a:solidFill>
                <a:srgbClr val="00B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15"/>
            <p:cNvGrpSpPr/>
            <p:nvPr/>
          </p:nvGrpSpPr>
          <p:grpSpPr>
            <a:xfrm>
              <a:off x="640080" y="3952875"/>
              <a:ext cx="5238900" cy="2286000"/>
              <a:chOff x="0" y="0"/>
              <a:chExt cx="5238900" cy="2286000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0" y="0"/>
                <a:ext cx="5238900" cy="2286000"/>
              </a:xfrm>
              <a:prstGeom prst="roundRect">
                <a:avLst>
                  <a:gd name="adj" fmla="val 6666"/>
                </a:avLst>
              </a:prstGeom>
              <a:solidFill>
                <a:srgbClr val="0A1A3C"/>
              </a:solidFill>
              <a:ln w="14300" cap="flat" cmpd="sng">
                <a:solidFill>
                  <a:srgbClr val="FF4D4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0" y="0"/>
                <a:ext cx="5238900" cy="38100"/>
              </a:xfrm>
              <a:prstGeom prst="rect">
                <a:avLst/>
              </a:prstGeom>
              <a:solidFill>
                <a:srgbClr val="FF4D4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5"/>
              <p:cNvSpPr txBox="1"/>
              <p:nvPr/>
            </p:nvSpPr>
            <p:spPr>
              <a:xfrm>
                <a:off x="142875" y="142875"/>
                <a:ext cx="4953000" cy="2000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5250" tIns="95250" rIns="95250" bIns="952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FF4D4D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❌ Reactive (Traditional)</a:t>
                </a:r>
                <a:endParaRPr sz="1500" b="1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1125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Responds AFTER threshold is crossed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5–10 minute delay in scaling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Cold start latency issues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SLA violations during traffic spikes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Resource wastage during over-provisioning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57" name="Google Shape;257;p15"/>
            <p:cNvGrpSpPr/>
            <p:nvPr/>
          </p:nvGrpSpPr>
          <p:grpSpPr>
            <a:xfrm>
              <a:off x="6313170" y="3952875"/>
              <a:ext cx="5238900" cy="2286000"/>
              <a:chOff x="0" y="0"/>
              <a:chExt cx="5238900" cy="2286000"/>
            </a:xfrm>
          </p:grpSpPr>
          <p:sp>
            <p:nvSpPr>
              <p:cNvPr id="258" name="Google Shape;258;p15"/>
              <p:cNvSpPr/>
              <p:nvPr/>
            </p:nvSpPr>
            <p:spPr>
              <a:xfrm>
                <a:off x="0" y="0"/>
                <a:ext cx="5238900" cy="2286000"/>
              </a:xfrm>
              <a:prstGeom prst="roundRect">
                <a:avLst>
                  <a:gd name="adj" fmla="val 6666"/>
                </a:avLst>
              </a:prstGeom>
              <a:solidFill>
                <a:srgbClr val="0A1A3C"/>
              </a:solidFill>
              <a:ln w="14300" cap="flat" cmpd="sng">
                <a:solidFill>
                  <a:srgbClr val="00D6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0" y="0"/>
                <a:ext cx="5238900" cy="38100"/>
              </a:xfrm>
              <a:prstGeom prst="rect">
                <a:avLst/>
              </a:prstGeom>
              <a:solidFill>
                <a:srgbClr val="00D68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5"/>
              <p:cNvSpPr txBox="1"/>
              <p:nvPr/>
            </p:nvSpPr>
            <p:spPr>
              <a:xfrm>
                <a:off x="142875" y="142875"/>
                <a:ext cx="4953000" cy="2000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5250" tIns="95250" rIns="95250" bIns="9525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✅ Predictive (ML-Based)</a:t>
                </a:r>
                <a:endParaRPr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1125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Predicts traffic 15 minutes ahead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Proactive scaling BEFORE spikes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Zero cold-start delays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99.9% SLA compliance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457200" lvl="0" indent="-301625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F1F5F9"/>
                  </a:buClr>
                  <a:buSzPts val="1150"/>
                  <a:buFont typeface="Quattrocento Sans"/>
                  <a:buChar char="●"/>
                </a:pPr>
                <a:r>
                  <a:rPr lang="en-US" sz="1150" b="0">
                    <a:solidFill>
                      <a:srgbClr val="F1F5F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Optimal resource utilization</a:t>
                </a:r>
                <a:endParaRPr sz="1150" b="0">
                  <a:solidFill>
                    <a:srgbClr val="F1F5F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261" name="Google Shape;261;p15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/ 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640080" y="8229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Traditional Cloud Autoscaling Fails</a:t>
            </a:r>
            <a:endParaRPr/>
          </a:p>
        </p:txBody>
      </p:sp>
      <p:grpSp>
        <p:nvGrpSpPr>
          <p:cNvPr id="273" name="Google Shape;273;p16"/>
          <p:cNvGrpSpPr/>
          <p:nvPr/>
        </p:nvGrpSpPr>
        <p:grpSpPr>
          <a:xfrm>
            <a:off x="571500" y="1333500"/>
            <a:ext cx="2476500" cy="1809600"/>
            <a:chOff x="0" y="0"/>
            <a:chExt cx="2476500" cy="1809600"/>
          </a:xfrm>
        </p:grpSpPr>
        <p:sp>
          <p:nvSpPr>
            <p:cNvPr id="274" name="Google Shape;274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4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4D4D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⚡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Flash Crowds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Sudden traffic surges overwhelm servers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77" name="Google Shape;277;p16"/>
          <p:cNvGrpSpPr/>
          <p:nvPr/>
        </p:nvGrpSpPr>
        <p:grpSpPr>
          <a:xfrm>
            <a:off x="3429000" y="1333500"/>
            <a:ext cx="2476500" cy="1809600"/>
            <a:chOff x="0" y="0"/>
            <a:chExt cx="2476500" cy="1809600"/>
          </a:xfrm>
        </p:grpSpPr>
        <p:sp>
          <p:nvSpPr>
            <p:cNvPr id="278" name="Google Shape;278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9F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9F43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9F4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📈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Traffic Spikes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Unpredictable load causes downtime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1" name="Google Shape;281;p16"/>
          <p:cNvGrpSpPr/>
          <p:nvPr/>
        </p:nvGrpSpPr>
        <p:grpSpPr>
          <a:xfrm>
            <a:off x="6286500" y="1333500"/>
            <a:ext cx="2476500" cy="1809600"/>
            <a:chOff x="0" y="0"/>
            <a:chExt cx="2476500" cy="1809600"/>
          </a:xfrm>
        </p:grpSpPr>
        <p:sp>
          <p:nvSpPr>
            <p:cNvPr id="282" name="Google Shape;282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4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4D4D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⏱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High Latency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Slow response time during peak hours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9144000" y="1333500"/>
            <a:ext cx="2476500" cy="1809600"/>
            <a:chOff x="0" y="0"/>
            <a:chExt cx="2476500" cy="1809600"/>
          </a:xfrm>
        </p:grpSpPr>
        <p:sp>
          <p:nvSpPr>
            <p:cNvPr id="286" name="Google Shape;286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9F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9F43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9F4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📋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SLA Violations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Service-level breaches impact reputation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2000250" y="3333750"/>
            <a:ext cx="2476500" cy="1809600"/>
            <a:chOff x="0" y="0"/>
            <a:chExt cx="2476500" cy="1809600"/>
          </a:xfrm>
        </p:grpSpPr>
        <p:sp>
          <p:nvSpPr>
            <p:cNvPr id="290" name="Google Shape;290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4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4D4D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💰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Cost Wastage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Over-provisioning wastes 40% cloud budget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93" name="Google Shape;293;p16"/>
          <p:cNvGrpSpPr/>
          <p:nvPr/>
        </p:nvGrpSpPr>
        <p:grpSpPr>
          <a:xfrm>
            <a:off x="4857750" y="3333750"/>
            <a:ext cx="2476500" cy="1809600"/>
            <a:chOff x="0" y="0"/>
            <a:chExt cx="2476500" cy="1809600"/>
          </a:xfrm>
        </p:grpSpPr>
        <p:sp>
          <p:nvSpPr>
            <p:cNvPr id="294" name="Google Shape;294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9F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9F43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9F4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🔧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Manual Scaling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Human intervention is slow &amp; error-prone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97" name="Google Shape;297;p16"/>
          <p:cNvGrpSpPr/>
          <p:nvPr/>
        </p:nvGrpSpPr>
        <p:grpSpPr>
          <a:xfrm>
            <a:off x="7715250" y="3333750"/>
            <a:ext cx="2476500" cy="1809600"/>
            <a:chOff x="0" y="0"/>
            <a:chExt cx="2476500" cy="1809600"/>
          </a:xfrm>
        </p:grpSpPr>
        <p:sp>
          <p:nvSpPr>
            <p:cNvPr id="298" name="Google Shape;298;p16"/>
            <p:cNvSpPr/>
            <p:nvPr/>
          </p:nvSpPr>
          <p:spPr>
            <a:xfrm>
              <a:off x="0" y="0"/>
              <a:ext cx="24765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4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190500" y="190500"/>
              <a:ext cx="381000" cy="381000"/>
            </a:xfrm>
            <a:prstGeom prst="ellipse">
              <a:avLst/>
            </a:prstGeom>
            <a:solidFill>
              <a:srgbClr val="FF4D4D">
                <a:alpha val="1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 txBox="1"/>
            <p:nvPr/>
          </p:nvSpPr>
          <p:spPr>
            <a:xfrm>
              <a:off x="190500" y="19050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🖥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Cold Start Delay</a:t>
              </a:r>
              <a:endParaRPr sz="13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New instances take 5-10 min to boot</a:t>
              </a:r>
              <a:endParaRPr sz="10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01" name="Google Shape;301;p16"/>
          <p:cNvSpPr/>
          <p:nvPr/>
        </p:nvSpPr>
        <p:spPr>
          <a:xfrm>
            <a:off x="571500" y="5334000"/>
            <a:ext cx="11049000" cy="666900"/>
          </a:xfrm>
          <a:prstGeom prst="roundRect">
            <a:avLst>
              <a:gd name="adj" fmla="val 17142"/>
            </a:avLst>
          </a:prstGeom>
          <a:solidFill>
            <a:srgbClr val="150A0A"/>
          </a:solidFill>
          <a:ln w="143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571500" y="5334000"/>
            <a:ext cx="11049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1905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 Industry Impact: $285B+ annual cloud waste • 68% companies face scaling failures • 30% revenue lost during downtime</a:t>
            </a:r>
            <a:endParaRPr sz="1100" b="1">
              <a:solidFill>
                <a:srgbClr val="FF4D4D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Gartner Cloud Infrastructure Report, 2024 • IDC Digital Transformation Spending Guide</a:t>
            </a:r>
            <a:endParaRPr sz="800" b="0">
              <a:solidFill>
                <a:srgbClr val="8C99B3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/ 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Objectives</a:t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Measurable Goals &amp; Key Deliverables</a:t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457200" y="123444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457200" y="1234440"/>
            <a:ext cx="260604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1188720" y="1417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 Traffic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594360" y="1965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Forecast cloud traffic 15 minutes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ahead using ML models</a:t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594360" y="265176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594360" y="2697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98.5%</a:t>
            </a:r>
            <a:b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3337560" y="123444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337560" y="1234440"/>
            <a:ext cx="260604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474720" y="1371600"/>
            <a:ext cx="502920" cy="50292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4069080" y="1417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Optimize Resources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3474720" y="1965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Right-size cloud infrastructure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 in real-time</a:t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3474720" y="265176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3474720" y="2697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40%</a:t>
            </a:r>
            <a:b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Savings</a:t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6217920" y="123444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217920" y="123444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355080" y="137160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⏱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6949440" y="1417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 Latency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6355080" y="1965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Eliminate cold-start delays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proactive scaling</a:t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355080" y="265176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6355080" y="2697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&lt;200ms</a:t>
            </a:r>
            <a:br>
              <a:rPr lang="en-US" sz="14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</a:t>
            </a:r>
            <a:endParaRPr/>
          </a:p>
        </p:txBody>
      </p:sp>
      <p:sp>
        <p:nvSpPr>
          <p:cNvPr id="336" name="Google Shape;336;p17"/>
          <p:cNvSpPr/>
          <p:nvPr/>
        </p:nvSpPr>
        <p:spPr>
          <a:xfrm>
            <a:off x="9098280" y="123444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9098280" y="1234440"/>
            <a:ext cx="260604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9235440" y="137160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9829800" y="1417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Cut Costs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9235440" y="19659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 over-provisioning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resource wastage</a:t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9235440" y="265176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9235440" y="269748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35%</a:t>
            </a:r>
            <a:br>
              <a:rPr lang="en-US" sz="14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Reduction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457200" y="370332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457200" y="3703320"/>
            <a:ext cx="260604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594360" y="3840480"/>
            <a:ext cx="502920" cy="50292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1188720" y="38862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Improve Scalability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594360" y="44348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 100K+ requests per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5-min interval seamlessly</a:t>
            </a:r>
            <a:endParaRPr/>
          </a:p>
        </p:txBody>
      </p:sp>
      <p:sp>
        <p:nvSpPr>
          <p:cNvPr id="348" name="Google Shape;348;p17"/>
          <p:cNvSpPr/>
          <p:nvPr/>
        </p:nvSpPr>
        <p:spPr>
          <a:xfrm>
            <a:off x="594360" y="512064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594360" y="51663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100K+</a:t>
            </a:r>
            <a:br>
              <a:rPr lang="en-US" sz="14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Requests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3337560" y="370332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3337560" y="3703320"/>
            <a:ext cx="2606040" cy="45720"/>
          </a:xfrm>
          <a:prstGeom prst="rect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474720" y="3840480"/>
            <a:ext cx="502920" cy="502920"/>
          </a:xfrm>
          <a:prstGeom prst="ellipse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/>
          </a:p>
        </p:txBody>
      </p:sp>
      <p:sp>
        <p:nvSpPr>
          <p:cNvPr id="353" name="Google Shape;353;p17"/>
          <p:cNvSpPr txBox="1"/>
          <p:nvPr/>
        </p:nvSpPr>
        <p:spPr>
          <a:xfrm>
            <a:off x="4069080" y="38862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Enhance UX</a:t>
            </a:r>
            <a:endParaRPr/>
          </a:p>
        </p:txBody>
      </p:sp>
      <p:sp>
        <p:nvSpPr>
          <p:cNvPr id="354" name="Google Shape;354;p17"/>
          <p:cNvSpPr txBox="1"/>
          <p:nvPr/>
        </p:nvSpPr>
        <p:spPr>
          <a:xfrm>
            <a:off x="3474720" y="44348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 downtime, fast response,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seamless user experience</a:t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3474720" y="512064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3474720" y="51663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99.9%</a:t>
            </a:r>
            <a:br>
              <a:rPr lang="en-US" sz="1400" b="1" i="0" u="none" strike="noStrike" cap="none">
                <a:solidFill>
                  <a:srgbClr val="00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Uptime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6217920" y="370332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217920" y="3703320"/>
            <a:ext cx="260604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355080" y="384048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6949440" y="38862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Dashboard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6355080" y="44348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monitoring, analytics,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alerting &amp; visualization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6355080" y="512064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6355080" y="51663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9-Page</a:t>
            </a:r>
            <a:b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9098280" y="3703320"/>
            <a:ext cx="2606040" cy="2194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9098280" y="3703320"/>
            <a:ext cx="260604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9235440" y="3840480"/>
            <a:ext cx="502920" cy="50292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9829800" y="388620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Pipeline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9235440" y="443484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automated ML</a:t>
            </a:r>
            <a:b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with 38 features</a:t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9235440" y="5120640"/>
            <a:ext cx="2331720" cy="640080"/>
          </a:xfrm>
          <a:prstGeom prst="roundRect">
            <a:avLst>
              <a:gd name="adj" fmla="val 16667"/>
            </a:avLst>
          </a:prstGeom>
          <a:solidFill>
            <a:srgbClr val="061230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9235440" y="51663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</a:t>
            </a:r>
            <a:b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4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</a:t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/ 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Existing System Analysis</a:t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640080" y="8229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Limitations of Traditional Autoscaling Approaches</a:t>
            </a:r>
            <a:endParaRPr/>
          </a:p>
        </p:txBody>
      </p:sp>
      <p:sp>
        <p:nvSpPr>
          <p:cNvPr id="383" name="Google Shape;383;p18"/>
          <p:cNvSpPr/>
          <p:nvPr/>
        </p:nvSpPr>
        <p:spPr>
          <a:xfrm>
            <a:off x="457200" y="1188720"/>
            <a:ext cx="3566100" cy="25602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640080" y="132588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</a:t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>
            <a:off x="4297680" y="1188720"/>
            <a:ext cx="3566100" cy="25602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 txBox="1"/>
          <p:nvPr/>
        </p:nvSpPr>
        <p:spPr>
          <a:xfrm>
            <a:off x="4480560" y="132588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/>
          </a:p>
        </p:txBody>
      </p:sp>
      <p:sp>
        <p:nvSpPr>
          <p:cNvPr id="387" name="Google Shape;387;p18"/>
          <p:cNvSpPr/>
          <p:nvPr/>
        </p:nvSpPr>
        <p:spPr>
          <a:xfrm>
            <a:off x="8138160" y="1188720"/>
            <a:ext cx="3566100" cy="25602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8321040" y="1325880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👤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640080" y="393192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Comparison: Traditional vs Predictive</a:t>
            </a:r>
            <a:endParaRPr/>
          </a:p>
        </p:txBody>
      </p:sp>
      <p:graphicFrame>
        <p:nvGraphicFramePr>
          <p:cNvPr id="390" name="Google Shape;390;p18"/>
          <p:cNvGraphicFramePr/>
          <p:nvPr/>
        </p:nvGraphicFramePr>
        <p:xfrm>
          <a:off x="457200" y="429768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{94F2F661-C38D-4C9E-BB06-D91E19C73B52}</a:tableStyleId>
              </a:tblPr>
              <a:tblGrid>
                <a:gridCol w="22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Parameter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CPU Threshold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Reactive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Manual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Predictive (Ours)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Response Time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5-10 min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3-5 min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15-30 min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 1 min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Accuracy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Medium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Variable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98.5%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Cost Efficiency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Medium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High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Flash Crowd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❌ Fails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❌ Fails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❌ Fails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Handles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24/7 Operation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❌ No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Intelligence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None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Rule-based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Human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ML-Driven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1" name="Google Shape;391;p18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393" name="Google Shape;393;p18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/ 26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1097280" y="1353312"/>
            <a:ext cx="2743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 Threshold Scaling</a:t>
            </a:r>
            <a:endParaRPr sz="1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5" name="Google Shape;395;p18"/>
          <p:cNvSpPr txBox="1"/>
          <p:nvPr/>
        </p:nvSpPr>
        <p:spPr>
          <a:xfrm>
            <a:off x="731520" y="1762125"/>
            <a:ext cx="3017400" cy="11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Triggers at fixed CPU %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Usually 70–80% threshold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traffic awareness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Ignores memory &amp; network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One-dimensional approach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6" name="Google Shape;396;p18"/>
          <p:cNvSpPr txBox="1"/>
          <p:nvPr/>
        </p:nvSpPr>
        <p:spPr>
          <a:xfrm>
            <a:off x="4937760" y="1353312"/>
            <a:ext cx="2743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Reactive Scaling</a:t>
            </a:r>
            <a:endParaRPr sz="1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7" name="Google Shape;397;p18"/>
          <p:cNvSpPr txBox="1"/>
          <p:nvPr/>
        </p:nvSpPr>
        <p:spPr>
          <a:xfrm>
            <a:off x="4572000" y="1762125"/>
            <a:ext cx="3017400" cy="11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Responds after event occurs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5–10 min response delay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Cold start penalties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Cannot handle flash crowds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Always playing catch-up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8" name="Google Shape;398;p18"/>
          <p:cNvSpPr txBox="1"/>
          <p:nvPr/>
        </p:nvSpPr>
        <p:spPr>
          <a:xfrm>
            <a:off x="8778240" y="1353312"/>
            <a:ext cx="2743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Scaling</a:t>
            </a:r>
            <a:endParaRPr sz="1400" b="1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9" name="Google Shape;399;p18"/>
          <p:cNvSpPr txBox="1"/>
          <p:nvPr/>
        </p:nvSpPr>
        <p:spPr>
          <a:xfrm>
            <a:off x="8412480" y="1762125"/>
            <a:ext cx="3017400" cy="11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Requires 24/7 human ops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Slow decision-making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Prone to human error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Not feasible at scale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✗</a:t>
            </a:r>
            <a:r>
              <a:rPr lang="en-US" sz="110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High operational cost</a:t>
            </a:r>
            <a:endParaRPr sz="1100" b="0">
              <a:solidFill>
                <a:srgbClr val="C4CCD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Solution</a:t>
            </a: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ML-Powered Predictive Autoscaling Pipeline</a:t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457200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841248" y="146304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411" name="Google Shape;411;p19"/>
          <p:cNvSpPr txBox="1"/>
          <p:nvPr/>
        </p:nvSpPr>
        <p:spPr>
          <a:xfrm>
            <a:off x="502920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endParaRPr/>
          </a:p>
        </p:txBody>
      </p:sp>
      <p:sp>
        <p:nvSpPr>
          <p:cNvPr id="412" name="Google Shape;412;p19"/>
          <p:cNvSpPr/>
          <p:nvPr/>
        </p:nvSpPr>
        <p:spPr>
          <a:xfrm>
            <a:off x="1764792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2029968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2414016" y="146304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🧹</a:t>
            </a:r>
            <a:endParaRPr/>
          </a:p>
        </p:txBody>
      </p:sp>
      <p:sp>
        <p:nvSpPr>
          <p:cNvPr id="415" name="Google Shape;415;p19"/>
          <p:cNvSpPr txBox="1"/>
          <p:nvPr/>
        </p:nvSpPr>
        <p:spPr>
          <a:xfrm>
            <a:off x="2075688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Cleaning</a:t>
            </a:r>
            <a:endParaRPr/>
          </a:p>
        </p:txBody>
      </p:sp>
      <p:sp>
        <p:nvSpPr>
          <p:cNvPr id="416" name="Google Shape;416;p19"/>
          <p:cNvSpPr/>
          <p:nvPr/>
        </p:nvSpPr>
        <p:spPr>
          <a:xfrm>
            <a:off x="3337560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3602736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3986784" y="1463040"/>
            <a:ext cx="502920" cy="502920"/>
          </a:xfrm>
          <a:prstGeom prst="ellipse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🔧</a:t>
            </a:r>
            <a:endParaRPr/>
          </a:p>
        </p:txBody>
      </p:sp>
      <p:sp>
        <p:nvSpPr>
          <p:cNvPr id="419" name="Google Shape;419;p19"/>
          <p:cNvSpPr txBox="1"/>
          <p:nvPr/>
        </p:nvSpPr>
        <p:spPr>
          <a:xfrm>
            <a:off x="3648456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</a:t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4910328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5175504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5559552" y="1463040"/>
            <a:ext cx="502920" cy="50292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423" name="Google Shape;423;p19"/>
          <p:cNvSpPr txBox="1"/>
          <p:nvPr/>
        </p:nvSpPr>
        <p:spPr>
          <a:xfrm>
            <a:off x="5221224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Model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(XGBoost)</a:t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6483096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6748272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132320" y="1463040"/>
            <a:ext cx="502920" cy="50292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427" name="Google Shape;427;p19"/>
          <p:cNvSpPr txBox="1"/>
          <p:nvPr/>
        </p:nvSpPr>
        <p:spPr>
          <a:xfrm>
            <a:off x="6793992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</a:t>
            </a:r>
            <a:endParaRPr/>
          </a:p>
        </p:txBody>
      </p:sp>
      <p:sp>
        <p:nvSpPr>
          <p:cNvPr id="428" name="Google Shape;428;p19"/>
          <p:cNvSpPr/>
          <p:nvPr/>
        </p:nvSpPr>
        <p:spPr>
          <a:xfrm>
            <a:off x="8055864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8321040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8705088" y="146304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</a:t>
            </a:r>
            <a:endParaRPr/>
          </a:p>
        </p:txBody>
      </p:sp>
      <p:sp>
        <p:nvSpPr>
          <p:cNvPr id="431" name="Google Shape;431;p19"/>
          <p:cNvSpPr txBox="1"/>
          <p:nvPr/>
        </p:nvSpPr>
        <p:spPr>
          <a:xfrm>
            <a:off x="8366760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Autoscaling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Decision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9628632" y="178308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9893808" y="1371600"/>
            <a:ext cx="1280160" cy="10972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10277856" y="146304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435" name="Google Shape;435;p19"/>
          <p:cNvSpPr txBox="1"/>
          <p:nvPr/>
        </p:nvSpPr>
        <p:spPr>
          <a:xfrm>
            <a:off x="9939528" y="2029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</a:t>
            </a:r>
            <a:b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sp>
        <p:nvSpPr>
          <p:cNvPr id="436" name="Google Shape;436;p19"/>
          <p:cNvSpPr txBox="1"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🔑  Key Solution Features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640080" y="3063240"/>
            <a:ext cx="13716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457200" y="324612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640080" y="33192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XGBoost Regression</a:t>
            </a:r>
            <a:endParaRPr/>
          </a:p>
        </p:txBody>
      </p:sp>
      <p:sp>
        <p:nvSpPr>
          <p:cNvPr id="440" name="Google Shape;440;p19"/>
          <p:cNvSpPr txBox="1"/>
          <p:nvPr/>
        </p:nvSpPr>
        <p:spPr>
          <a:xfrm>
            <a:off x="822960" y="35661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500 estimators, 38 features, 15-min forecast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457200" y="402336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 txBox="1"/>
          <p:nvPr/>
        </p:nvSpPr>
        <p:spPr>
          <a:xfrm>
            <a:off x="640080" y="409651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Intelligent Autoscaler</a:t>
            </a:r>
            <a:endParaRPr/>
          </a:p>
        </p:txBody>
      </p:sp>
      <p:sp>
        <p:nvSpPr>
          <p:cNvPr id="443" name="Google Shape;443;p19"/>
          <p:cNvSpPr txBox="1"/>
          <p:nvPr/>
        </p:nvSpPr>
        <p:spPr>
          <a:xfrm>
            <a:off x="822960" y="434340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Multi-metric: CPU, Memory, Queue, Utilization</a:t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457200" y="480060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640080" y="487375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Real-Time Pipeline</a:t>
            </a:r>
            <a:endParaRPr/>
          </a:p>
        </p:txBody>
      </p:sp>
      <p:sp>
        <p:nvSpPr>
          <p:cNvPr id="446" name="Google Shape;446;p19"/>
          <p:cNvSpPr txBox="1"/>
          <p:nvPr/>
        </p:nvSpPr>
        <p:spPr>
          <a:xfrm>
            <a:off x="822960" y="5120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data → prediction → decision loop</a:t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457200" y="557784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 txBox="1"/>
          <p:nvPr/>
        </p:nvSpPr>
        <p:spPr>
          <a:xfrm>
            <a:off x="640080" y="565099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9-Page Dashboard</a:t>
            </a:r>
            <a:endParaRPr/>
          </a:p>
        </p:txBody>
      </p:sp>
      <p:sp>
        <p:nvSpPr>
          <p:cNvPr id="449" name="Google Shape;449;p19"/>
          <p:cNvSpPr txBox="1"/>
          <p:nvPr/>
        </p:nvSpPr>
        <p:spPr>
          <a:xfrm>
            <a:off x="822960" y="589788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traffic, analytics, global maps, ML metrics</a:t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6126480" y="324612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6309360" y="33192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38 Engineered Features</a:t>
            </a:r>
            <a:endParaRPr/>
          </a:p>
        </p:txBody>
      </p:sp>
      <p:sp>
        <p:nvSpPr>
          <p:cNvPr id="452" name="Google Shape;452;p19"/>
          <p:cNvSpPr txBox="1"/>
          <p:nvPr/>
        </p:nvSpPr>
        <p:spPr>
          <a:xfrm>
            <a:off x="6492240" y="35661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Temporal, Lag, Rolling, Trend-based predictors</a:t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6126480" y="402336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6309360" y="409651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Threshold-Based Decisions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6492240" y="434340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Up (&gt;85%), Down (&lt;45%), Maintain</a:t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6126480" y="480060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6309360" y="487375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Alert System</a:t>
            </a:r>
            <a:endParaRPr/>
          </a:p>
        </p:txBody>
      </p:sp>
      <p:sp>
        <p:nvSpPr>
          <p:cNvPr id="458" name="Google Shape;458;p19"/>
          <p:cNvSpPr txBox="1"/>
          <p:nvPr/>
        </p:nvSpPr>
        <p:spPr>
          <a:xfrm>
            <a:off x="6492240" y="5120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CPU/Memory warnings, error rate monitoring</a:t>
            </a:r>
            <a:endParaRPr/>
          </a:p>
        </p:txBody>
      </p:sp>
      <p:sp>
        <p:nvSpPr>
          <p:cNvPr id="459" name="Google Shape;459;p19"/>
          <p:cNvSpPr/>
          <p:nvPr/>
        </p:nvSpPr>
        <p:spPr>
          <a:xfrm>
            <a:off x="6126480" y="5577840"/>
            <a:ext cx="5394960" cy="65836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 txBox="1"/>
          <p:nvPr/>
        </p:nvSpPr>
        <p:spPr>
          <a:xfrm>
            <a:off x="6309360" y="565099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 RESTful API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6492240" y="589788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backend with 5 endpoints</a:t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464" name="Google Shape;464;p1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 / 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Description</a:t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Traffic Simulation Data — 100,000+ Records</a:t>
            </a:r>
            <a:endParaRPr/>
          </a:p>
        </p:txBody>
      </p:sp>
      <p:sp>
        <p:nvSpPr>
          <p:cNvPr id="474" name="Google Shape;474;p20"/>
          <p:cNvSpPr/>
          <p:nvPr/>
        </p:nvSpPr>
        <p:spPr>
          <a:xfrm>
            <a:off x="457200" y="1097280"/>
            <a:ext cx="201168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457200" y="1097280"/>
            <a:ext cx="201168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 txBox="1"/>
          <p:nvPr/>
        </p:nvSpPr>
        <p:spPr>
          <a:xfrm>
            <a:off x="594360" y="1207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477" name="Google Shape;477;p20"/>
          <p:cNvSpPr txBox="1"/>
          <p:nvPr/>
        </p:nvSpPr>
        <p:spPr>
          <a:xfrm>
            <a:off x="594360" y="14173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Records</a:t>
            </a:r>
            <a:endParaRPr/>
          </a:p>
        </p:txBody>
      </p:sp>
      <p:sp>
        <p:nvSpPr>
          <p:cNvPr id="478" name="Google Shape;478;p20"/>
          <p:cNvSpPr txBox="1"/>
          <p:nvPr/>
        </p:nvSpPr>
        <p:spPr>
          <a:xfrm>
            <a:off x="594360" y="1600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100,001</a:t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2761488" y="1097280"/>
            <a:ext cx="201168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2761488" y="1097280"/>
            <a:ext cx="201168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2898648" y="1207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482" name="Google Shape;482;p20"/>
          <p:cNvSpPr txBox="1"/>
          <p:nvPr/>
        </p:nvSpPr>
        <p:spPr>
          <a:xfrm>
            <a:off x="2898648" y="14173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Features</a:t>
            </a:r>
            <a:endParaRPr/>
          </a:p>
        </p:txBody>
      </p:sp>
      <p:sp>
        <p:nvSpPr>
          <p:cNvPr id="483" name="Google Shape;483;p20"/>
          <p:cNvSpPr txBox="1"/>
          <p:nvPr/>
        </p:nvSpPr>
        <p:spPr>
          <a:xfrm>
            <a:off x="2898648" y="1600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  <p:sp>
        <p:nvSpPr>
          <p:cNvPr id="484" name="Google Shape;484;p20"/>
          <p:cNvSpPr/>
          <p:nvPr/>
        </p:nvSpPr>
        <p:spPr>
          <a:xfrm>
            <a:off x="5065776" y="1097280"/>
            <a:ext cx="201168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5065776" y="1097280"/>
            <a:ext cx="201168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5202936" y="1207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⏱</a:t>
            </a:r>
            <a:endParaRPr/>
          </a:p>
        </p:txBody>
      </p:sp>
      <p:sp>
        <p:nvSpPr>
          <p:cNvPr id="487" name="Google Shape;487;p20"/>
          <p:cNvSpPr txBox="1"/>
          <p:nvPr/>
        </p:nvSpPr>
        <p:spPr>
          <a:xfrm>
            <a:off x="5202936" y="14173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Interval</a:t>
            </a:r>
            <a:endParaRPr/>
          </a:p>
        </p:txBody>
      </p:sp>
      <p:sp>
        <p:nvSpPr>
          <p:cNvPr id="488" name="Google Shape;488;p20"/>
          <p:cNvSpPr txBox="1"/>
          <p:nvPr/>
        </p:nvSpPr>
        <p:spPr>
          <a:xfrm>
            <a:off x="5202936" y="1600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</a:t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7370064" y="1097280"/>
            <a:ext cx="201168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7370064" y="1097280"/>
            <a:ext cx="201168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7507224" y="1207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</a:t>
            </a:r>
            <a:endParaRPr/>
          </a:p>
        </p:txBody>
      </p:sp>
      <p:sp>
        <p:nvSpPr>
          <p:cNvPr id="492" name="Google Shape;492;p20"/>
          <p:cNvSpPr txBox="1"/>
          <p:nvPr/>
        </p:nvSpPr>
        <p:spPr>
          <a:xfrm>
            <a:off x="7507224" y="14173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 Range</a:t>
            </a:r>
            <a:endParaRPr/>
          </a:p>
        </p:txBody>
      </p:sp>
      <p:sp>
        <p:nvSpPr>
          <p:cNvPr id="493" name="Google Shape;493;p20"/>
          <p:cNvSpPr txBox="1"/>
          <p:nvPr/>
        </p:nvSpPr>
        <p:spPr>
          <a:xfrm>
            <a:off x="7507224" y="16002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Jan 2024+</a:t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9674352" y="1097280"/>
            <a:ext cx="201168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9674352" y="1097280"/>
            <a:ext cx="201168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 txBox="1"/>
          <p:nvPr/>
        </p:nvSpPr>
        <p:spPr>
          <a:xfrm>
            <a:off x="9811512" y="1207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497" name="Google Shape;497;p20"/>
          <p:cNvSpPr txBox="1"/>
          <p:nvPr/>
        </p:nvSpPr>
        <p:spPr>
          <a:xfrm>
            <a:off x="9811512" y="1417320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</a:t>
            </a:r>
            <a:endParaRPr/>
          </a:p>
        </p:txBody>
      </p:sp>
      <p:sp>
        <p:nvSpPr>
          <p:cNvPr id="498" name="Google Shape;498;p20"/>
          <p:cNvSpPr txBox="1"/>
          <p:nvPr/>
        </p:nvSpPr>
        <p:spPr>
          <a:xfrm>
            <a:off x="9720075" y="1600200"/>
            <a:ext cx="182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request_count</a:t>
            </a:r>
            <a:endParaRPr/>
          </a:p>
        </p:txBody>
      </p:sp>
      <p:graphicFrame>
        <p:nvGraphicFramePr>
          <p:cNvPr id="499" name="Google Shape;499;p20"/>
          <p:cNvGraphicFramePr/>
          <p:nvPr/>
        </p:nvGraphicFramePr>
        <p:xfrm>
          <a:off x="457200" y="214884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{94F2F661-C38D-4C9E-BB06-D91E19C73B52}</a:tableStyleId>
              </a:tblPr>
              <a:tblGrid>
                <a:gridCol w="28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#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Feature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Type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Description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timestamp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Datetime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5-min interval timestamp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request_count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Number of incoming requests (Target)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active_users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Integer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Concurrent active users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cpu_usage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 %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Server CPU utilization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memory_usage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 %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Server memory utilization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network_in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Incoming network traffic (MB/s)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network_out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Outgoing network traffic (MB/s)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disk_io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Disk I/O operations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response_time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 (ms)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Average response latency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server_instances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Integer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Active server count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error_rate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Request error percentage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cache_hit_rate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Float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Cache hit ratio (0-1)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13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queue_length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Integer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Pending request queue depth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14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region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Categorical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Geographic region (4 regions)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15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availability_zone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Categorical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Cloud availability zone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application_type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Categorical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App type: Gaming, Booking, Healthcare</a:t>
                      </a:r>
                      <a:endParaRPr sz="17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00" name="Google Shape;500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 txBox="1"/>
          <p:nvPr/>
        </p:nvSpPr>
        <p:spPr>
          <a:xfrm>
            <a:off x="457200" y="6583680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700"/>
          </a:p>
        </p:txBody>
      </p:sp>
      <p:sp>
        <p:nvSpPr>
          <p:cNvPr id="502" name="Google Shape;502;p20"/>
          <p:cNvSpPr txBox="1"/>
          <p:nvPr/>
        </p:nvSpPr>
        <p:spPr>
          <a:xfrm>
            <a:off x="10972800" y="6492240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 / 26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 txBox="1"/>
          <p:nvPr/>
        </p:nvSpPr>
        <p:spPr>
          <a:xfrm>
            <a:off x="640080" y="228600"/>
            <a:ext cx="1005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Preprocessing</a:t>
            </a:r>
            <a:endParaRPr sz="1700"/>
          </a:p>
        </p:txBody>
      </p:sp>
      <p:sp>
        <p:nvSpPr>
          <p:cNvPr id="510" name="Google Shape;510;p21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 txBox="1"/>
          <p:nvPr/>
        </p:nvSpPr>
        <p:spPr>
          <a:xfrm>
            <a:off x="640080" y="822960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Cleaning, Transforming &amp; Preparing the Pipeline</a:t>
            </a:r>
            <a:endParaRPr sz="1700"/>
          </a:p>
        </p:txBody>
      </p:sp>
      <p:sp>
        <p:nvSpPr>
          <p:cNvPr id="512" name="Google Shape;512;p2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700"/>
          </a:p>
        </p:txBody>
      </p:sp>
      <p:sp>
        <p:nvSpPr>
          <p:cNvPr id="513" name="Google Shape;513;p21"/>
          <p:cNvSpPr/>
          <p:nvPr/>
        </p:nvSpPr>
        <p:spPr>
          <a:xfrm>
            <a:off x="1280160" y="118872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 txBox="1"/>
          <p:nvPr/>
        </p:nvSpPr>
        <p:spPr>
          <a:xfrm>
            <a:off x="1463040" y="126187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 Raw Data</a:t>
            </a:r>
            <a:endParaRPr sz="1700"/>
          </a:p>
        </p:txBody>
      </p:sp>
      <p:sp>
        <p:nvSpPr>
          <p:cNvPr id="515" name="Google Shape;515;p21"/>
          <p:cNvSpPr txBox="1"/>
          <p:nvPr/>
        </p:nvSpPr>
        <p:spPr>
          <a:xfrm>
            <a:off x="1463040" y="153619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100K records, 16 columns, CSV format</a:t>
            </a:r>
            <a:endParaRPr sz="1700"/>
          </a:p>
        </p:txBody>
      </p:sp>
      <p:sp>
        <p:nvSpPr>
          <p:cNvPr id="516" name="Google Shape;516;p21"/>
          <p:cNvSpPr/>
          <p:nvPr/>
        </p:nvSpPr>
        <p:spPr>
          <a:xfrm>
            <a:off x="777240" y="169164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700"/>
          </a:p>
        </p:txBody>
      </p:sp>
      <p:sp>
        <p:nvSpPr>
          <p:cNvPr id="518" name="Google Shape;518;p21"/>
          <p:cNvSpPr/>
          <p:nvPr/>
        </p:nvSpPr>
        <p:spPr>
          <a:xfrm>
            <a:off x="1280160" y="242316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 txBox="1"/>
          <p:nvPr/>
        </p:nvSpPr>
        <p:spPr>
          <a:xfrm>
            <a:off x="1463040" y="249631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Parse Timestamps</a:t>
            </a:r>
            <a:endParaRPr sz="1700"/>
          </a:p>
        </p:txBody>
      </p:sp>
      <p:sp>
        <p:nvSpPr>
          <p:cNvPr id="520" name="Google Shape;520;p21"/>
          <p:cNvSpPr txBox="1"/>
          <p:nvPr/>
        </p:nvSpPr>
        <p:spPr>
          <a:xfrm>
            <a:off x="1463040" y="277063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 to datetime, set as index</a:t>
            </a:r>
            <a:endParaRPr sz="1700"/>
          </a:p>
        </p:txBody>
      </p:sp>
      <p:sp>
        <p:nvSpPr>
          <p:cNvPr id="521" name="Google Shape;521;p21"/>
          <p:cNvSpPr/>
          <p:nvPr/>
        </p:nvSpPr>
        <p:spPr>
          <a:xfrm>
            <a:off x="777240" y="292608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700"/>
          </a:p>
        </p:txBody>
      </p:sp>
      <p:sp>
        <p:nvSpPr>
          <p:cNvPr id="523" name="Google Shape;523;p21"/>
          <p:cNvSpPr/>
          <p:nvPr/>
        </p:nvSpPr>
        <p:spPr>
          <a:xfrm>
            <a:off x="1280160" y="365760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 txBox="1"/>
          <p:nvPr/>
        </p:nvSpPr>
        <p:spPr>
          <a:xfrm>
            <a:off x="1463040" y="373075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Label Encoding</a:t>
            </a:r>
            <a:endParaRPr sz="1700"/>
          </a:p>
        </p:txBody>
      </p:sp>
      <p:sp>
        <p:nvSpPr>
          <p:cNvPr id="525" name="Google Shape;525;p21"/>
          <p:cNvSpPr txBox="1"/>
          <p:nvPr/>
        </p:nvSpPr>
        <p:spPr>
          <a:xfrm>
            <a:off x="1463040" y="400507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Encode region, zone, app_type → integers</a:t>
            </a:r>
            <a:endParaRPr sz="1700"/>
          </a:p>
        </p:txBody>
      </p:sp>
      <p:sp>
        <p:nvSpPr>
          <p:cNvPr id="526" name="Google Shape;526;p21"/>
          <p:cNvSpPr/>
          <p:nvPr/>
        </p:nvSpPr>
        <p:spPr>
          <a:xfrm>
            <a:off x="777240" y="416052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700"/>
          </a:p>
        </p:txBody>
      </p:sp>
      <p:sp>
        <p:nvSpPr>
          <p:cNvPr id="528" name="Google Shape;528;p21"/>
          <p:cNvSpPr/>
          <p:nvPr/>
        </p:nvSpPr>
        <p:spPr>
          <a:xfrm>
            <a:off x="1280160" y="489204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 txBox="1"/>
          <p:nvPr/>
        </p:nvSpPr>
        <p:spPr>
          <a:xfrm>
            <a:off x="1463040" y="496519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Lag Features</a:t>
            </a:r>
            <a:endParaRPr sz="1700"/>
          </a:p>
        </p:txBody>
      </p:sp>
      <p:sp>
        <p:nvSpPr>
          <p:cNvPr id="530" name="Google Shape;530;p21"/>
          <p:cNvSpPr txBox="1"/>
          <p:nvPr/>
        </p:nvSpPr>
        <p:spPr>
          <a:xfrm>
            <a:off x="1463040" y="523951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Shift request_count at 1,3,6,12,24 steps</a:t>
            </a:r>
            <a:endParaRPr sz="1700"/>
          </a:p>
        </p:txBody>
      </p:sp>
      <p:sp>
        <p:nvSpPr>
          <p:cNvPr id="531" name="Google Shape;531;p21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700"/>
          </a:p>
        </p:txBody>
      </p:sp>
      <p:sp>
        <p:nvSpPr>
          <p:cNvPr id="532" name="Google Shape;532;p21"/>
          <p:cNvSpPr/>
          <p:nvPr/>
        </p:nvSpPr>
        <p:spPr>
          <a:xfrm>
            <a:off x="6949440" y="118872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7132320" y="126187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 Statistics</a:t>
            </a:r>
            <a:endParaRPr sz="1700"/>
          </a:p>
        </p:txBody>
      </p:sp>
      <p:sp>
        <p:nvSpPr>
          <p:cNvPr id="534" name="Google Shape;534;p21"/>
          <p:cNvSpPr txBox="1"/>
          <p:nvPr/>
        </p:nvSpPr>
        <p:spPr>
          <a:xfrm>
            <a:off x="7132320" y="153619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Mean, StdDev, Max, Min over 6 &amp; 12 windows</a:t>
            </a:r>
            <a:endParaRPr sz="1700"/>
          </a:p>
        </p:txBody>
      </p:sp>
      <p:sp>
        <p:nvSpPr>
          <p:cNvPr id="535" name="Google Shape;535;p21"/>
          <p:cNvSpPr/>
          <p:nvPr/>
        </p:nvSpPr>
        <p:spPr>
          <a:xfrm>
            <a:off x="6446520" y="169164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700"/>
          </a:p>
        </p:txBody>
      </p:sp>
      <p:sp>
        <p:nvSpPr>
          <p:cNvPr id="537" name="Google Shape;537;p21"/>
          <p:cNvSpPr/>
          <p:nvPr/>
        </p:nvSpPr>
        <p:spPr>
          <a:xfrm>
            <a:off x="6949440" y="242316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7132320" y="249631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Derived Features</a:t>
            </a:r>
            <a:endParaRPr sz="1700"/>
          </a:p>
        </p:txBody>
      </p:sp>
      <p:sp>
        <p:nvSpPr>
          <p:cNvPr id="539" name="Google Shape;539;p21"/>
          <p:cNvSpPr txBox="1"/>
          <p:nvPr/>
        </p:nvSpPr>
        <p:spPr>
          <a:xfrm>
            <a:off x="7132320" y="277063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Growth rate, velocity, momentum, pressure</a:t>
            </a:r>
            <a:endParaRPr sz="1700"/>
          </a:p>
        </p:txBody>
      </p:sp>
      <p:sp>
        <p:nvSpPr>
          <p:cNvPr id="540" name="Google Shape;540;p21"/>
          <p:cNvSpPr/>
          <p:nvPr/>
        </p:nvSpPr>
        <p:spPr>
          <a:xfrm>
            <a:off x="6446520" y="292608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700"/>
          </a:p>
        </p:txBody>
      </p:sp>
      <p:sp>
        <p:nvSpPr>
          <p:cNvPr id="542" name="Google Shape;542;p21"/>
          <p:cNvSpPr/>
          <p:nvPr/>
        </p:nvSpPr>
        <p:spPr>
          <a:xfrm>
            <a:off x="6949440" y="365760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7132320" y="373075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 NaN Rows</a:t>
            </a:r>
            <a:endParaRPr sz="1700"/>
          </a:p>
        </p:txBody>
      </p:sp>
      <p:sp>
        <p:nvSpPr>
          <p:cNvPr id="544" name="Google Shape;544;p21"/>
          <p:cNvSpPr txBox="1"/>
          <p:nvPr/>
        </p:nvSpPr>
        <p:spPr>
          <a:xfrm>
            <a:off x="7132320" y="400507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 rows with NaN from lag/rolling ops</a:t>
            </a:r>
            <a:endParaRPr sz="1700"/>
          </a:p>
        </p:txBody>
      </p:sp>
      <p:sp>
        <p:nvSpPr>
          <p:cNvPr id="545" name="Google Shape;545;p21"/>
          <p:cNvSpPr/>
          <p:nvPr/>
        </p:nvSpPr>
        <p:spPr>
          <a:xfrm>
            <a:off x="6446520" y="4160520"/>
            <a:ext cx="18288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6309360" y="4892040"/>
            <a:ext cx="457200" cy="45720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sz="1700"/>
          </a:p>
        </p:txBody>
      </p:sp>
      <p:sp>
        <p:nvSpPr>
          <p:cNvPr id="547" name="Google Shape;547;p21"/>
          <p:cNvSpPr/>
          <p:nvPr/>
        </p:nvSpPr>
        <p:spPr>
          <a:xfrm>
            <a:off x="6949440" y="4892040"/>
            <a:ext cx="4572000" cy="8229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 txBox="1"/>
          <p:nvPr/>
        </p:nvSpPr>
        <p:spPr>
          <a:xfrm>
            <a:off x="7132320" y="4965192"/>
            <a:ext cx="4114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Target</a:t>
            </a:r>
            <a:endParaRPr sz="1700"/>
          </a:p>
        </p:txBody>
      </p:sp>
      <p:sp>
        <p:nvSpPr>
          <p:cNvPr id="549" name="Google Shape;549;p21"/>
          <p:cNvSpPr txBox="1"/>
          <p:nvPr/>
        </p:nvSpPr>
        <p:spPr>
          <a:xfrm>
            <a:off x="7132320" y="5239512"/>
            <a:ext cx="4114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Shift request_count -3 steps (15-min ahead)</a:t>
            </a:r>
            <a:endParaRPr sz="1700"/>
          </a:p>
        </p:txBody>
      </p:sp>
      <p:sp>
        <p:nvSpPr>
          <p:cNvPr id="550" name="Google Shape;550;p21"/>
          <p:cNvSpPr/>
          <p:nvPr/>
        </p:nvSpPr>
        <p:spPr>
          <a:xfrm>
            <a:off x="457200" y="5715000"/>
            <a:ext cx="2606040" cy="7315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457200" y="571500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 txBox="1"/>
          <p:nvPr/>
        </p:nvSpPr>
        <p:spPr>
          <a:xfrm>
            <a:off x="594360" y="5875015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Records</a:t>
            </a:r>
            <a:endParaRPr sz="1700"/>
          </a:p>
        </p:txBody>
      </p:sp>
      <p:sp>
        <p:nvSpPr>
          <p:cNvPr id="553" name="Google Shape;553;p21"/>
          <p:cNvSpPr txBox="1"/>
          <p:nvPr/>
        </p:nvSpPr>
        <p:spPr>
          <a:xfrm>
            <a:off x="594360" y="6075133"/>
            <a:ext cx="2331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100,001</a:t>
            </a:r>
            <a:endParaRPr sz="1700"/>
          </a:p>
        </p:txBody>
      </p:sp>
      <p:sp>
        <p:nvSpPr>
          <p:cNvPr id="554" name="Google Shape;554;p21"/>
          <p:cNvSpPr/>
          <p:nvPr/>
        </p:nvSpPr>
        <p:spPr>
          <a:xfrm>
            <a:off x="3337560" y="5715000"/>
            <a:ext cx="2606040" cy="7315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3337560" y="571500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 txBox="1"/>
          <p:nvPr/>
        </p:nvSpPr>
        <p:spPr>
          <a:xfrm>
            <a:off x="3474720" y="5820153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Processed Records</a:t>
            </a:r>
            <a:endParaRPr sz="1700"/>
          </a:p>
        </p:txBody>
      </p:sp>
      <p:sp>
        <p:nvSpPr>
          <p:cNvPr id="557" name="Google Shape;557;p21"/>
          <p:cNvSpPr txBox="1"/>
          <p:nvPr/>
        </p:nvSpPr>
        <p:spPr>
          <a:xfrm>
            <a:off x="3474720" y="6012183"/>
            <a:ext cx="2331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99,978</a:t>
            </a:r>
            <a:endParaRPr sz="1700"/>
          </a:p>
        </p:txBody>
      </p:sp>
      <p:sp>
        <p:nvSpPr>
          <p:cNvPr id="558" name="Google Shape;558;p21"/>
          <p:cNvSpPr/>
          <p:nvPr/>
        </p:nvSpPr>
        <p:spPr>
          <a:xfrm>
            <a:off x="6217920" y="5715000"/>
            <a:ext cx="2606040" cy="7315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6217920" y="571500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6355080" y="5875015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Features</a:t>
            </a:r>
            <a:endParaRPr sz="1700"/>
          </a:p>
        </p:txBody>
      </p:sp>
      <p:sp>
        <p:nvSpPr>
          <p:cNvPr id="561" name="Google Shape;561;p21"/>
          <p:cNvSpPr txBox="1"/>
          <p:nvPr/>
        </p:nvSpPr>
        <p:spPr>
          <a:xfrm>
            <a:off x="6355080" y="6075133"/>
            <a:ext cx="2331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40+</a:t>
            </a:r>
            <a:endParaRPr sz="1700"/>
          </a:p>
        </p:txBody>
      </p:sp>
      <p:sp>
        <p:nvSpPr>
          <p:cNvPr id="562" name="Google Shape;562;p21"/>
          <p:cNvSpPr/>
          <p:nvPr/>
        </p:nvSpPr>
        <p:spPr>
          <a:xfrm>
            <a:off x="9098280" y="5715000"/>
            <a:ext cx="2606040" cy="7315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9098280" y="571500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 txBox="1"/>
          <p:nvPr/>
        </p:nvSpPr>
        <p:spPr>
          <a:xfrm>
            <a:off x="9235415" y="5897878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</a:t>
            </a:r>
            <a:endParaRPr sz="1700"/>
          </a:p>
        </p:txBody>
      </p:sp>
      <p:sp>
        <p:nvSpPr>
          <p:cNvPr id="565" name="Google Shape;565;p21"/>
          <p:cNvSpPr txBox="1"/>
          <p:nvPr/>
        </p:nvSpPr>
        <p:spPr>
          <a:xfrm>
            <a:off x="9235415" y="6035045"/>
            <a:ext cx="2331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15-min Ahead</a:t>
            </a:r>
            <a:endParaRPr sz="1700"/>
          </a:p>
        </p:txBody>
      </p:sp>
      <p:sp>
        <p:nvSpPr>
          <p:cNvPr id="566" name="Google Shape;566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 txBox="1"/>
          <p:nvPr/>
        </p:nvSpPr>
        <p:spPr>
          <a:xfrm>
            <a:off x="457200" y="6583680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700"/>
          </a:p>
        </p:txBody>
      </p:sp>
      <p:sp>
        <p:nvSpPr>
          <p:cNvPr id="568" name="Google Shape;568;p21"/>
          <p:cNvSpPr txBox="1"/>
          <p:nvPr/>
        </p:nvSpPr>
        <p:spPr>
          <a:xfrm>
            <a:off x="10972800" y="6492240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 / 26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573">
          <a:extLst>
            <a:ext uri="{FF2B5EF4-FFF2-40B4-BE49-F238E27FC236}">
              <a16:creationId xmlns:a16="http://schemas.microsoft.com/office/drawing/2014/main" id="{22DC4405-6D38-5450-90A1-823347B7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">
            <a:extLst>
              <a:ext uri="{FF2B5EF4-FFF2-40B4-BE49-F238E27FC236}">
                <a16:creationId xmlns:a16="http://schemas.microsoft.com/office/drawing/2014/main" id="{C92D0F21-C92B-498F-49DE-6FAE0E9B81F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>
            <a:extLst>
              <a:ext uri="{FF2B5EF4-FFF2-40B4-BE49-F238E27FC236}">
                <a16:creationId xmlns:a16="http://schemas.microsoft.com/office/drawing/2014/main" id="{5EEE1956-50B6-AD27-65D9-53FBEEBAB753}"/>
              </a:ext>
            </a:extLst>
          </p:cNvPr>
          <p:cNvSpPr txBox="1"/>
          <p:nvPr/>
        </p:nvSpPr>
        <p:spPr>
          <a:xfrm>
            <a:off x="640080" y="228600"/>
            <a:ext cx="1005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Exploratory Data Analysis</a:t>
            </a:r>
            <a:endParaRPr sz="1900"/>
          </a:p>
        </p:txBody>
      </p:sp>
      <p:sp>
        <p:nvSpPr>
          <p:cNvPr id="576" name="Google Shape;576;p22">
            <a:extLst>
              <a:ext uri="{FF2B5EF4-FFF2-40B4-BE49-F238E27FC236}">
                <a16:creationId xmlns:a16="http://schemas.microsoft.com/office/drawing/2014/main" id="{5BB39523-5BAB-EE01-B9D1-4F434334F14B}"/>
              </a:ext>
            </a:extLst>
          </p:cNvPr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>
            <a:extLst>
              <a:ext uri="{FF2B5EF4-FFF2-40B4-BE49-F238E27FC236}">
                <a16:creationId xmlns:a16="http://schemas.microsoft.com/office/drawing/2014/main" id="{A4B335E4-1B35-E878-DEC4-A884AE69F71D}"/>
              </a:ext>
            </a:extLst>
          </p:cNvPr>
          <p:cNvSpPr txBox="1"/>
          <p:nvPr/>
        </p:nvSpPr>
        <p:spPr>
          <a:xfrm>
            <a:off x="594360" y="808950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Visualizing Traffic Patterns &amp; Feature Distributions</a:t>
            </a:r>
            <a:endParaRPr sz="1900"/>
          </a:p>
        </p:txBody>
      </p:sp>
      <p:sp>
        <p:nvSpPr>
          <p:cNvPr id="578" name="Google Shape;578;p22">
            <a:extLst>
              <a:ext uri="{FF2B5EF4-FFF2-40B4-BE49-F238E27FC236}">
                <a16:creationId xmlns:a16="http://schemas.microsoft.com/office/drawing/2014/main" id="{CEB6B05E-F6A5-D6A3-60CC-19AC6CD83899}"/>
              </a:ext>
            </a:extLst>
          </p:cNvPr>
          <p:cNvSpPr/>
          <p:nvPr/>
        </p:nvSpPr>
        <p:spPr>
          <a:xfrm>
            <a:off x="283784" y="1142999"/>
            <a:ext cx="5812215" cy="4743195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2">
            <a:extLst>
              <a:ext uri="{FF2B5EF4-FFF2-40B4-BE49-F238E27FC236}">
                <a16:creationId xmlns:a16="http://schemas.microsoft.com/office/drawing/2014/main" id="{591847E7-AAC0-1892-8049-1EA6249A7915}"/>
              </a:ext>
            </a:extLst>
          </p:cNvPr>
          <p:cNvSpPr txBox="1"/>
          <p:nvPr/>
        </p:nvSpPr>
        <p:spPr>
          <a:xfrm>
            <a:off x="329565" y="1537335"/>
            <a:ext cx="3337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Chart / Visualization Placeholder ]</a:t>
            </a:r>
            <a:endParaRPr sz="1900"/>
          </a:p>
        </p:txBody>
      </p:sp>
      <p:sp>
        <p:nvSpPr>
          <p:cNvPr id="581" name="Google Shape;581;p22">
            <a:extLst>
              <a:ext uri="{FF2B5EF4-FFF2-40B4-BE49-F238E27FC236}">
                <a16:creationId xmlns:a16="http://schemas.microsoft.com/office/drawing/2014/main" id="{D683384F-6832-8B0D-8726-F02E23B7B6E8}"/>
              </a:ext>
            </a:extLst>
          </p:cNvPr>
          <p:cNvSpPr txBox="1"/>
          <p:nvPr/>
        </p:nvSpPr>
        <p:spPr>
          <a:xfrm>
            <a:off x="283785" y="1880235"/>
            <a:ext cx="333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Insert EDA chart here</a:t>
            </a:r>
            <a:endParaRPr sz="1900" dirty="0"/>
          </a:p>
        </p:txBody>
      </p:sp>
      <p:sp>
        <p:nvSpPr>
          <p:cNvPr id="582" name="Google Shape;582;p22">
            <a:extLst>
              <a:ext uri="{FF2B5EF4-FFF2-40B4-BE49-F238E27FC236}">
                <a16:creationId xmlns:a16="http://schemas.microsoft.com/office/drawing/2014/main" id="{85B20BC9-297D-4E6A-F071-6E679743B3B5}"/>
              </a:ext>
            </a:extLst>
          </p:cNvPr>
          <p:cNvSpPr txBox="1"/>
          <p:nvPr/>
        </p:nvSpPr>
        <p:spPr>
          <a:xfrm>
            <a:off x="594360" y="4671958"/>
            <a:ext cx="3246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 Traffic Trend Over Time</a:t>
            </a:r>
            <a:endParaRPr sz="1900" dirty="0"/>
          </a:p>
        </p:txBody>
      </p:sp>
      <p:sp>
        <p:nvSpPr>
          <p:cNvPr id="583" name="Google Shape;583;p22">
            <a:extLst>
              <a:ext uri="{FF2B5EF4-FFF2-40B4-BE49-F238E27FC236}">
                <a16:creationId xmlns:a16="http://schemas.microsoft.com/office/drawing/2014/main" id="{B7A853D8-B6BE-B977-258F-D5C1876A86D8}"/>
              </a:ext>
            </a:extLst>
          </p:cNvPr>
          <p:cNvSpPr txBox="1"/>
          <p:nvPr/>
        </p:nvSpPr>
        <p:spPr>
          <a:xfrm>
            <a:off x="640080" y="4974811"/>
            <a:ext cx="324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Time-series plot showing </a:t>
            </a:r>
            <a:r>
              <a:rPr lang="en-US" sz="1200" b="0" i="0" u="none" strike="noStrike" cap="none" dirty="0" err="1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request_count</a:t>
            </a:r>
            <a:br>
              <a:rPr lang="en-US" sz="1200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200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 5-min intervals — reveals daily/weekly</a:t>
            </a:r>
            <a:br>
              <a:rPr lang="en-US" sz="1200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200" b="0" i="0" u="none" strike="noStrike" cap="none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seasonality and trend patterns</a:t>
            </a:r>
            <a:endParaRPr sz="1900" dirty="0"/>
          </a:p>
        </p:txBody>
      </p:sp>
      <p:sp>
        <p:nvSpPr>
          <p:cNvPr id="590" name="Google Shape;590;p22">
            <a:extLst>
              <a:ext uri="{FF2B5EF4-FFF2-40B4-BE49-F238E27FC236}">
                <a16:creationId xmlns:a16="http://schemas.microsoft.com/office/drawing/2014/main" id="{BF0C982C-8020-7830-DA6F-3851CF0E342B}"/>
              </a:ext>
            </a:extLst>
          </p:cNvPr>
          <p:cNvSpPr/>
          <p:nvPr/>
        </p:nvSpPr>
        <p:spPr>
          <a:xfrm>
            <a:off x="6330375" y="1143000"/>
            <a:ext cx="5739825" cy="4743194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>
            <a:extLst>
              <a:ext uri="{FF2B5EF4-FFF2-40B4-BE49-F238E27FC236}">
                <a16:creationId xmlns:a16="http://schemas.microsoft.com/office/drawing/2014/main" id="{1189913C-64DF-4887-535E-0953CF7F1CF7}"/>
              </a:ext>
            </a:extLst>
          </p:cNvPr>
          <p:cNvSpPr txBox="1"/>
          <p:nvPr/>
        </p:nvSpPr>
        <p:spPr>
          <a:xfrm>
            <a:off x="6859905" y="4731399"/>
            <a:ext cx="3246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500" b="1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🔥 Correlation Heatmap</a:t>
            </a:r>
            <a:endParaRPr lang="en-US" sz="1900" dirty="0"/>
          </a:p>
        </p:txBody>
      </p:sp>
      <p:sp>
        <p:nvSpPr>
          <p:cNvPr id="595" name="Google Shape;595;p22">
            <a:extLst>
              <a:ext uri="{FF2B5EF4-FFF2-40B4-BE49-F238E27FC236}">
                <a16:creationId xmlns:a16="http://schemas.microsoft.com/office/drawing/2014/main" id="{F3BE2745-57D3-B155-B6A0-F8D24D81484E}"/>
              </a:ext>
            </a:extLst>
          </p:cNvPr>
          <p:cNvSpPr txBox="1"/>
          <p:nvPr/>
        </p:nvSpPr>
        <p:spPr>
          <a:xfrm>
            <a:off x="6859905" y="5049999"/>
            <a:ext cx="324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1200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38×38 feature correlation matrix</a:t>
            </a:r>
            <a:br>
              <a:rPr lang="en-GB" sz="1200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200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Reveals multicollinearity and</a:t>
            </a:r>
            <a:br>
              <a:rPr lang="en-GB" sz="1200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GB" sz="1200" dirty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 predictor relationships</a:t>
            </a:r>
            <a:endParaRPr lang="en-GB" sz="1900" dirty="0"/>
          </a:p>
        </p:txBody>
      </p:sp>
      <p:sp>
        <p:nvSpPr>
          <p:cNvPr id="614" name="Google Shape;614;p22">
            <a:extLst>
              <a:ext uri="{FF2B5EF4-FFF2-40B4-BE49-F238E27FC236}">
                <a16:creationId xmlns:a16="http://schemas.microsoft.com/office/drawing/2014/main" id="{1A6714E3-EE68-0452-1D3D-A1369189F244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>
            <a:extLst>
              <a:ext uri="{FF2B5EF4-FFF2-40B4-BE49-F238E27FC236}">
                <a16:creationId xmlns:a16="http://schemas.microsoft.com/office/drawing/2014/main" id="{B02314A1-0858-A518-153B-7267C8E3A4A2}"/>
              </a:ext>
            </a:extLst>
          </p:cNvPr>
          <p:cNvSpPr txBox="1"/>
          <p:nvPr/>
        </p:nvSpPr>
        <p:spPr>
          <a:xfrm>
            <a:off x="457200" y="658368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900"/>
          </a:p>
        </p:txBody>
      </p:sp>
      <p:sp>
        <p:nvSpPr>
          <p:cNvPr id="616" name="Google Shape;616;p22">
            <a:extLst>
              <a:ext uri="{FF2B5EF4-FFF2-40B4-BE49-F238E27FC236}">
                <a16:creationId xmlns:a16="http://schemas.microsoft.com/office/drawing/2014/main" id="{138AA848-28F6-8062-660A-48F259CBAE9E}"/>
              </a:ext>
            </a:extLst>
          </p:cNvPr>
          <p:cNvSpPr txBox="1"/>
          <p:nvPr/>
        </p:nvSpPr>
        <p:spPr>
          <a:xfrm>
            <a:off x="10972800" y="6492240"/>
            <a:ext cx="109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26</a:t>
            </a:r>
            <a:endParaRPr sz="1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499ED8-B88E-91A4-54D0-F7DD01B8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51" y="1445505"/>
            <a:ext cx="5458750" cy="3155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9BDF6-6139-19F7-8B98-1F7BE658A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29" y="1484751"/>
            <a:ext cx="5217915" cy="313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45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 txBox="1"/>
          <p:nvPr/>
        </p:nvSpPr>
        <p:spPr>
          <a:xfrm>
            <a:off x="640080" y="228600"/>
            <a:ext cx="1005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Engineering</a:t>
            </a:r>
            <a:endParaRPr sz="1700"/>
          </a:p>
        </p:txBody>
      </p:sp>
      <p:sp>
        <p:nvSpPr>
          <p:cNvPr id="624" name="Google Shape;624;p23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 txBox="1"/>
          <p:nvPr/>
        </p:nvSpPr>
        <p:spPr>
          <a:xfrm>
            <a:off x="640080" y="822960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 Predictive Features Across 4 Categories</a:t>
            </a:r>
            <a:endParaRPr sz="1700"/>
          </a:p>
        </p:txBody>
      </p:sp>
      <p:sp>
        <p:nvSpPr>
          <p:cNvPr id="626" name="Google Shape;626;p23"/>
          <p:cNvSpPr/>
          <p:nvPr/>
        </p:nvSpPr>
        <p:spPr>
          <a:xfrm>
            <a:off x="365760" y="1097280"/>
            <a:ext cx="2743200" cy="45720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 txBox="1"/>
          <p:nvPr/>
        </p:nvSpPr>
        <p:spPr>
          <a:xfrm>
            <a:off x="457200" y="1143000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⏰  Temporal Features</a:t>
            </a:r>
            <a:endParaRPr sz="1700"/>
          </a:p>
        </p:txBody>
      </p:sp>
      <p:sp>
        <p:nvSpPr>
          <p:cNvPr id="628" name="Google Shape;628;p23"/>
          <p:cNvSpPr/>
          <p:nvPr/>
        </p:nvSpPr>
        <p:spPr>
          <a:xfrm>
            <a:off x="2651760" y="117043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3"/>
          <p:cNvSpPr txBox="1"/>
          <p:nvPr/>
        </p:nvSpPr>
        <p:spPr>
          <a:xfrm>
            <a:off x="2651760" y="1170432"/>
            <a:ext cx="32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700"/>
          </a:p>
        </p:txBody>
      </p:sp>
      <p:sp>
        <p:nvSpPr>
          <p:cNvPr id="630" name="Google Shape;630;p23"/>
          <p:cNvSpPr/>
          <p:nvPr/>
        </p:nvSpPr>
        <p:spPr>
          <a:xfrm>
            <a:off x="365760" y="164592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365760" y="1645920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 txBox="1"/>
          <p:nvPr/>
        </p:nvSpPr>
        <p:spPr>
          <a:xfrm>
            <a:off x="502920" y="1673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hour</a:t>
            </a:r>
            <a:endParaRPr sz="1700"/>
          </a:p>
        </p:txBody>
      </p:sp>
      <p:sp>
        <p:nvSpPr>
          <p:cNvPr id="633" name="Google Shape;633;p23"/>
          <p:cNvSpPr txBox="1"/>
          <p:nvPr/>
        </p:nvSpPr>
        <p:spPr>
          <a:xfrm>
            <a:off x="502920" y="184708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Hour of day (0-23)</a:t>
            </a:r>
            <a:endParaRPr sz="1700"/>
          </a:p>
        </p:txBody>
      </p:sp>
      <p:sp>
        <p:nvSpPr>
          <p:cNvPr id="634" name="Google Shape;634;p23"/>
          <p:cNvSpPr/>
          <p:nvPr/>
        </p:nvSpPr>
        <p:spPr>
          <a:xfrm>
            <a:off x="365760" y="2121408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365760" y="2121408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502920" y="214884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</a:t>
            </a:r>
            <a:endParaRPr sz="1700"/>
          </a:p>
        </p:txBody>
      </p:sp>
      <p:sp>
        <p:nvSpPr>
          <p:cNvPr id="637" name="Google Shape;637;p23"/>
          <p:cNvSpPr txBox="1"/>
          <p:nvPr/>
        </p:nvSpPr>
        <p:spPr>
          <a:xfrm>
            <a:off x="502920" y="232257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 of month (1-31)</a:t>
            </a:r>
            <a:endParaRPr sz="1700"/>
          </a:p>
        </p:txBody>
      </p:sp>
      <p:sp>
        <p:nvSpPr>
          <p:cNvPr id="638" name="Google Shape;638;p23"/>
          <p:cNvSpPr/>
          <p:nvPr/>
        </p:nvSpPr>
        <p:spPr>
          <a:xfrm>
            <a:off x="365760" y="2596896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365760" y="2596896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 txBox="1"/>
          <p:nvPr/>
        </p:nvSpPr>
        <p:spPr>
          <a:xfrm>
            <a:off x="502920" y="26243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</a:t>
            </a:r>
            <a:endParaRPr sz="1700"/>
          </a:p>
        </p:txBody>
      </p:sp>
      <p:sp>
        <p:nvSpPr>
          <p:cNvPr id="641" name="Google Shape;641;p23"/>
          <p:cNvSpPr txBox="1"/>
          <p:nvPr/>
        </p:nvSpPr>
        <p:spPr>
          <a:xfrm>
            <a:off x="502920" y="2798064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(1-12)</a:t>
            </a:r>
            <a:endParaRPr sz="1700"/>
          </a:p>
        </p:txBody>
      </p:sp>
      <p:sp>
        <p:nvSpPr>
          <p:cNvPr id="642" name="Google Shape;642;p23"/>
          <p:cNvSpPr/>
          <p:nvPr/>
        </p:nvSpPr>
        <p:spPr>
          <a:xfrm>
            <a:off x="365760" y="3072384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365760" y="3072384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>
            <a:off x="502920" y="3099816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day_of_week</a:t>
            </a:r>
            <a:endParaRPr sz="1700"/>
          </a:p>
        </p:txBody>
      </p:sp>
      <p:sp>
        <p:nvSpPr>
          <p:cNvPr id="645" name="Google Shape;645;p23"/>
          <p:cNvSpPr txBox="1"/>
          <p:nvPr/>
        </p:nvSpPr>
        <p:spPr>
          <a:xfrm>
            <a:off x="502920" y="3273552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Weekday (0=Mon, 6=Sun)</a:t>
            </a:r>
            <a:endParaRPr sz="1700"/>
          </a:p>
        </p:txBody>
      </p:sp>
      <p:sp>
        <p:nvSpPr>
          <p:cNvPr id="646" name="Google Shape;646;p23"/>
          <p:cNvSpPr/>
          <p:nvPr/>
        </p:nvSpPr>
        <p:spPr>
          <a:xfrm>
            <a:off x="365760" y="3547872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365760" y="3547872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3"/>
          <p:cNvSpPr txBox="1"/>
          <p:nvPr/>
        </p:nvSpPr>
        <p:spPr>
          <a:xfrm>
            <a:off x="502920" y="35753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</a:t>
            </a:r>
            <a:endParaRPr sz="1700"/>
          </a:p>
        </p:txBody>
      </p:sp>
      <p:sp>
        <p:nvSpPr>
          <p:cNvPr id="649" name="Google Shape;649;p23"/>
          <p:cNvSpPr txBox="1"/>
          <p:nvPr/>
        </p:nvSpPr>
        <p:spPr>
          <a:xfrm>
            <a:off x="502920" y="3749040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 number (1-52)</a:t>
            </a:r>
            <a:endParaRPr sz="1700"/>
          </a:p>
        </p:txBody>
      </p:sp>
      <p:sp>
        <p:nvSpPr>
          <p:cNvPr id="650" name="Google Shape;650;p23"/>
          <p:cNvSpPr/>
          <p:nvPr/>
        </p:nvSpPr>
        <p:spPr>
          <a:xfrm>
            <a:off x="365760" y="402336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365760" y="4023360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3"/>
          <p:cNvSpPr txBox="1"/>
          <p:nvPr/>
        </p:nvSpPr>
        <p:spPr>
          <a:xfrm>
            <a:off x="502920" y="405079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quarter</a:t>
            </a:r>
            <a:endParaRPr sz="1700"/>
          </a:p>
        </p:txBody>
      </p:sp>
      <p:sp>
        <p:nvSpPr>
          <p:cNvPr id="653" name="Google Shape;653;p23"/>
          <p:cNvSpPr txBox="1"/>
          <p:nvPr/>
        </p:nvSpPr>
        <p:spPr>
          <a:xfrm>
            <a:off x="502920" y="422452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Quarter (1-4)</a:t>
            </a:r>
            <a:endParaRPr sz="1700"/>
          </a:p>
        </p:txBody>
      </p:sp>
      <p:sp>
        <p:nvSpPr>
          <p:cNvPr id="654" name="Google Shape;654;p23"/>
          <p:cNvSpPr/>
          <p:nvPr/>
        </p:nvSpPr>
        <p:spPr>
          <a:xfrm>
            <a:off x="365760" y="4498848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365760" y="4498848"/>
            <a:ext cx="54864" cy="41148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 txBox="1"/>
          <p:nvPr/>
        </p:nvSpPr>
        <p:spPr>
          <a:xfrm>
            <a:off x="502920" y="452628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is_weekend</a:t>
            </a:r>
            <a:endParaRPr sz="1700"/>
          </a:p>
        </p:txBody>
      </p:sp>
      <p:sp>
        <p:nvSpPr>
          <p:cNvPr id="657" name="Google Shape;657;p23"/>
          <p:cNvSpPr txBox="1"/>
          <p:nvPr/>
        </p:nvSpPr>
        <p:spPr>
          <a:xfrm>
            <a:off x="502920" y="470001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Weekend flag (0/1)</a:t>
            </a:r>
            <a:endParaRPr sz="1700"/>
          </a:p>
        </p:txBody>
      </p:sp>
      <p:sp>
        <p:nvSpPr>
          <p:cNvPr id="658" name="Google Shape;658;p23"/>
          <p:cNvSpPr/>
          <p:nvPr/>
        </p:nvSpPr>
        <p:spPr>
          <a:xfrm>
            <a:off x="3291840" y="1097280"/>
            <a:ext cx="2743200" cy="457200"/>
          </a:xfrm>
          <a:prstGeom prst="roundRect">
            <a:avLst>
              <a:gd name="adj" fmla="val 16667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3383280" y="1143000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⏪  Lag Features</a:t>
            </a:r>
            <a:endParaRPr sz="1700"/>
          </a:p>
        </p:txBody>
      </p:sp>
      <p:sp>
        <p:nvSpPr>
          <p:cNvPr id="660" name="Google Shape;660;p23"/>
          <p:cNvSpPr/>
          <p:nvPr/>
        </p:nvSpPr>
        <p:spPr>
          <a:xfrm>
            <a:off x="5577840" y="117043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3"/>
          <p:cNvSpPr txBox="1"/>
          <p:nvPr/>
        </p:nvSpPr>
        <p:spPr>
          <a:xfrm>
            <a:off x="5577840" y="1170432"/>
            <a:ext cx="32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700"/>
          </a:p>
        </p:txBody>
      </p:sp>
      <p:sp>
        <p:nvSpPr>
          <p:cNvPr id="662" name="Google Shape;662;p23"/>
          <p:cNvSpPr/>
          <p:nvPr/>
        </p:nvSpPr>
        <p:spPr>
          <a:xfrm>
            <a:off x="3291840" y="164592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3291840" y="1645920"/>
            <a:ext cx="54864" cy="41148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3"/>
          <p:cNvSpPr txBox="1"/>
          <p:nvPr/>
        </p:nvSpPr>
        <p:spPr>
          <a:xfrm>
            <a:off x="3429000" y="1673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request_lag_1</a:t>
            </a:r>
            <a:endParaRPr sz="1700"/>
          </a:p>
        </p:txBody>
      </p:sp>
      <p:sp>
        <p:nvSpPr>
          <p:cNvPr id="665" name="Google Shape;665;p23"/>
          <p:cNvSpPr txBox="1"/>
          <p:nvPr/>
        </p:nvSpPr>
        <p:spPr>
          <a:xfrm>
            <a:off x="3429000" y="184708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min ago traffic</a:t>
            </a:r>
            <a:endParaRPr sz="1700"/>
          </a:p>
        </p:txBody>
      </p:sp>
      <p:sp>
        <p:nvSpPr>
          <p:cNvPr id="666" name="Google Shape;666;p23"/>
          <p:cNvSpPr/>
          <p:nvPr/>
        </p:nvSpPr>
        <p:spPr>
          <a:xfrm>
            <a:off x="3291840" y="2121408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3291840" y="2121408"/>
            <a:ext cx="54864" cy="41148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 txBox="1"/>
          <p:nvPr/>
        </p:nvSpPr>
        <p:spPr>
          <a:xfrm>
            <a:off x="3429000" y="214884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request_lag_3</a:t>
            </a:r>
            <a:endParaRPr sz="1700"/>
          </a:p>
        </p:txBody>
      </p:sp>
      <p:sp>
        <p:nvSpPr>
          <p:cNvPr id="669" name="Google Shape;669;p23"/>
          <p:cNvSpPr txBox="1"/>
          <p:nvPr/>
        </p:nvSpPr>
        <p:spPr>
          <a:xfrm>
            <a:off x="3429000" y="232257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min ago traffic</a:t>
            </a:r>
            <a:endParaRPr sz="1700"/>
          </a:p>
        </p:txBody>
      </p:sp>
      <p:sp>
        <p:nvSpPr>
          <p:cNvPr id="670" name="Google Shape;670;p23"/>
          <p:cNvSpPr/>
          <p:nvPr/>
        </p:nvSpPr>
        <p:spPr>
          <a:xfrm>
            <a:off x="3291840" y="2596896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3291840" y="2596896"/>
            <a:ext cx="54864" cy="41148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 txBox="1"/>
          <p:nvPr/>
        </p:nvSpPr>
        <p:spPr>
          <a:xfrm>
            <a:off x="3429000" y="26243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request_lag_6</a:t>
            </a:r>
            <a:endParaRPr sz="1700"/>
          </a:p>
        </p:txBody>
      </p:sp>
      <p:sp>
        <p:nvSpPr>
          <p:cNvPr id="673" name="Google Shape;673;p23"/>
          <p:cNvSpPr txBox="1"/>
          <p:nvPr/>
        </p:nvSpPr>
        <p:spPr>
          <a:xfrm>
            <a:off x="3429000" y="2798064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 min ago traffic</a:t>
            </a:r>
            <a:endParaRPr sz="1700"/>
          </a:p>
        </p:txBody>
      </p:sp>
      <p:sp>
        <p:nvSpPr>
          <p:cNvPr id="674" name="Google Shape;674;p23"/>
          <p:cNvSpPr/>
          <p:nvPr/>
        </p:nvSpPr>
        <p:spPr>
          <a:xfrm>
            <a:off x="3291840" y="3072384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3291840" y="3072384"/>
            <a:ext cx="54864" cy="41148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 txBox="1"/>
          <p:nvPr/>
        </p:nvSpPr>
        <p:spPr>
          <a:xfrm>
            <a:off x="3429000" y="3099816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request_lag_12</a:t>
            </a:r>
            <a:endParaRPr sz="1700"/>
          </a:p>
        </p:txBody>
      </p:sp>
      <p:sp>
        <p:nvSpPr>
          <p:cNvPr id="677" name="Google Shape;677;p23"/>
          <p:cNvSpPr txBox="1"/>
          <p:nvPr/>
        </p:nvSpPr>
        <p:spPr>
          <a:xfrm>
            <a:off x="3429000" y="3273552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hour ago traffic</a:t>
            </a:r>
            <a:endParaRPr sz="1700"/>
          </a:p>
        </p:txBody>
      </p:sp>
      <p:sp>
        <p:nvSpPr>
          <p:cNvPr id="678" name="Google Shape;678;p23"/>
          <p:cNvSpPr/>
          <p:nvPr/>
        </p:nvSpPr>
        <p:spPr>
          <a:xfrm>
            <a:off x="3291840" y="3547872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3291840" y="3547872"/>
            <a:ext cx="54864" cy="41148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3"/>
          <p:cNvSpPr txBox="1"/>
          <p:nvPr/>
        </p:nvSpPr>
        <p:spPr>
          <a:xfrm>
            <a:off x="3429000" y="35753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request_lag_24</a:t>
            </a:r>
            <a:endParaRPr sz="1700"/>
          </a:p>
        </p:txBody>
      </p:sp>
      <p:sp>
        <p:nvSpPr>
          <p:cNvPr id="681" name="Google Shape;681;p23"/>
          <p:cNvSpPr txBox="1"/>
          <p:nvPr/>
        </p:nvSpPr>
        <p:spPr>
          <a:xfrm>
            <a:off x="3429000" y="3749040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hours ago traffic</a:t>
            </a:r>
            <a:endParaRPr sz="1700"/>
          </a:p>
        </p:txBody>
      </p:sp>
      <p:sp>
        <p:nvSpPr>
          <p:cNvPr id="682" name="Google Shape;682;p23"/>
          <p:cNvSpPr/>
          <p:nvPr/>
        </p:nvSpPr>
        <p:spPr>
          <a:xfrm>
            <a:off x="6217920" y="1097280"/>
            <a:ext cx="2743200" cy="457200"/>
          </a:xfrm>
          <a:prstGeom prst="roundRect">
            <a:avLst>
              <a:gd name="adj" fmla="val 16667"/>
            </a:avLst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 txBox="1"/>
          <p:nvPr/>
        </p:nvSpPr>
        <p:spPr>
          <a:xfrm>
            <a:off x="6309360" y="1143000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📉  Rolling Statistics</a:t>
            </a:r>
            <a:endParaRPr sz="1700"/>
          </a:p>
        </p:txBody>
      </p:sp>
      <p:sp>
        <p:nvSpPr>
          <p:cNvPr id="684" name="Google Shape;684;p23"/>
          <p:cNvSpPr/>
          <p:nvPr/>
        </p:nvSpPr>
        <p:spPr>
          <a:xfrm>
            <a:off x="8503920" y="117043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 txBox="1"/>
          <p:nvPr/>
        </p:nvSpPr>
        <p:spPr>
          <a:xfrm>
            <a:off x="8503920" y="1170432"/>
            <a:ext cx="32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700"/>
          </a:p>
        </p:txBody>
      </p:sp>
      <p:sp>
        <p:nvSpPr>
          <p:cNvPr id="686" name="Google Shape;686;p23"/>
          <p:cNvSpPr/>
          <p:nvPr/>
        </p:nvSpPr>
        <p:spPr>
          <a:xfrm>
            <a:off x="6217920" y="164592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6217920" y="1645920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 txBox="1"/>
          <p:nvPr/>
        </p:nvSpPr>
        <p:spPr>
          <a:xfrm>
            <a:off x="6355080" y="1673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rolling_mean_6</a:t>
            </a:r>
            <a:endParaRPr sz="1700"/>
          </a:p>
        </p:txBody>
      </p:sp>
      <p:sp>
        <p:nvSpPr>
          <p:cNvPr id="689" name="Google Shape;689;p23"/>
          <p:cNvSpPr txBox="1"/>
          <p:nvPr/>
        </p:nvSpPr>
        <p:spPr>
          <a:xfrm>
            <a:off x="6355080" y="184708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30-min moving avg</a:t>
            </a:r>
            <a:endParaRPr sz="1700"/>
          </a:p>
        </p:txBody>
      </p:sp>
      <p:sp>
        <p:nvSpPr>
          <p:cNvPr id="690" name="Google Shape;690;p23"/>
          <p:cNvSpPr/>
          <p:nvPr/>
        </p:nvSpPr>
        <p:spPr>
          <a:xfrm>
            <a:off x="6217920" y="2121408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3"/>
          <p:cNvSpPr/>
          <p:nvPr/>
        </p:nvSpPr>
        <p:spPr>
          <a:xfrm>
            <a:off x="6217920" y="2121408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 txBox="1"/>
          <p:nvPr/>
        </p:nvSpPr>
        <p:spPr>
          <a:xfrm>
            <a:off x="6355080" y="214884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rolling_std_6</a:t>
            </a:r>
            <a:endParaRPr sz="1700"/>
          </a:p>
        </p:txBody>
      </p:sp>
      <p:sp>
        <p:nvSpPr>
          <p:cNvPr id="693" name="Google Shape;693;p23"/>
          <p:cNvSpPr txBox="1"/>
          <p:nvPr/>
        </p:nvSpPr>
        <p:spPr>
          <a:xfrm>
            <a:off x="6355080" y="232257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30-min volatility</a:t>
            </a:r>
            <a:endParaRPr sz="1700"/>
          </a:p>
        </p:txBody>
      </p:sp>
      <p:sp>
        <p:nvSpPr>
          <p:cNvPr id="694" name="Google Shape;694;p23"/>
          <p:cNvSpPr/>
          <p:nvPr/>
        </p:nvSpPr>
        <p:spPr>
          <a:xfrm>
            <a:off x="6217920" y="2596896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3"/>
          <p:cNvSpPr/>
          <p:nvPr/>
        </p:nvSpPr>
        <p:spPr>
          <a:xfrm>
            <a:off x="6217920" y="2596896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3"/>
          <p:cNvSpPr txBox="1"/>
          <p:nvPr/>
        </p:nvSpPr>
        <p:spPr>
          <a:xfrm>
            <a:off x="6355080" y="26243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rolling_mean_12</a:t>
            </a:r>
            <a:endParaRPr sz="1700"/>
          </a:p>
        </p:txBody>
      </p:sp>
      <p:sp>
        <p:nvSpPr>
          <p:cNvPr id="697" name="Google Shape;697;p23"/>
          <p:cNvSpPr txBox="1"/>
          <p:nvPr/>
        </p:nvSpPr>
        <p:spPr>
          <a:xfrm>
            <a:off x="6355080" y="2798064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1-hr moving avg</a:t>
            </a:r>
            <a:endParaRPr sz="1700"/>
          </a:p>
        </p:txBody>
      </p:sp>
      <p:sp>
        <p:nvSpPr>
          <p:cNvPr id="698" name="Google Shape;698;p23"/>
          <p:cNvSpPr/>
          <p:nvPr/>
        </p:nvSpPr>
        <p:spPr>
          <a:xfrm>
            <a:off x="6217920" y="3072384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3"/>
          <p:cNvSpPr/>
          <p:nvPr/>
        </p:nvSpPr>
        <p:spPr>
          <a:xfrm>
            <a:off x="6217920" y="3072384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3"/>
          <p:cNvSpPr txBox="1"/>
          <p:nvPr/>
        </p:nvSpPr>
        <p:spPr>
          <a:xfrm>
            <a:off x="6355080" y="3099816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rolling_std_12</a:t>
            </a:r>
            <a:endParaRPr sz="1700"/>
          </a:p>
        </p:txBody>
      </p:sp>
      <p:sp>
        <p:nvSpPr>
          <p:cNvPr id="701" name="Google Shape;701;p23"/>
          <p:cNvSpPr txBox="1"/>
          <p:nvPr/>
        </p:nvSpPr>
        <p:spPr>
          <a:xfrm>
            <a:off x="6355080" y="3273552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1-hr volatility</a:t>
            </a:r>
            <a:endParaRPr sz="1700"/>
          </a:p>
        </p:txBody>
      </p:sp>
      <p:sp>
        <p:nvSpPr>
          <p:cNvPr id="702" name="Google Shape;702;p23"/>
          <p:cNvSpPr/>
          <p:nvPr/>
        </p:nvSpPr>
        <p:spPr>
          <a:xfrm>
            <a:off x="6217920" y="3547872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6217920" y="3547872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 txBox="1"/>
          <p:nvPr/>
        </p:nvSpPr>
        <p:spPr>
          <a:xfrm>
            <a:off x="6355080" y="35753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rolling_max_12</a:t>
            </a:r>
            <a:endParaRPr sz="1700"/>
          </a:p>
        </p:txBody>
      </p:sp>
      <p:sp>
        <p:nvSpPr>
          <p:cNvPr id="705" name="Google Shape;705;p23"/>
          <p:cNvSpPr txBox="1"/>
          <p:nvPr/>
        </p:nvSpPr>
        <p:spPr>
          <a:xfrm>
            <a:off x="6355080" y="3749040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1-hr max traffic</a:t>
            </a:r>
            <a:endParaRPr sz="1700"/>
          </a:p>
        </p:txBody>
      </p:sp>
      <p:sp>
        <p:nvSpPr>
          <p:cNvPr id="706" name="Google Shape;706;p23"/>
          <p:cNvSpPr/>
          <p:nvPr/>
        </p:nvSpPr>
        <p:spPr>
          <a:xfrm>
            <a:off x="6217920" y="402336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6217920" y="4023360"/>
            <a:ext cx="54864" cy="41148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3"/>
          <p:cNvSpPr txBox="1"/>
          <p:nvPr/>
        </p:nvSpPr>
        <p:spPr>
          <a:xfrm>
            <a:off x="6355080" y="405079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rolling_min_12</a:t>
            </a:r>
            <a:endParaRPr sz="1700"/>
          </a:p>
        </p:txBody>
      </p:sp>
      <p:sp>
        <p:nvSpPr>
          <p:cNvPr id="709" name="Google Shape;709;p23"/>
          <p:cNvSpPr txBox="1"/>
          <p:nvPr/>
        </p:nvSpPr>
        <p:spPr>
          <a:xfrm>
            <a:off x="6355080" y="422452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1-hr min traffic</a:t>
            </a:r>
            <a:endParaRPr sz="1700"/>
          </a:p>
        </p:txBody>
      </p:sp>
      <p:sp>
        <p:nvSpPr>
          <p:cNvPr id="710" name="Google Shape;710;p23"/>
          <p:cNvSpPr/>
          <p:nvPr/>
        </p:nvSpPr>
        <p:spPr>
          <a:xfrm>
            <a:off x="9144000" y="1097280"/>
            <a:ext cx="2743200" cy="457200"/>
          </a:xfrm>
          <a:prstGeom prst="roundRect">
            <a:avLst>
              <a:gd name="adj" fmla="val 16667"/>
            </a:avLst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3"/>
          <p:cNvSpPr txBox="1"/>
          <p:nvPr/>
        </p:nvSpPr>
        <p:spPr>
          <a:xfrm>
            <a:off x="9235440" y="1143000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Derived Features</a:t>
            </a:r>
            <a:endParaRPr sz="1700"/>
          </a:p>
        </p:txBody>
      </p:sp>
      <p:sp>
        <p:nvSpPr>
          <p:cNvPr id="712" name="Google Shape;712;p23"/>
          <p:cNvSpPr/>
          <p:nvPr/>
        </p:nvSpPr>
        <p:spPr>
          <a:xfrm>
            <a:off x="11430000" y="117043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3"/>
          <p:cNvSpPr txBox="1"/>
          <p:nvPr/>
        </p:nvSpPr>
        <p:spPr>
          <a:xfrm>
            <a:off x="11430000" y="1170432"/>
            <a:ext cx="32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700"/>
          </a:p>
        </p:txBody>
      </p:sp>
      <p:sp>
        <p:nvSpPr>
          <p:cNvPr id="714" name="Google Shape;714;p23"/>
          <p:cNvSpPr/>
          <p:nvPr/>
        </p:nvSpPr>
        <p:spPr>
          <a:xfrm>
            <a:off x="9144000" y="164592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9144000" y="1645920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3"/>
          <p:cNvSpPr txBox="1"/>
          <p:nvPr/>
        </p:nvSpPr>
        <p:spPr>
          <a:xfrm>
            <a:off x="9281160" y="1673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traffic_growth_rate</a:t>
            </a:r>
            <a:endParaRPr sz="1700"/>
          </a:p>
        </p:txBody>
      </p:sp>
      <p:sp>
        <p:nvSpPr>
          <p:cNvPr id="717" name="Google Shape;717;p23"/>
          <p:cNvSpPr txBox="1"/>
          <p:nvPr/>
        </p:nvSpPr>
        <p:spPr>
          <a:xfrm>
            <a:off x="9281160" y="184708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change rate</a:t>
            </a:r>
            <a:endParaRPr sz="1700"/>
          </a:p>
        </p:txBody>
      </p:sp>
      <p:sp>
        <p:nvSpPr>
          <p:cNvPr id="718" name="Google Shape;718;p23"/>
          <p:cNvSpPr/>
          <p:nvPr/>
        </p:nvSpPr>
        <p:spPr>
          <a:xfrm>
            <a:off x="9144000" y="2121408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9144000" y="2121408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 txBox="1"/>
          <p:nvPr/>
        </p:nvSpPr>
        <p:spPr>
          <a:xfrm>
            <a:off x="9281160" y="214884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request_velocity</a:t>
            </a:r>
            <a:endParaRPr sz="1700"/>
          </a:p>
        </p:txBody>
      </p:sp>
      <p:sp>
        <p:nvSpPr>
          <p:cNvPr id="721" name="Google Shape;721;p23"/>
          <p:cNvSpPr txBox="1"/>
          <p:nvPr/>
        </p:nvSpPr>
        <p:spPr>
          <a:xfrm>
            <a:off x="9281160" y="2322576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 of changes</a:t>
            </a:r>
            <a:endParaRPr sz="1700"/>
          </a:p>
        </p:txBody>
      </p:sp>
      <p:sp>
        <p:nvSpPr>
          <p:cNvPr id="722" name="Google Shape;722;p23"/>
          <p:cNvSpPr/>
          <p:nvPr/>
        </p:nvSpPr>
        <p:spPr>
          <a:xfrm>
            <a:off x="9144000" y="2596896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9144000" y="2596896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 txBox="1"/>
          <p:nvPr/>
        </p:nvSpPr>
        <p:spPr>
          <a:xfrm>
            <a:off x="9281160" y="26243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traffic_momentum</a:t>
            </a:r>
            <a:endParaRPr sz="1700"/>
          </a:p>
        </p:txBody>
      </p:sp>
      <p:sp>
        <p:nvSpPr>
          <p:cNvPr id="725" name="Google Shape;725;p23"/>
          <p:cNvSpPr txBox="1"/>
          <p:nvPr/>
        </p:nvSpPr>
        <p:spPr>
          <a:xfrm>
            <a:off x="9281160" y="2798064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Trend momentum</a:t>
            </a:r>
            <a:endParaRPr sz="1700"/>
          </a:p>
        </p:txBody>
      </p:sp>
      <p:sp>
        <p:nvSpPr>
          <p:cNvPr id="726" name="Google Shape;726;p23"/>
          <p:cNvSpPr/>
          <p:nvPr/>
        </p:nvSpPr>
        <p:spPr>
          <a:xfrm>
            <a:off x="9144000" y="3072384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9144000" y="3072384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 txBox="1"/>
          <p:nvPr/>
        </p:nvSpPr>
        <p:spPr>
          <a:xfrm>
            <a:off x="9281160" y="3099816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cpu_memory_ratio</a:t>
            </a:r>
            <a:endParaRPr sz="1700"/>
          </a:p>
        </p:txBody>
      </p:sp>
      <p:sp>
        <p:nvSpPr>
          <p:cNvPr id="729" name="Google Shape;729;p23"/>
          <p:cNvSpPr txBox="1"/>
          <p:nvPr/>
        </p:nvSpPr>
        <p:spPr>
          <a:xfrm>
            <a:off x="9281160" y="3273552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CPU / Memory</a:t>
            </a:r>
            <a:endParaRPr sz="1700"/>
          </a:p>
        </p:txBody>
      </p:sp>
      <p:sp>
        <p:nvSpPr>
          <p:cNvPr id="730" name="Google Shape;730;p23"/>
          <p:cNvSpPr/>
          <p:nvPr/>
        </p:nvSpPr>
        <p:spPr>
          <a:xfrm>
            <a:off x="9144000" y="3547872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9144000" y="3547872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 txBox="1"/>
          <p:nvPr/>
        </p:nvSpPr>
        <p:spPr>
          <a:xfrm>
            <a:off x="9281160" y="35753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network_total</a:t>
            </a:r>
            <a:endParaRPr sz="1700"/>
          </a:p>
        </p:txBody>
      </p:sp>
      <p:sp>
        <p:nvSpPr>
          <p:cNvPr id="733" name="Google Shape;733;p23"/>
          <p:cNvSpPr txBox="1"/>
          <p:nvPr/>
        </p:nvSpPr>
        <p:spPr>
          <a:xfrm>
            <a:off x="9281160" y="3749040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In + Out</a:t>
            </a:r>
            <a:endParaRPr sz="1700"/>
          </a:p>
        </p:txBody>
      </p:sp>
      <p:sp>
        <p:nvSpPr>
          <p:cNvPr id="734" name="Google Shape;734;p23"/>
          <p:cNvSpPr/>
          <p:nvPr/>
        </p:nvSpPr>
        <p:spPr>
          <a:xfrm>
            <a:off x="9144000" y="4023360"/>
            <a:ext cx="2743200" cy="4114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9144000" y="4023360"/>
            <a:ext cx="54864" cy="4114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 txBox="1"/>
          <p:nvPr/>
        </p:nvSpPr>
        <p:spPr>
          <a:xfrm>
            <a:off x="9281160" y="405079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resource_pressure</a:t>
            </a:r>
            <a:endParaRPr sz="1700"/>
          </a:p>
        </p:txBody>
      </p:sp>
      <p:sp>
        <p:nvSpPr>
          <p:cNvPr id="737" name="Google Shape;737;p23"/>
          <p:cNvSpPr txBox="1"/>
          <p:nvPr/>
        </p:nvSpPr>
        <p:spPr>
          <a:xfrm>
            <a:off x="9281160" y="4224528"/>
            <a:ext cx="2469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Combined pressure</a:t>
            </a:r>
            <a:endParaRPr sz="1700"/>
          </a:p>
        </p:txBody>
      </p:sp>
      <p:sp>
        <p:nvSpPr>
          <p:cNvPr id="738" name="Google Shape;738;p23"/>
          <p:cNvSpPr/>
          <p:nvPr/>
        </p:nvSpPr>
        <p:spPr>
          <a:xfrm>
            <a:off x="365760" y="5349240"/>
            <a:ext cx="11430000" cy="502920"/>
          </a:xfrm>
          <a:prstGeom prst="roundRect">
            <a:avLst>
              <a:gd name="adj" fmla="val 16667"/>
            </a:avLst>
          </a:prstGeom>
          <a:solidFill>
            <a:srgbClr val="081A10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 txBox="1"/>
          <p:nvPr/>
        </p:nvSpPr>
        <p:spPr>
          <a:xfrm>
            <a:off x="548640" y="5413248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🏆  Top 5 by Importance:  network_total (0.576)  •  network_out (0.267)  •  rolling_std_12 (0.018)  •  rolling_max_12 (0.016)  •  network_in (0.015)</a:t>
            </a:r>
            <a:endParaRPr sz="1700"/>
          </a:p>
        </p:txBody>
      </p:sp>
      <p:sp>
        <p:nvSpPr>
          <p:cNvPr id="740" name="Google Shape;740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 txBox="1"/>
          <p:nvPr/>
        </p:nvSpPr>
        <p:spPr>
          <a:xfrm>
            <a:off x="457200" y="6583680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700"/>
          </a:p>
        </p:txBody>
      </p:sp>
      <p:sp>
        <p:nvSpPr>
          <p:cNvPr id="742" name="Google Shape;742;p23"/>
          <p:cNvSpPr txBox="1"/>
          <p:nvPr/>
        </p:nvSpPr>
        <p:spPr>
          <a:xfrm>
            <a:off x="10972800" y="6492240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26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4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4"/>
          <p:cNvSpPr txBox="1"/>
          <p:nvPr/>
        </p:nvSpPr>
        <p:spPr>
          <a:xfrm>
            <a:off x="640080" y="228600"/>
            <a:ext cx="10058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 Models</a:t>
            </a:r>
            <a:endParaRPr sz="1500"/>
          </a:p>
        </p:txBody>
      </p:sp>
      <p:sp>
        <p:nvSpPr>
          <p:cNvPr id="750" name="Google Shape;750;p24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4"/>
          <p:cNvSpPr txBox="1"/>
          <p:nvPr/>
        </p:nvSpPr>
        <p:spPr>
          <a:xfrm>
            <a:off x="640080" y="822960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Multi-Model Evaluation for Optimal Prediction</a:t>
            </a:r>
            <a:endParaRPr sz="1500"/>
          </a:p>
        </p:txBody>
      </p:sp>
      <p:grpSp>
        <p:nvGrpSpPr>
          <p:cNvPr id="752" name="Google Shape;752;p24"/>
          <p:cNvGrpSpPr/>
          <p:nvPr/>
        </p:nvGrpSpPr>
        <p:grpSpPr>
          <a:xfrm>
            <a:off x="571500" y="1238250"/>
            <a:ext cx="3429000" cy="4953150"/>
            <a:chOff x="0" y="0"/>
            <a:chExt cx="3429000" cy="4953150"/>
          </a:xfrm>
        </p:grpSpPr>
        <p:sp>
          <p:nvSpPr>
            <p:cNvPr id="753" name="Google Shape;753;p24"/>
            <p:cNvSpPr/>
            <p:nvPr/>
          </p:nvSpPr>
          <p:spPr>
            <a:xfrm>
              <a:off x="0" y="0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0A1A3C"/>
            </a:solidFill>
            <a:ln w="14300" cap="flat" cmpd="sng">
              <a:solidFill>
                <a:srgbClr val="00D6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0" y="0"/>
              <a:ext cx="34290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429"/>
                  </a:moveTo>
                  <a:cubicBezTo>
                    <a:pt x="0" y="20154"/>
                    <a:pt x="562" y="13178"/>
                    <a:pt x="1562" y="8034"/>
                  </a:cubicBezTo>
                  <a:cubicBezTo>
                    <a:pt x="2562" y="2890"/>
                    <a:pt x="3919" y="0"/>
                    <a:pt x="5333" y="0"/>
                  </a:cubicBezTo>
                  <a:lnTo>
                    <a:pt x="114667" y="0"/>
                  </a:lnTo>
                  <a:cubicBezTo>
                    <a:pt x="117612" y="1"/>
                    <a:pt x="120000" y="12281"/>
                    <a:pt x="120000" y="2742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D68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55" name="Google Shape;755;p24"/>
            <p:cNvSpPr txBox="1"/>
            <p:nvPr/>
          </p:nvSpPr>
          <p:spPr>
            <a:xfrm>
              <a:off x="0" y="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050E2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🌲 XGBoost</a:t>
              </a:r>
              <a:r>
                <a:rPr lang="en-US" sz="1600" b="1">
                  <a:solidFill>
                    <a:srgbClr val="00D68F"/>
                  </a:solidFill>
                  <a:highlight>
                    <a:srgbClr val="050E2B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PRIMARY</a:t>
              </a:r>
              <a:endParaRPr sz="22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56" name="Google Shape;756;p24"/>
            <p:cNvSpPr txBox="1"/>
            <p:nvPr/>
          </p:nvSpPr>
          <p:spPr>
            <a:xfrm>
              <a:off x="0" y="666750"/>
              <a:ext cx="34290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Working Principle</a:t>
              </a:r>
              <a:endParaRPr sz="1500" b="1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Gradient boosted decision trees (500 estimators, max_depth=8, lr=0.05)</a:t>
              </a:r>
              <a:endParaRPr sz="13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✅ Advantages</a:t>
              </a:r>
              <a:endParaRPr sz="1500" b="1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Handles complex non-linear patterns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Feature importance ranking support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Robust to outliers &amp; fast inference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❌ Limitations</a:t>
              </a:r>
              <a:endParaRPr sz="15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May overfit without proper tuning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Less interpretable than linear models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🎯 Use Cases</a:t>
              </a:r>
              <a:endParaRPr sz="1500" b="1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Cloud traffic &amp; resource forecasting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225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Robust multi-variable optimization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757" name="Google Shape;757;p24"/>
          <p:cNvGrpSpPr/>
          <p:nvPr/>
        </p:nvGrpSpPr>
        <p:grpSpPr>
          <a:xfrm>
            <a:off x="4381500" y="1238250"/>
            <a:ext cx="3429000" cy="4953150"/>
            <a:chOff x="0" y="0"/>
            <a:chExt cx="3429000" cy="4953150"/>
          </a:xfrm>
        </p:grpSpPr>
        <p:sp>
          <p:nvSpPr>
            <p:cNvPr id="758" name="Google Shape;758;p24"/>
            <p:cNvSpPr/>
            <p:nvPr/>
          </p:nvSpPr>
          <p:spPr>
            <a:xfrm>
              <a:off x="0" y="0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0A1A3C"/>
            </a:solidFill>
            <a:ln w="14300" cap="flat" cmpd="sng">
              <a:solidFill>
                <a:srgbClr val="006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0" y="0"/>
              <a:ext cx="34290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429"/>
                  </a:moveTo>
                  <a:cubicBezTo>
                    <a:pt x="0" y="20154"/>
                    <a:pt x="562" y="13178"/>
                    <a:pt x="1562" y="8034"/>
                  </a:cubicBezTo>
                  <a:cubicBezTo>
                    <a:pt x="2562" y="2890"/>
                    <a:pt x="3919" y="0"/>
                    <a:pt x="5333" y="0"/>
                  </a:cubicBezTo>
                  <a:lnTo>
                    <a:pt x="114667" y="0"/>
                  </a:lnTo>
                  <a:cubicBezTo>
                    <a:pt x="117612" y="1"/>
                    <a:pt x="120000" y="12281"/>
                    <a:pt x="120000" y="2742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6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60" name="Google Shape;760;p24"/>
            <p:cNvSpPr txBox="1"/>
            <p:nvPr/>
          </p:nvSpPr>
          <p:spPr>
            <a:xfrm>
              <a:off x="0" y="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📈 Facebook Prophet</a:t>
              </a:r>
              <a:r>
                <a:rPr lang="en-US" sz="1000" b="1">
                  <a:solidFill>
                    <a:srgbClr val="006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COMPARISON</a:t>
              </a:r>
              <a:endParaRPr sz="16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61" name="Google Shape;761;p24"/>
            <p:cNvSpPr txBox="1"/>
            <p:nvPr/>
          </p:nvSpPr>
          <p:spPr>
            <a:xfrm>
              <a:off x="0" y="666750"/>
              <a:ext cx="34290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6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Working Principle</a:t>
              </a:r>
              <a:endParaRPr sz="1500" b="1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Additive decomposition model incorporating daily, weekly, and yearly seasonality</a:t>
              </a:r>
              <a:endParaRPr sz="13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✅ Advantages</a:t>
              </a:r>
              <a:endParaRPr sz="1500" b="1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Automatic seasonality detection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Robust to missing data &amp; outliers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Provides clear uncertainty intervals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❌ Limitations</a:t>
              </a:r>
              <a:endParaRPr sz="15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Strictly univariate (timestamp + target)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Cannot use external features effectively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🎯 Use Cases</a:t>
              </a:r>
              <a:endParaRPr sz="1500" b="1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Univariate time-series forecasting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225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Business planning &amp; trend analysis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762" name="Google Shape;762;p24"/>
          <p:cNvGrpSpPr/>
          <p:nvPr/>
        </p:nvGrpSpPr>
        <p:grpSpPr>
          <a:xfrm>
            <a:off x="8191500" y="1238250"/>
            <a:ext cx="3429000" cy="4953150"/>
            <a:chOff x="0" y="0"/>
            <a:chExt cx="3429000" cy="4953150"/>
          </a:xfrm>
        </p:grpSpPr>
        <p:sp>
          <p:nvSpPr>
            <p:cNvPr id="763" name="Google Shape;763;p24"/>
            <p:cNvSpPr/>
            <p:nvPr/>
          </p:nvSpPr>
          <p:spPr>
            <a:xfrm>
              <a:off x="0" y="0"/>
              <a:ext cx="3429000" cy="4953000"/>
            </a:xfrm>
            <a:prstGeom prst="roundRect">
              <a:avLst>
                <a:gd name="adj" fmla="val 4444"/>
              </a:avLst>
            </a:prstGeom>
            <a:solidFill>
              <a:srgbClr val="0A1A3C"/>
            </a:solidFill>
            <a:ln w="14300" cap="flat" cmpd="sng">
              <a:solidFill>
                <a:srgbClr val="A85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0" y="0"/>
              <a:ext cx="3429000" cy="666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429"/>
                  </a:moveTo>
                  <a:cubicBezTo>
                    <a:pt x="0" y="20154"/>
                    <a:pt x="562" y="13178"/>
                    <a:pt x="1562" y="8034"/>
                  </a:cubicBezTo>
                  <a:cubicBezTo>
                    <a:pt x="2562" y="2890"/>
                    <a:pt x="3919" y="0"/>
                    <a:pt x="5333" y="0"/>
                  </a:cubicBezTo>
                  <a:lnTo>
                    <a:pt x="114667" y="0"/>
                  </a:lnTo>
                  <a:cubicBezTo>
                    <a:pt x="117612" y="1"/>
                    <a:pt x="120000" y="12281"/>
                    <a:pt x="120000" y="27429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85C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765" name="Google Shape;765;p24"/>
            <p:cNvSpPr txBox="1"/>
            <p:nvPr/>
          </p:nvSpPr>
          <p:spPr>
            <a:xfrm>
              <a:off x="0" y="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🧠 LSTM</a:t>
              </a:r>
              <a:r>
                <a:rPr lang="en-US" sz="1500" b="1">
                  <a:solidFill>
                    <a:srgbClr val="A85CFF"/>
                  </a:solidFill>
                  <a:highlight>
                    <a:srgbClr val="050E2B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FUTURE SCOPE</a:t>
              </a:r>
              <a:endParaRPr sz="21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66" name="Google Shape;766;p24"/>
            <p:cNvSpPr txBox="1"/>
            <p:nvPr/>
          </p:nvSpPr>
          <p:spPr>
            <a:xfrm>
              <a:off x="0" y="666750"/>
              <a:ext cx="34290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A85C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Working Principle</a:t>
              </a:r>
              <a:endParaRPr sz="1500" b="1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Recurrent Neural Network leveraging gating mechanisms for sequential learning</a:t>
              </a:r>
              <a:endParaRPr sz="13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✅ Advantages</a:t>
              </a:r>
              <a:endParaRPr sz="1500" b="1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Captures complex long-term dependencies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Handles dynamic sequence lengths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State-of-the-art for sequence mapping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❌ Limitations</a:t>
              </a:r>
              <a:endParaRPr sz="1500" b="1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Requires large historical datasets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Extremely high computational cost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🎯 Use Cases</a:t>
              </a:r>
              <a:endParaRPr sz="1500" b="1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Complex multi-step traffic patterns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457200" lvl="0" indent="-311150" algn="l" rtl="0">
                <a:spcBef>
                  <a:spcPts val="225"/>
                </a:spcBef>
                <a:spcAft>
                  <a:spcPts val="225"/>
                </a:spcAft>
                <a:buClr>
                  <a:srgbClr val="C4CCDA"/>
                </a:buClr>
                <a:buSzPts val="1300"/>
                <a:buFont typeface="Quattrocento Sans"/>
                <a:buChar char="●"/>
              </a:pPr>
              <a:r>
                <a:rPr lang="en-US"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Sequential anomaly detection systems</a:t>
              </a:r>
              <a:endParaRPr sz="130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767" name="Google Shape;767;p24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4"/>
          <p:cNvSpPr txBox="1"/>
          <p:nvPr/>
        </p:nvSpPr>
        <p:spPr>
          <a:xfrm>
            <a:off x="457200" y="6583680"/>
            <a:ext cx="5486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500"/>
          </a:p>
        </p:txBody>
      </p:sp>
      <p:sp>
        <p:nvSpPr>
          <p:cNvPr id="769" name="Google Shape;769;p24"/>
          <p:cNvSpPr txBox="1"/>
          <p:nvPr/>
        </p:nvSpPr>
        <p:spPr>
          <a:xfrm>
            <a:off x="10972800" y="6492240"/>
            <a:ext cx="109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26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 txBox="1"/>
          <p:nvPr/>
        </p:nvSpPr>
        <p:spPr>
          <a:xfrm>
            <a:off x="640080" y="228600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Comparison</a:t>
            </a:r>
            <a:endParaRPr sz="1800"/>
          </a:p>
        </p:txBody>
      </p:sp>
      <p:sp>
        <p:nvSpPr>
          <p:cNvPr id="777" name="Google Shape;777;p25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 txBox="1"/>
          <p:nvPr/>
        </p:nvSpPr>
        <p:spPr>
          <a:xfrm>
            <a:off x="640080" y="822960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Benchmarks &amp; Selection Rationale</a:t>
            </a:r>
            <a:endParaRPr sz="1800"/>
          </a:p>
        </p:txBody>
      </p:sp>
      <p:graphicFrame>
        <p:nvGraphicFramePr>
          <p:cNvPr id="779" name="Google Shape;779;p25"/>
          <p:cNvGraphicFramePr/>
          <p:nvPr/>
        </p:nvGraphicFramePr>
        <p:xfrm>
          <a:off x="457200" y="1143000"/>
          <a:ext cx="11247100" cy="3048100"/>
        </p:xfrm>
        <a:graphic>
          <a:graphicData uri="http://schemas.openxmlformats.org/drawingml/2006/table">
            <a:tbl>
              <a:tblPr firstRow="1" bandRow="1">
                <a:noFill/>
                <a:tableStyleId>{94F2F661-C38D-4C9E-BB06-D91E19C73B52}</a:tableStyleId>
              </a:tblPr>
              <a:tblGrid>
                <a:gridCol w="28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XGBoost ★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Prophet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LSTM (Proposed)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Prediction Accuracy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98.5%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89.2%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~96% (est.)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MAE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17.8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42.3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~22.5 (est.)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RMSE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25.4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58.7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~31.2 (est.)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 Score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0.97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0.82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~0.94 (est.)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Training Time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~45 sec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~120 sec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~600 sec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Inference Speed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&lt;5 ms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~50 ms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~15 ms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Features Used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38 (multivariate)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 (univariate)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38 (multivariate)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Interpretability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High (SHAP/Importance)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Medium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Low (Black-box)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Production Ready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Yes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✅ Yes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⏳ Future</a:t>
                      </a:r>
                      <a:endParaRPr sz="1800"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80" name="Google Shape;780;p25"/>
          <p:cNvSpPr/>
          <p:nvPr/>
        </p:nvSpPr>
        <p:spPr>
          <a:xfrm>
            <a:off x="457200" y="4343400"/>
            <a:ext cx="11247120" cy="731520"/>
          </a:xfrm>
          <a:prstGeom prst="roundRect">
            <a:avLst>
              <a:gd name="adj" fmla="val 16667"/>
            </a:avLst>
          </a:prstGeom>
          <a:solidFill>
            <a:srgbClr val="081A10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 txBox="1"/>
          <p:nvPr/>
        </p:nvSpPr>
        <p:spPr>
          <a:xfrm>
            <a:off x="731520" y="4407408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🏆  SELECTED MODEL:  XGBoost Regressor</a:t>
            </a:r>
            <a:endParaRPr sz="1800"/>
          </a:p>
        </p:txBody>
      </p:sp>
      <p:sp>
        <p:nvSpPr>
          <p:cNvPr id="782" name="Google Shape;782;p25"/>
          <p:cNvSpPr txBox="1"/>
          <p:nvPr/>
        </p:nvSpPr>
        <p:spPr>
          <a:xfrm>
            <a:off x="731520" y="4681728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accuracy (98.5%), fastest inference (&lt;5ms), highest R² (0.97), multivariate support, feature importance for interpretability</a:t>
            </a:r>
            <a:endParaRPr sz="1800"/>
          </a:p>
        </p:txBody>
      </p:sp>
      <p:sp>
        <p:nvSpPr>
          <p:cNvPr id="783" name="Google Shape;783;p25"/>
          <p:cNvSpPr/>
          <p:nvPr/>
        </p:nvSpPr>
        <p:spPr>
          <a:xfrm>
            <a:off x="457200" y="5257800"/>
            <a:ext cx="2606040" cy="1051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457200" y="5257800"/>
            <a:ext cx="260604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 txBox="1"/>
          <p:nvPr/>
        </p:nvSpPr>
        <p:spPr>
          <a:xfrm>
            <a:off x="594360" y="5367528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sz="1800"/>
          </a:p>
        </p:txBody>
      </p:sp>
      <p:sp>
        <p:nvSpPr>
          <p:cNvPr id="786" name="Google Shape;786;p25"/>
          <p:cNvSpPr txBox="1"/>
          <p:nvPr/>
        </p:nvSpPr>
        <p:spPr>
          <a:xfrm>
            <a:off x="594360" y="5577840"/>
            <a:ext cx="233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98.5%</a:t>
            </a:r>
            <a:endParaRPr sz="1800"/>
          </a:p>
        </p:txBody>
      </p:sp>
      <p:sp>
        <p:nvSpPr>
          <p:cNvPr id="787" name="Google Shape;787;p25"/>
          <p:cNvSpPr txBox="1"/>
          <p:nvPr/>
        </p:nvSpPr>
        <p:spPr>
          <a:xfrm>
            <a:off x="594360" y="5943600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 +9.3% vs Prophet</a:t>
            </a:r>
            <a:endParaRPr sz="1800"/>
          </a:p>
        </p:txBody>
      </p:sp>
      <p:sp>
        <p:nvSpPr>
          <p:cNvPr id="788" name="Google Shape;788;p25"/>
          <p:cNvSpPr/>
          <p:nvPr/>
        </p:nvSpPr>
        <p:spPr>
          <a:xfrm>
            <a:off x="3337560" y="5257800"/>
            <a:ext cx="2606040" cy="1051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3337560" y="5257800"/>
            <a:ext cx="26060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5"/>
          <p:cNvSpPr txBox="1"/>
          <p:nvPr/>
        </p:nvSpPr>
        <p:spPr>
          <a:xfrm>
            <a:off x="3474720" y="5367528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MAE</a:t>
            </a:r>
            <a:endParaRPr sz="1800"/>
          </a:p>
        </p:txBody>
      </p:sp>
      <p:sp>
        <p:nvSpPr>
          <p:cNvPr id="791" name="Google Shape;791;p25"/>
          <p:cNvSpPr txBox="1"/>
          <p:nvPr/>
        </p:nvSpPr>
        <p:spPr>
          <a:xfrm>
            <a:off x="3474720" y="5577840"/>
            <a:ext cx="233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17.8</a:t>
            </a:r>
            <a:endParaRPr sz="1800"/>
          </a:p>
        </p:txBody>
      </p:sp>
      <p:sp>
        <p:nvSpPr>
          <p:cNvPr id="792" name="Google Shape;792;p25"/>
          <p:cNvSpPr txBox="1"/>
          <p:nvPr/>
        </p:nvSpPr>
        <p:spPr>
          <a:xfrm>
            <a:off x="3474720" y="5943600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 -57.9% vs Prophet</a:t>
            </a:r>
            <a:endParaRPr sz="1800"/>
          </a:p>
        </p:txBody>
      </p:sp>
      <p:sp>
        <p:nvSpPr>
          <p:cNvPr id="793" name="Google Shape;793;p25"/>
          <p:cNvSpPr/>
          <p:nvPr/>
        </p:nvSpPr>
        <p:spPr>
          <a:xfrm>
            <a:off x="6217920" y="5257800"/>
            <a:ext cx="2606040" cy="1051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6217920" y="5257800"/>
            <a:ext cx="260604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5"/>
          <p:cNvSpPr txBox="1"/>
          <p:nvPr/>
        </p:nvSpPr>
        <p:spPr>
          <a:xfrm>
            <a:off x="6355080" y="5367528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RMSE</a:t>
            </a:r>
            <a:endParaRPr sz="1800"/>
          </a:p>
        </p:txBody>
      </p:sp>
      <p:sp>
        <p:nvSpPr>
          <p:cNvPr id="796" name="Google Shape;796;p25"/>
          <p:cNvSpPr txBox="1"/>
          <p:nvPr/>
        </p:nvSpPr>
        <p:spPr>
          <a:xfrm>
            <a:off x="6355080" y="5577840"/>
            <a:ext cx="233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25.4</a:t>
            </a:r>
            <a:endParaRPr sz="1800"/>
          </a:p>
        </p:txBody>
      </p:sp>
      <p:sp>
        <p:nvSpPr>
          <p:cNvPr id="797" name="Google Shape;797;p25"/>
          <p:cNvSpPr txBox="1"/>
          <p:nvPr/>
        </p:nvSpPr>
        <p:spPr>
          <a:xfrm>
            <a:off x="6355080" y="5943600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 -56.7% vs Prophet</a:t>
            </a:r>
            <a:endParaRPr sz="1800"/>
          </a:p>
        </p:txBody>
      </p:sp>
      <p:sp>
        <p:nvSpPr>
          <p:cNvPr id="798" name="Google Shape;798;p25"/>
          <p:cNvSpPr/>
          <p:nvPr/>
        </p:nvSpPr>
        <p:spPr>
          <a:xfrm>
            <a:off x="9098280" y="5257800"/>
            <a:ext cx="2606040" cy="105156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9098280" y="5257800"/>
            <a:ext cx="260604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 txBox="1"/>
          <p:nvPr/>
        </p:nvSpPr>
        <p:spPr>
          <a:xfrm>
            <a:off x="9235440" y="5367528"/>
            <a:ext cx="233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R² Score</a:t>
            </a:r>
            <a:endParaRPr sz="1800"/>
          </a:p>
        </p:txBody>
      </p:sp>
      <p:sp>
        <p:nvSpPr>
          <p:cNvPr id="801" name="Google Shape;801;p25"/>
          <p:cNvSpPr txBox="1"/>
          <p:nvPr/>
        </p:nvSpPr>
        <p:spPr>
          <a:xfrm>
            <a:off x="9235440" y="5577840"/>
            <a:ext cx="233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0.97</a:t>
            </a:r>
            <a:endParaRPr sz="1800"/>
          </a:p>
        </p:txBody>
      </p:sp>
      <p:sp>
        <p:nvSpPr>
          <p:cNvPr id="802" name="Google Shape;802;p25"/>
          <p:cNvSpPr txBox="1"/>
          <p:nvPr/>
        </p:nvSpPr>
        <p:spPr>
          <a:xfrm>
            <a:off x="9235440" y="5943600"/>
            <a:ext cx="2331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▲ +18.3% vs Prophet</a:t>
            </a:r>
            <a:endParaRPr sz="1800"/>
          </a:p>
        </p:txBody>
      </p:sp>
      <p:sp>
        <p:nvSpPr>
          <p:cNvPr id="803" name="Google Shape;803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 txBox="1"/>
          <p:nvPr/>
        </p:nvSpPr>
        <p:spPr>
          <a:xfrm>
            <a:off x="457200" y="6583680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800"/>
          </a:p>
        </p:txBody>
      </p:sp>
      <p:sp>
        <p:nvSpPr>
          <p:cNvPr id="805" name="Google Shape;805;p25"/>
          <p:cNvSpPr txBox="1"/>
          <p:nvPr/>
        </p:nvSpPr>
        <p:spPr>
          <a:xfrm>
            <a:off x="10972800" y="6492240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26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6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 txBox="1"/>
          <p:nvPr/>
        </p:nvSpPr>
        <p:spPr>
          <a:xfrm>
            <a:off x="640080" y="228600"/>
            <a:ext cx="1005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Methodology</a:t>
            </a:r>
            <a:endParaRPr sz="1900"/>
          </a:p>
        </p:txBody>
      </p:sp>
      <p:sp>
        <p:nvSpPr>
          <p:cNvPr id="813" name="Google Shape;813;p26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6"/>
          <p:cNvSpPr txBox="1"/>
          <p:nvPr/>
        </p:nvSpPr>
        <p:spPr>
          <a:xfrm>
            <a:off x="640080" y="822960"/>
            <a:ext cx="10058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Machine Learning Pipeline</a:t>
            </a:r>
            <a:endParaRPr sz="1900"/>
          </a:p>
        </p:txBody>
      </p:sp>
      <p:grpSp>
        <p:nvGrpSpPr>
          <p:cNvPr id="815" name="Google Shape;815;p26"/>
          <p:cNvGrpSpPr/>
          <p:nvPr/>
        </p:nvGrpSpPr>
        <p:grpSpPr>
          <a:xfrm>
            <a:off x="714375" y="1285875"/>
            <a:ext cx="10763100" cy="3857475"/>
            <a:chOff x="714375" y="1285875"/>
            <a:chExt cx="10763100" cy="3857475"/>
          </a:xfrm>
        </p:grpSpPr>
        <p:sp>
          <p:nvSpPr>
            <p:cNvPr id="816" name="Google Shape;816;p26"/>
            <p:cNvSpPr/>
            <p:nvPr/>
          </p:nvSpPr>
          <p:spPr>
            <a:xfrm>
              <a:off x="714375" y="1285875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6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17" name="Google Shape;817;p26"/>
            <p:cNvSpPr txBox="1"/>
            <p:nvPr/>
          </p:nvSpPr>
          <p:spPr>
            <a:xfrm>
              <a:off x="714375" y="1285875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highlight>
                    <a:srgbClr val="0062FF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1</a:t>
              </a:r>
              <a:endParaRPr b="1">
                <a:solidFill>
                  <a:srgbClr val="FFFFFF"/>
                </a:solidFill>
                <a:highlight>
                  <a:srgbClr val="0062FF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📁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Collection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100K records, 5-min intervals, 16 raw features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2781300" y="216217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2905125" y="1285875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0" name="Google Shape;820;p26"/>
            <p:cNvSpPr txBox="1"/>
            <p:nvPr/>
          </p:nvSpPr>
          <p:spPr>
            <a:xfrm>
              <a:off x="2905125" y="1285875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🧹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Data Cleaning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Timestamp parsing, label encoding, NaN handling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4972050" y="216217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5095875" y="1285875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3" name="Google Shape;823;p26"/>
            <p:cNvSpPr txBox="1"/>
            <p:nvPr/>
          </p:nvSpPr>
          <p:spPr>
            <a:xfrm>
              <a:off x="5095875" y="1285875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🔍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Exploratory EDA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Traffic trends, correlations, outlier detection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7162800" y="216217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7286625" y="1285875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D6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6" name="Google Shape;826;p26"/>
            <p:cNvSpPr txBox="1"/>
            <p:nvPr/>
          </p:nvSpPr>
          <p:spPr>
            <a:xfrm>
              <a:off x="7286625" y="1285875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4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🔧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Feature Eng.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38 features: temporal, lag, rolling, derived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9353550" y="2162175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9477375" y="1285875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A85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29" name="Google Shape;829;p26"/>
            <p:cNvSpPr txBox="1"/>
            <p:nvPr/>
          </p:nvSpPr>
          <p:spPr>
            <a:xfrm>
              <a:off x="9477375" y="1285875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📊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Train/Test Split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80/20 chronological split ~80K train, 20K test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714375" y="3333750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6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1" name="Google Shape;831;p26"/>
            <p:cNvSpPr txBox="1"/>
            <p:nvPr/>
          </p:nvSpPr>
          <p:spPr>
            <a:xfrm>
              <a:off x="714375" y="3333750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highlight>
                    <a:srgbClr val="0062FF"/>
                  </a:highlight>
                  <a:latin typeface="Quattrocento Sans"/>
                  <a:ea typeface="Quattrocento Sans"/>
                  <a:cs typeface="Quattrocento Sans"/>
                  <a:sym typeface="Quattrocento Sans"/>
                </a:rPr>
                <a:t>6</a:t>
              </a:r>
              <a:endParaRPr b="1">
                <a:solidFill>
                  <a:srgbClr val="FFFFFF"/>
                </a:solidFill>
                <a:highlight>
                  <a:srgbClr val="0062FF"/>
                </a:highlight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🧠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Model Training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XGBoost: 500 estimators lr=0.05, depth=8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781300" y="4210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2905125" y="3333750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4" name="Google Shape;834;p26"/>
            <p:cNvSpPr txBox="1"/>
            <p:nvPr/>
          </p:nvSpPr>
          <p:spPr>
            <a:xfrm>
              <a:off x="2905125" y="3333750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📏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Model Evaluation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MAE=17.8, RMSE=25.4 R²=0.97, Acc=98.5%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4972050" y="4210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5095875" y="3333750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00D6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7" name="Google Shape;837;p26"/>
            <p:cNvSpPr txBox="1"/>
            <p:nvPr/>
          </p:nvSpPr>
          <p:spPr>
            <a:xfrm>
              <a:off x="5095875" y="3333750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8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🔮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15-min Prediction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Real-time traffic forecasting engine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7162800" y="4210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7286625" y="3333750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FF9F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40" name="Google Shape;840;p26"/>
            <p:cNvSpPr txBox="1"/>
            <p:nvPr/>
          </p:nvSpPr>
          <p:spPr>
            <a:xfrm>
              <a:off x="7286625" y="3333750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⚙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Autoscaling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Scale Up (&gt;85%) Scale Down (&lt;45%)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9353550" y="4210050"/>
              <a:ext cx="57300" cy="57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60000" y="0"/>
                  </a:moveTo>
                  <a:lnTo>
                    <a:pt x="120000" y="60000"/>
                  </a:ln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9477375" y="3333750"/>
              <a:ext cx="2000100" cy="1809600"/>
            </a:xfrm>
            <a:prstGeom prst="roundRect">
              <a:avLst>
                <a:gd name="adj" fmla="val 8421"/>
              </a:avLst>
            </a:prstGeom>
            <a:solidFill>
              <a:srgbClr val="0A1A3C"/>
            </a:solidFill>
            <a:ln w="14300" cap="flat" cmpd="sng">
              <a:solidFill>
                <a:srgbClr val="A85C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900"/>
            </a:p>
          </p:txBody>
        </p:sp>
        <p:sp>
          <p:nvSpPr>
            <p:cNvPr id="843" name="Google Shape;843;p26"/>
            <p:cNvSpPr txBox="1"/>
            <p:nvPr/>
          </p:nvSpPr>
          <p:spPr>
            <a:xfrm>
              <a:off x="9477375" y="3333750"/>
              <a:ext cx="20001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</a:t>
              </a:r>
              <a:endParaRPr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500">
                  <a:latin typeface="Quattrocento Sans"/>
                  <a:ea typeface="Quattrocento Sans"/>
                  <a:cs typeface="Quattrocento Sans"/>
                  <a:sym typeface="Quattrocento Sans"/>
                </a:rPr>
                <a:t>📈</a:t>
              </a:r>
              <a:endParaRPr sz="2500"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Dashboard Visual</a:t>
              </a:r>
              <a:endParaRPr sz="16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 b="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9-page real-time monitoring dashboard</a:t>
              </a:r>
              <a:endParaRPr sz="1350" b="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844" name="Google Shape;844;p26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6"/>
          <p:cNvSpPr txBox="1"/>
          <p:nvPr/>
        </p:nvSpPr>
        <p:spPr>
          <a:xfrm>
            <a:off x="457200" y="658368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900"/>
          </a:p>
        </p:txBody>
      </p:sp>
      <p:sp>
        <p:nvSpPr>
          <p:cNvPr id="846" name="Google Shape;846;p26"/>
          <p:cNvSpPr txBox="1"/>
          <p:nvPr/>
        </p:nvSpPr>
        <p:spPr>
          <a:xfrm>
            <a:off x="10972800" y="6492240"/>
            <a:ext cx="1097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26</a:t>
            </a:r>
            <a:endParaRPr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 txBox="1"/>
          <p:nvPr/>
        </p:nvSpPr>
        <p:spPr>
          <a:xfrm>
            <a:off x="640080" y="228600"/>
            <a:ext cx="1005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Architecture</a:t>
            </a:r>
            <a:endParaRPr sz="1700"/>
          </a:p>
        </p:txBody>
      </p:sp>
      <p:sp>
        <p:nvSpPr>
          <p:cNvPr id="854" name="Google Shape;854;p27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7"/>
          <p:cNvSpPr txBox="1"/>
          <p:nvPr/>
        </p:nvSpPr>
        <p:spPr>
          <a:xfrm>
            <a:off x="640080" y="822960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Technical Architecture Design</a:t>
            </a:r>
            <a:endParaRPr sz="1700"/>
          </a:p>
        </p:txBody>
      </p:sp>
      <p:sp>
        <p:nvSpPr>
          <p:cNvPr id="856" name="Google Shape;856;p27"/>
          <p:cNvSpPr/>
          <p:nvPr/>
        </p:nvSpPr>
        <p:spPr>
          <a:xfrm>
            <a:off x="27432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274320" y="1645920"/>
            <a:ext cx="155448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7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 sz="1700"/>
          </a:p>
        </p:txBody>
      </p:sp>
      <p:sp>
        <p:nvSpPr>
          <p:cNvPr id="859" name="Google Shape;859;p27"/>
          <p:cNvSpPr txBox="1"/>
          <p:nvPr/>
        </p:nvSpPr>
        <p:spPr>
          <a:xfrm>
            <a:off x="32004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Dataset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(CSV)</a:t>
            </a:r>
            <a:endParaRPr sz="1700"/>
          </a:p>
        </p:txBody>
      </p:sp>
      <p:sp>
        <p:nvSpPr>
          <p:cNvPr id="860" name="Google Shape;860;p27"/>
          <p:cNvSpPr txBox="1"/>
          <p:nvPr/>
        </p:nvSpPr>
        <p:spPr>
          <a:xfrm>
            <a:off x="32004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100K records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features</a:t>
            </a:r>
            <a:endParaRPr sz="1700"/>
          </a:p>
        </p:txBody>
      </p:sp>
      <p:sp>
        <p:nvSpPr>
          <p:cNvPr id="861" name="Google Shape;861;p27"/>
          <p:cNvSpPr/>
          <p:nvPr/>
        </p:nvSpPr>
        <p:spPr>
          <a:xfrm>
            <a:off x="1874520" y="242316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214884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2148840" y="1645920"/>
            <a:ext cx="155448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7"/>
          <p:cNvSpPr/>
          <p:nvPr/>
        </p:nvSpPr>
        <p:spPr>
          <a:xfrm>
            <a:off x="2606040" y="1828800"/>
            <a:ext cx="548640" cy="54864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🐍</a:t>
            </a:r>
            <a:endParaRPr sz="1700"/>
          </a:p>
        </p:txBody>
      </p:sp>
      <p:sp>
        <p:nvSpPr>
          <p:cNvPr id="865" name="Google Shape;865;p27"/>
          <p:cNvSpPr txBox="1"/>
          <p:nvPr/>
        </p:nvSpPr>
        <p:spPr>
          <a:xfrm>
            <a:off x="219456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Pandas</a:t>
            </a:r>
            <a:endParaRPr sz="1700"/>
          </a:p>
        </p:txBody>
      </p:sp>
      <p:sp>
        <p:nvSpPr>
          <p:cNvPr id="866" name="Google Shape;866;p27"/>
          <p:cNvSpPr txBox="1"/>
          <p:nvPr/>
        </p:nvSpPr>
        <p:spPr>
          <a:xfrm>
            <a:off x="219456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processing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&amp; feature eng.</a:t>
            </a:r>
            <a:endParaRPr sz="1700"/>
          </a:p>
        </p:txBody>
      </p:sp>
      <p:sp>
        <p:nvSpPr>
          <p:cNvPr id="867" name="Google Shape;867;p27"/>
          <p:cNvSpPr/>
          <p:nvPr/>
        </p:nvSpPr>
        <p:spPr>
          <a:xfrm>
            <a:off x="3749040" y="242316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402336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4023360" y="1645920"/>
            <a:ext cx="155448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4480560" y="1828800"/>
            <a:ext cx="548640" cy="54864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sz="1700"/>
          </a:p>
        </p:txBody>
      </p:sp>
      <p:sp>
        <p:nvSpPr>
          <p:cNvPr id="871" name="Google Shape;871;p27"/>
          <p:cNvSpPr txBox="1"/>
          <p:nvPr/>
        </p:nvSpPr>
        <p:spPr>
          <a:xfrm>
            <a:off x="406908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XGBoost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</a:t>
            </a:r>
            <a:endParaRPr sz="1700"/>
          </a:p>
        </p:txBody>
      </p:sp>
      <p:sp>
        <p:nvSpPr>
          <p:cNvPr id="872" name="Google Shape;872;p27"/>
          <p:cNvSpPr txBox="1"/>
          <p:nvPr/>
        </p:nvSpPr>
        <p:spPr>
          <a:xfrm>
            <a:off x="406908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500 estimators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 features</a:t>
            </a:r>
            <a:endParaRPr sz="1700"/>
          </a:p>
        </p:txBody>
      </p:sp>
      <p:sp>
        <p:nvSpPr>
          <p:cNvPr id="873" name="Google Shape;873;p27"/>
          <p:cNvSpPr/>
          <p:nvPr/>
        </p:nvSpPr>
        <p:spPr>
          <a:xfrm>
            <a:off x="5623560" y="242316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589788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5897880" y="1645920"/>
            <a:ext cx="155448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6355080" y="1828800"/>
            <a:ext cx="548640" cy="54864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 sz="1700"/>
          </a:p>
        </p:txBody>
      </p:sp>
      <p:sp>
        <p:nvSpPr>
          <p:cNvPr id="877" name="Google Shape;877;p27"/>
          <p:cNvSpPr txBox="1"/>
          <p:nvPr/>
        </p:nvSpPr>
        <p:spPr>
          <a:xfrm>
            <a:off x="594360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 sz="1700"/>
          </a:p>
        </p:txBody>
      </p:sp>
      <p:sp>
        <p:nvSpPr>
          <p:cNvPr id="878" name="Google Shape;878;p27"/>
          <p:cNvSpPr txBox="1"/>
          <p:nvPr/>
        </p:nvSpPr>
        <p:spPr>
          <a:xfrm>
            <a:off x="594360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RESTful API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endpoints</a:t>
            </a:r>
            <a:endParaRPr sz="1700"/>
          </a:p>
        </p:txBody>
      </p:sp>
      <p:sp>
        <p:nvSpPr>
          <p:cNvPr id="879" name="Google Shape;879;p27"/>
          <p:cNvSpPr/>
          <p:nvPr/>
        </p:nvSpPr>
        <p:spPr>
          <a:xfrm>
            <a:off x="7498080" y="242316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777240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7772400" y="1645920"/>
            <a:ext cx="155448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8229600" y="1828800"/>
            <a:ext cx="548640" cy="54864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 sz="1700"/>
          </a:p>
        </p:txBody>
      </p:sp>
      <p:sp>
        <p:nvSpPr>
          <p:cNvPr id="883" name="Google Shape;883;p27"/>
          <p:cNvSpPr txBox="1"/>
          <p:nvPr/>
        </p:nvSpPr>
        <p:spPr>
          <a:xfrm>
            <a:off x="781812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(HTML/JS)</a:t>
            </a:r>
            <a:endParaRPr sz="1700"/>
          </a:p>
        </p:txBody>
      </p:sp>
      <p:sp>
        <p:nvSpPr>
          <p:cNvPr id="884" name="Google Shape;884;p27"/>
          <p:cNvSpPr txBox="1"/>
          <p:nvPr/>
        </p:nvSpPr>
        <p:spPr>
          <a:xfrm>
            <a:off x="781812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9-page real-time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</a:t>
            </a:r>
            <a:endParaRPr sz="1700"/>
          </a:p>
        </p:txBody>
      </p:sp>
      <p:sp>
        <p:nvSpPr>
          <p:cNvPr id="885" name="Google Shape;885;p27"/>
          <p:cNvSpPr/>
          <p:nvPr/>
        </p:nvSpPr>
        <p:spPr>
          <a:xfrm>
            <a:off x="9372600" y="2423160"/>
            <a:ext cx="18288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/>
          <p:nvPr/>
        </p:nvSpPr>
        <p:spPr>
          <a:xfrm>
            <a:off x="9646920" y="1645920"/>
            <a:ext cx="1554480" cy="18288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7"/>
          <p:cNvSpPr/>
          <p:nvPr/>
        </p:nvSpPr>
        <p:spPr>
          <a:xfrm>
            <a:off x="9646920" y="1645920"/>
            <a:ext cx="1554480" cy="4572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/>
          <p:nvPr/>
        </p:nvSpPr>
        <p:spPr>
          <a:xfrm>
            <a:off x="10104120" y="1828800"/>
            <a:ext cx="548640" cy="548640"/>
          </a:xfrm>
          <a:prstGeom prst="ellipse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</a:t>
            </a:r>
            <a:endParaRPr sz="1700"/>
          </a:p>
        </p:txBody>
      </p:sp>
      <p:sp>
        <p:nvSpPr>
          <p:cNvPr id="889" name="Google Shape;889;p27"/>
          <p:cNvSpPr txBox="1"/>
          <p:nvPr/>
        </p:nvSpPr>
        <p:spPr>
          <a:xfrm>
            <a:off x="9692640" y="2468880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Autoscaling</a:t>
            </a:r>
            <a:b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</a:t>
            </a:r>
            <a:endParaRPr sz="1700"/>
          </a:p>
        </p:txBody>
      </p:sp>
      <p:sp>
        <p:nvSpPr>
          <p:cNvPr id="890" name="Google Shape;890;p27"/>
          <p:cNvSpPr txBox="1"/>
          <p:nvPr/>
        </p:nvSpPr>
        <p:spPr>
          <a:xfrm>
            <a:off x="9692640" y="292608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up/down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maintain</a:t>
            </a:r>
            <a:endParaRPr sz="1700"/>
          </a:p>
        </p:txBody>
      </p:sp>
      <p:sp>
        <p:nvSpPr>
          <p:cNvPr id="891" name="Google Shape;891;p27"/>
          <p:cNvSpPr/>
          <p:nvPr/>
        </p:nvSpPr>
        <p:spPr>
          <a:xfrm>
            <a:off x="274320" y="3749039"/>
            <a:ext cx="11612880" cy="56692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/>
          <p:nvPr/>
        </p:nvSpPr>
        <p:spPr>
          <a:xfrm>
            <a:off x="274320" y="3749039"/>
            <a:ext cx="54864" cy="566928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7"/>
          <p:cNvSpPr txBox="1"/>
          <p:nvPr/>
        </p:nvSpPr>
        <p:spPr>
          <a:xfrm>
            <a:off x="502920" y="3794759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Layer</a:t>
            </a:r>
            <a:endParaRPr sz="1700"/>
          </a:p>
        </p:txBody>
      </p:sp>
      <p:sp>
        <p:nvSpPr>
          <p:cNvPr id="894" name="Google Shape;894;p27"/>
          <p:cNvSpPr txBox="1"/>
          <p:nvPr/>
        </p:nvSpPr>
        <p:spPr>
          <a:xfrm>
            <a:off x="2194560" y="3794759"/>
            <a:ext cx="9509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cloud_traffic_dataset.csv → Pandas DataFrame → Feature Engineering Pipeline → 38 processed features</a:t>
            </a:r>
            <a:endParaRPr sz="1700"/>
          </a:p>
        </p:txBody>
      </p:sp>
      <p:sp>
        <p:nvSpPr>
          <p:cNvPr id="895" name="Google Shape;895;p27"/>
          <p:cNvSpPr/>
          <p:nvPr/>
        </p:nvSpPr>
        <p:spPr>
          <a:xfrm>
            <a:off x="274320" y="4407407"/>
            <a:ext cx="11612880" cy="56692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7"/>
          <p:cNvSpPr/>
          <p:nvPr/>
        </p:nvSpPr>
        <p:spPr>
          <a:xfrm>
            <a:off x="274320" y="4407407"/>
            <a:ext cx="54864" cy="566928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7"/>
          <p:cNvSpPr txBox="1"/>
          <p:nvPr/>
        </p:nvSpPr>
        <p:spPr>
          <a:xfrm>
            <a:off x="502920" y="4453127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Layer</a:t>
            </a:r>
            <a:endParaRPr sz="1700"/>
          </a:p>
        </p:txBody>
      </p:sp>
      <p:sp>
        <p:nvSpPr>
          <p:cNvPr id="898" name="Google Shape;898;p27"/>
          <p:cNvSpPr txBox="1"/>
          <p:nvPr/>
        </p:nvSpPr>
        <p:spPr>
          <a:xfrm>
            <a:off x="2194560" y="4453127"/>
            <a:ext cx="9509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XGBoost Regressor (xgboost_model.json) → TrafficPredictor class → 15-min ahead prediction → AutoScaler decision engine</a:t>
            </a:r>
            <a:endParaRPr sz="1700"/>
          </a:p>
        </p:txBody>
      </p:sp>
      <p:sp>
        <p:nvSpPr>
          <p:cNvPr id="899" name="Google Shape;899;p27"/>
          <p:cNvSpPr/>
          <p:nvPr/>
        </p:nvSpPr>
        <p:spPr>
          <a:xfrm>
            <a:off x="274320" y="5065775"/>
            <a:ext cx="11612880" cy="56692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7"/>
          <p:cNvSpPr/>
          <p:nvPr/>
        </p:nvSpPr>
        <p:spPr>
          <a:xfrm>
            <a:off x="274320" y="5065775"/>
            <a:ext cx="54864" cy="566928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7"/>
          <p:cNvSpPr txBox="1"/>
          <p:nvPr/>
        </p:nvSpPr>
        <p:spPr>
          <a:xfrm>
            <a:off x="502920" y="5111495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Layer</a:t>
            </a:r>
            <a:endParaRPr sz="1700"/>
          </a:p>
        </p:txBody>
      </p:sp>
      <p:sp>
        <p:nvSpPr>
          <p:cNvPr id="902" name="Google Shape;902;p27"/>
          <p:cNvSpPr txBox="1"/>
          <p:nvPr/>
        </p:nvSpPr>
        <p:spPr>
          <a:xfrm>
            <a:off x="2194560" y="5111495"/>
            <a:ext cx="9509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 endpoints: /api/dashboard, /api/health, /api/history, /api/analytics → JSON responses with metrics, predictions, alerts</a:t>
            </a:r>
            <a:endParaRPr sz="1700"/>
          </a:p>
        </p:txBody>
      </p:sp>
      <p:sp>
        <p:nvSpPr>
          <p:cNvPr id="903" name="Google Shape;903;p27"/>
          <p:cNvSpPr/>
          <p:nvPr/>
        </p:nvSpPr>
        <p:spPr>
          <a:xfrm>
            <a:off x="274320" y="5724143"/>
            <a:ext cx="11612880" cy="56692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7"/>
          <p:cNvSpPr/>
          <p:nvPr/>
        </p:nvSpPr>
        <p:spPr>
          <a:xfrm>
            <a:off x="274320" y="5724143"/>
            <a:ext cx="54864" cy="566928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7"/>
          <p:cNvSpPr txBox="1"/>
          <p:nvPr/>
        </p:nvSpPr>
        <p:spPr>
          <a:xfrm>
            <a:off x="502920" y="5769863"/>
            <a:ext cx="164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Layer</a:t>
            </a:r>
            <a:endParaRPr sz="1700"/>
          </a:p>
        </p:txBody>
      </p:sp>
      <p:sp>
        <p:nvSpPr>
          <p:cNvPr id="906" name="Google Shape;906;p27"/>
          <p:cNvSpPr txBox="1"/>
          <p:nvPr/>
        </p:nvSpPr>
        <p:spPr>
          <a:xfrm>
            <a:off x="2194560" y="5769863"/>
            <a:ext cx="9509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HTML5/CSS3/JavaScript → ApexCharts + Plotly.js → 9 dashboard pages: Traffic, Analytics, Infrastructure, Autoscaling, Global, ML, Reports</a:t>
            </a:r>
            <a:endParaRPr sz="1700"/>
          </a:p>
        </p:txBody>
      </p:sp>
      <p:sp>
        <p:nvSpPr>
          <p:cNvPr id="907" name="Google Shape;907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7"/>
          <p:cNvSpPr txBox="1"/>
          <p:nvPr/>
        </p:nvSpPr>
        <p:spPr>
          <a:xfrm>
            <a:off x="457200" y="6583680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700"/>
          </a:p>
        </p:txBody>
      </p:sp>
      <p:sp>
        <p:nvSpPr>
          <p:cNvPr id="909" name="Google Shape;909;p27"/>
          <p:cNvSpPr txBox="1"/>
          <p:nvPr/>
        </p:nvSpPr>
        <p:spPr>
          <a:xfrm>
            <a:off x="10972800" y="6492240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/ 26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8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6" name="Google Shape;916;p28"/>
          <p:cNvGrpSpPr/>
          <p:nvPr/>
        </p:nvGrpSpPr>
        <p:grpSpPr>
          <a:xfrm>
            <a:off x="571500" y="228600"/>
            <a:ext cx="11049000" cy="857400"/>
            <a:chOff x="0" y="0"/>
            <a:chExt cx="11049000" cy="857400"/>
          </a:xfrm>
        </p:grpSpPr>
        <p:sp>
          <p:nvSpPr>
            <p:cNvPr id="917" name="Google Shape;917;p28"/>
            <p:cNvSpPr txBox="1"/>
            <p:nvPr/>
          </p:nvSpPr>
          <p:spPr>
            <a:xfrm>
              <a:off x="0" y="0"/>
              <a:ext cx="1104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Cloud Architecture</a:t>
              </a:r>
              <a:endParaRPr sz="28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Current Implementation &amp; Future AWS Deployment</a:t>
              </a:r>
              <a:endParaRPr sz="1300" b="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18" name="Google Shape;918;p28"/>
            <p:cNvSpPr/>
            <p:nvPr/>
          </p:nvSpPr>
          <p:spPr>
            <a:xfrm>
              <a:off x="0" y="762000"/>
              <a:ext cx="1143000" cy="38100"/>
            </a:xfrm>
            <a:prstGeom prst="rect">
              <a:avLst/>
            </a:prstGeom>
            <a:solidFill>
              <a:srgbClr val="00B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28"/>
          <p:cNvGrpSpPr/>
          <p:nvPr/>
        </p:nvGrpSpPr>
        <p:grpSpPr>
          <a:xfrm>
            <a:off x="571500" y="1238250"/>
            <a:ext cx="5334000" cy="2381400"/>
            <a:chOff x="0" y="0"/>
            <a:chExt cx="5334000" cy="2381400"/>
          </a:xfrm>
        </p:grpSpPr>
        <p:sp>
          <p:nvSpPr>
            <p:cNvPr id="920" name="Google Shape;920;p28"/>
            <p:cNvSpPr/>
            <p:nvPr/>
          </p:nvSpPr>
          <p:spPr>
            <a:xfrm>
              <a:off x="0" y="0"/>
              <a:ext cx="5334000" cy="2381400"/>
            </a:xfrm>
            <a:prstGeom prst="roundRect">
              <a:avLst>
                <a:gd name="adj" fmla="val 6400"/>
              </a:avLst>
            </a:prstGeom>
            <a:solidFill>
              <a:srgbClr val="0A1A3C"/>
            </a:solidFill>
            <a:ln w="14300" cap="flat" cmpd="sng">
              <a:solidFill>
                <a:srgbClr val="00D68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8"/>
            <p:cNvSpPr txBox="1"/>
            <p:nvPr/>
          </p:nvSpPr>
          <p:spPr>
            <a:xfrm>
              <a:off x="190500" y="142875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✅ Current Implementation (Local)</a:t>
              </a:r>
              <a:endParaRPr sz="1400" b="1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922" name="Google Shape;922;p28"/>
            <p:cNvGrpSpPr/>
            <p:nvPr/>
          </p:nvGrpSpPr>
          <p:grpSpPr>
            <a:xfrm>
              <a:off x="190500" y="523875"/>
              <a:ext cx="4953000" cy="1619100"/>
              <a:chOff x="0" y="0"/>
              <a:chExt cx="4953000" cy="1619100"/>
            </a:xfrm>
          </p:grpSpPr>
          <p:grpSp>
            <p:nvGrpSpPr>
              <p:cNvPr id="923" name="Google Shape;923;p28"/>
              <p:cNvGrpSpPr/>
              <p:nvPr/>
            </p:nvGrpSpPr>
            <p:grpSpPr>
              <a:xfrm>
                <a:off x="0" y="0"/>
                <a:ext cx="914400" cy="1619100"/>
                <a:chOff x="0" y="0"/>
                <a:chExt cx="914400" cy="1619100"/>
              </a:xfrm>
            </p:grpSpPr>
            <p:sp>
              <p:nvSpPr>
                <p:cNvPr id="924" name="Google Shape;924;p28"/>
                <p:cNvSpPr/>
                <p:nvPr/>
              </p:nvSpPr>
              <p:spPr>
                <a:xfrm>
                  <a:off x="0" y="0"/>
                  <a:ext cx="914400" cy="161910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62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5" name="Google Shape;925;p28"/>
                <p:cNvSpPr txBox="1"/>
                <p:nvPr/>
              </p:nvSpPr>
              <p:spPr>
                <a:xfrm>
                  <a:off x="0" y="0"/>
                  <a:ext cx="914400" cy="16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5250" tIns="95250" rIns="95250" bIns="952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👥</a:t>
                  </a:r>
                  <a:endParaRPr sz="20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Users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Web Browser</a:t>
                  </a:r>
                  <a:endParaRPr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26" name="Google Shape;926;p28"/>
              <p:cNvGrpSpPr/>
              <p:nvPr/>
            </p:nvGrpSpPr>
            <p:grpSpPr>
              <a:xfrm>
                <a:off x="1009650" y="0"/>
                <a:ext cx="914400" cy="1619100"/>
                <a:chOff x="0" y="0"/>
                <a:chExt cx="914400" cy="1619100"/>
              </a:xfrm>
            </p:grpSpPr>
            <p:sp>
              <p:nvSpPr>
                <p:cNvPr id="927" name="Google Shape;927;p28"/>
                <p:cNvSpPr/>
                <p:nvPr/>
              </p:nvSpPr>
              <p:spPr>
                <a:xfrm>
                  <a:off x="0" y="0"/>
                  <a:ext cx="914400" cy="161910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B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8" name="Google Shape;928;p28"/>
                <p:cNvSpPr txBox="1"/>
                <p:nvPr/>
              </p:nvSpPr>
              <p:spPr>
                <a:xfrm>
                  <a:off x="0" y="0"/>
                  <a:ext cx="914400" cy="16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5250" tIns="95250" rIns="95250" bIns="952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📊</a:t>
                  </a:r>
                  <a:endParaRPr sz="20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Dashboard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HTML/Apex</a:t>
                  </a:r>
                  <a:endParaRPr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29" name="Google Shape;929;p28"/>
              <p:cNvGrpSpPr/>
              <p:nvPr/>
            </p:nvGrpSpPr>
            <p:grpSpPr>
              <a:xfrm>
                <a:off x="2019300" y="0"/>
                <a:ext cx="914400" cy="1619100"/>
                <a:chOff x="0" y="0"/>
                <a:chExt cx="914400" cy="1619100"/>
              </a:xfrm>
            </p:grpSpPr>
            <p:sp>
              <p:nvSpPr>
                <p:cNvPr id="930" name="Google Shape;930;p28"/>
                <p:cNvSpPr/>
                <p:nvPr/>
              </p:nvSpPr>
              <p:spPr>
                <a:xfrm>
                  <a:off x="0" y="0"/>
                  <a:ext cx="914400" cy="161910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D6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1" name="Google Shape;931;p28"/>
                <p:cNvSpPr txBox="1"/>
                <p:nvPr/>
              </p:nvSpPr>
              <p:spPr>
                <a:xfrm>
                  <a:off x="0" y="0"/>
                  <a:ext cx="914400" cy="16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5250" tIns="95250" rIns="95250" bIns="952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⚡</a:t>
                  </a:r>
                  <a:endParaRPr sz="20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FastAPI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REST Server</a:t>
                  </a:r>
                  <a:endParaRPr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32" name="Google Shape;932;p28"/>
              <p:cNvGrpSpPr/>
              <p:nvPr/>
            </p:nvGrpSpPr>
            <p:grpSpPr>
              <a:xfrm>
                <a:off x="3028950" y="0"/>
                <a:ext cx="914400" cy="1619100"/>
                <a:chOff x="0" y="0"/>
                <a:chExt cx="914400" cy="1619100"/>
              </a:xfrm>
            </p:grpSpPr>
            <p:sp>
              <p:nvSpPr>
                <p:cNvPr id="933" name="Google Shape;933;p28"/>
                <p:cNvSpPr/>
                <p:nvPr/>
              </p:nvSpPr>
              <p:spPr>
                <a:xfrm>
                  <a:off x="0" y="0"/>
                  <a:ext cx="914400" cy="161910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A85C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4" name="Google Shape;934;p28"/>
                <p:cNvSpPr txBox="1"/>
                <p:nvPr/>
              </p:nvSpPr>
              <p:spPr>
                <a:xfrm>
                  <a:off x="0" y="0"/>
                  <a:ext cx="914400" cy="16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5250" tIns="95250" rIns="95250" bIns="952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🧠</a:t>
                  </a:r>
                  <a:endParaRPr sz="20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ML Model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XGBoost</a:t>
                  </a:r>
                  <a:endParaRPr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35" name="Google Shape;935;p28"/>
              <p:cNvGrpSpPr/>
              <p:nvPr/>
            </p:nvGrpSpPr>
            <p:grpSpPr>
              <a:xfrm>
                <a:off x="4038600" y="0"/>
                <a:ext cx="914400" cy="1619100"/>
                <a:chOff x="0" y="0"/>
                <a:chExt cx="914400" cy="1619100"/>
              </a:xfrm>
            </p:grpSpPr>
            <p:sp>
              <p:nvSpPr>
                <p:cNvPr id="936" name="Google Shape;936;p28"/>
                <p:cNvSpPr/>
                <p:nvPr/>
              </p:nvSpPr>
              <p:spPr>
                <a:xfrm>
                  <a:off x="0" y="0"/>
                  <a:ext cx="914400" cy="161910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FF9F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7" name="Google Shape;937;p28"/>
                <p:cNvSpPr txBox="1"/>
                <p:nvPr/>
              </p:nvSpPr>
              <p:spPr>
                <a:xfrm>
                  <a:off x="0" y="0"/>
                  <a:ext cx="914400" cy="16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5250" tIns="95250" rIns="95250" bIns="9525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⚙</a:t>
                  </a:r>
                  <a:endParaRPr sz="20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Autoscaler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Decision Eng</a:t>
                  </a:r>
                  <a:endParaRPr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  <p:grpSp>
        <p:nvGrpSpPr>
          <p:cNvPr id="938" name="Google Shape;938;p28"/>
          <p:cNvGrpSpPr/>
          <p:nvPr/>
        </p:nvGrpSpPr>
        <p:grpSpPr>
          <a:xfrm>
            <a:off x="6286500" y="1238250"/>
            <a:ext cx="5334000" cy="2381400"/>
            <a:chOff x="0" y="0"/>
            <a:chExt cx="5334000" cy="2381400"/>
          </a:xfrm>
        </p:grpSpPr>
        <p:sp>
          <p:nvSpPr>
            <p:cNvPr id="939" name="Google Shape;939;p28"/>
            <p:cNvSpPr/>
            <p:nvPr/>
          </p:nvSpPr>
          <p:spPr>
            <a:xfrm>
              <a:off x="0" y="0"/>
              <a:ext cx="5334000" cy="2381400"/>
            </a:xfrm>
            <a:prstGeom prst="roundRect">
              <a:avLst>
                <a:gd name="adj" fmla="val 6400"/>
              </a:avLst>
            </a:prstGeom>
            <a:solidFill>
              <a:srgbClr val="0A1A3C"/>
            </a:solidFill>
            <a:ln w="14300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 txBox="1"/>
            <p:nvPr/>
          </p:nvSpPr>
          <p:spPr>
            <a:xfrm>
              <a:off x="190500" y="142875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🔮 Future AWS Deployment</a:t>
              </a:r>
              <a:endParaRPr sz="1400" b="1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941" name="Google Shape;941;p28"/>
            <p:cNvGrpSpPr/>
            <p:nvPr/>
          </p:nvGrpSpPr>
          <p:grpSpPr>
            <a:xfrm>
              <a:off x="190500" y="523875"/>
              <a:ext cx="4953000" cy="1571550"/>
              <a:chOff x="0" y="0"/>
              <a:chExt cx="4953000" cy="1571550"/>
            </a:xfrm>
          </p:grpSpPr>
          <p:grpSp>
            <p:nvGrpSpPr>
              <p:cNvPr id="942" name="Google Shape;942;p28"/>
              <p:cNvGrpSpPr/>
              <p:nvPr/>
            </p:nvGrpSpPr>
            <p:grpSpPr>
              <a:xfrm>
                <a:off x="0" y="0"/>
                <a:ext cx="1524000" cy="714300"/>
                <a:chOff x="0" y="0"/>
                <a:chExt cx="1524000" cy="714300"/>
              </a:xfrm>
            </p:grpSpPr>
            <p:sp>
              <p:nvSpPr>
                <p:cNvPr id="943" name="Google Shape;943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62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🌐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Route 53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DNS &amp; Routing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45" name="Google Shape;945;p28"/>
              <p:cNvGrpSpPr/>
              <p:nvPr/>
            </p:nvGrpSpPr>
            <p:grpSpPr>
              <a:xfrm>
                <a:off x="1714500" y="0"/>
                <a:ext cx="1524000" cy="714300"/>
                <a:chOff x="0" y="0"/>
                <a:chExt cx="1524000" cy="714300"/>
              </a:xfrm>
            </p:grpSpPr>
            <p:sp>
              <p:nvSpPr>
                <p:cNvPr id="946" name="Google Shape;946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B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7" name="Google Shape;947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⚖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ALB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Load Balancer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48" name="Google Shape;948;p28"/>
              <p:cNvGrpSpPr/>
              <p:nvPr/>
            </p:nvGrpSpPr>
            <p:grpSpPr>
              <a:xfrm>
                <a:off x="3429000" y="0"/>
                <a:ext cx="1524000" cy="714300"/>
                <a:chOff x="0" y="0"/>
                <a:chExt cx="1524000" cy="714300"/>
              </a:xfrm>
            </p:grpSpPr>
            <p:sp>
              <p:nvSpPr>
                <p:cNvPr id="949" name="Google Shape;949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D6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🖥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EC2 ASG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Compute Instances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51" name="Google Shape;951;p28"/>
              <p:cNvGrpSpPr/>
              <p:nvPr/>
            </p:nvGrpSpPr>
            <p:grpSpPr>
              <a:xfrm>
                <a:off x="0" y="857250"/>
                <a:ext cx="1524000" cy="714300"/>
                <a:chOff x="0" y="0"/>
                <a:chExt cx="1524000" cy="714300"/>
              </a:xfrm>
            </p:grpSpPr>
            <p:sp>
              <p:nvSpPr>
                <p:cNvPr id="952" name="Google Shape;952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FF9F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3" name="Google Shape;953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📈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CloudWatch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Metrics &amp; Alerts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54" name="Google Shape;954;p28"/>
              <p:cNvGrpSpPr/>
              <p:nvPr/>
            </p:nvGrpSpPr>
            <p:grpSpPr>
              <a:xfrm>
                <a:off x="1714500" y="857250"/>
                <a:ext cx="1524000" cy="714300"/>
                <a:chOff x="0" y="0"/>
                <a:chExt cx="1524000" cy="714300"/>
              </a:xfrm>
            </p:grpSpPr>
            <p:sp>
              <p:nvSpPr>
                <p:cNvPr id="955" name="Google Shape;955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A85C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6" name="Google Shape;956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📦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S3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Model Storage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957" name="Google Shape;957;p28"/>
              <p:cNvGrpSpPr/>
              <p:nvPr/>
            </p:nvGrpSpPr>
            <p:grpSpPr>
              <a:xfrm>
                <a:off x="3429000" y="857250"/>
                <a:ext cx="1524000" cy="714300"/>
                <a:chOff x="0" y="0"/>
                <a:chExt cx="1524000" cy="714300"/>
              </a:xfrm>
            </p:grpSpPr>
            <p:sp>
              <p:nvSpPr>
                <p:cNvPr id="958" name="Google Shape;958;p28"/>
                <p:cNvSpPr/>
                <p:nvPr/>
              </p:nvSpPr>
              <p:spPr>
                <a:xfrm>
                  <a:off x="0" y="0"/>
                  <a:ext cx="1524000" cy="7143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CCCC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959;p28"/>
                <p:cNvSpPr txBox="1"/>
                <p:nvPr/>
              </p:nvSpPr>
              <p:spPr>
                <a:xfrm>
                  <a:off x="0" y="0"/>
                  <a:ext cx="15240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⚡</a:t>
                  </a:r>
                  <a:endParaRPr sz="1400"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Lambda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Serverless Func</a:t>
                  </a:r>
                  <a:endParaRPr sz="8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  <p:grpSp>
        <p:nvGrpSpPr>
          <p:cNvPr id="960" name="Google Shape;960;p28"/>
          <p:cNvGrpSpPr/>
          <p:nvPr/>
        </p:nvGrpSpPr>
        <p:grpSpPr>
          <a:xfrm>
            <a:off x="571500" y="3762375"/>
            <a:ext cx="11049000" cy="1190700"/>
            <a:chOff x="0" y="0"/>
            <a:chExt cx="11049000" cy="1190700"/>
          </a:xfrm>
        </p:grpSpPr>
        <p:sp>
          <p:nvSpPr>
            <p:cNvPr id="961" name="Google Shape;961;p28"/>
            <p:cNvSpPr/>
            <p:nvPr/>
          </p:nvSpPr>
          <p:spPr>
            <a:xfrm>
              <a:off x="0" y="0"/>
              <a:ext cx="11049000" cy="1190700"/>
            </a:xfrm>
            <a:prstGeom prst="roundRect">
              <a:avLst>
                <a:gd name="adj" fmla="val 12800"/>
              </a:avLst>
            </a:prstGeom>
            <a:solidFill>
              <a:srgbClr val="0A1A3C"/>
            </a:solidFill>
            <a:ln w="14300" cap="flat" cmpd="sng">
              <a:solidFill>
                <a:srgbClr val="006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8"/>
            <p:cNvSpPr txBox="1"/>
            <p:nvPr/>
          </p:nvSpPr>
          <p:spPr>
            <a:xfrm>
              <a:off x="190500" y="114300"/>
              <a:ext cx="10668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☁️ Future Cloud Deployment Architecture Flow</a:t>
              </a:r>
              <a:endParaRPr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963" name="Google Shape;963;p28"/>
            <p:cNvGrpSpPr/>
            <p:nvPr/>
          </p:nvGrpSpPr>
          <p:grpSpPr>
            <a:xfrm>
              <a:off x="190500" y="400050"/>
              <a:ext cx="10668000" cy="571500"/>
              <a:chOff x="0" y="0"/>
              <a:chExt cx="10668000" cy="571500"/>
            </a:xfrm>
          </p:grpSpPr>
          <p:grpSp>
            <p:nvGrpSpPr>
              <p:cNvPr id="964" name="Google Shape;964;p28"/>
              <p:cNvGrpSpPr/>
              <p:nvPr/>
            </p:nvGrpSpPr>
            <p:grpSpPr>
              <a:xfrm>
                <a:off x="0" y="0"/>
                <a:ext cx="1238400" cy="571500"/>
                <a:chOff x="0" y="0"/>
                <a:chExt cx="1238400" cy="571500"/>
              </a:xfrm>
            </p:grpSpPr>
            <p:sp>
              <p:nvSpPr>
                <p:cNvPr id="965" name="Google Shape;965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62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966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👥 Users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67" name="Google Shape;967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285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68" name="Google Shape;968;p28"/>
              <p:cNvGrpSpPr/>
              <p:nvPr/>
            </p:nvGrpSpPr>
            <p:grpSpPr>
              <a:xfrm>
                <a:off x="1524000" y="0"/>
                <a:ext cx="1238400" cy="571500"/>
                <a:chOff x="0" y="0"/>
                <a:chExt cx="1238400" cy="571500"/>
              </a:xfrm>
            </p:grpSpPr>
            <p:sp>
              <p:nvSpPr>
                <p:cNvPr id="969" name="Google Shape;969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B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970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⚖ ALB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71" name="Google Shape;971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09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72" name="Google Shape;972;p28"/>
              <p:cNvGrpSpPr/>
              <p:nvPr/>
            </p:nvGrpSpPr>
            <p:grpSpPr>
              <a:xfrm>
                <a:off x="3048000" y="0"/>
                <a:ext cx="1238400" cy="571500"/>
                <a:chOff x="0" y="0"/>
                <a:chExt cx="1238400" cy="571500"/>
              </a:xfrm>
            </p:grpSpPr>
            <p:sp>
              <p:nvSpPr>
                <p:cNvPr id="973" name="Google Shape;973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D68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🖥 EC2 ASG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75" name="Google Shape;975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333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76" name="Google Shape;976;p28"/>
              <p:cNvGrpSpPr/>
              <p:nvPr/>
            </p:nvGrpSpPr>
            <p:grpSpPr>
              <a:xfrm>
                <a:off x="4572000" y="0"/>
                <a:ext cx="1238400" cy="571500"/>
                <a:chOff x="0" y="0"/>
                <a:chExt cx="1238400" cy="571500"/>
              </a:xfrm>
            </p:grpSpPr>
            <p:sp>
              <p:nvSpPr>
                <p:cNvPr id="977" name="Google Shape;977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A85C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🧠 Model (S3)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79" name="Google Shape;979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857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80" name="Google Shape;980;p28"/>
              <p:cNvGrpSpPr/>
              <p:nvPr/>
            </p:nvGrpSpPr>
            <p:grpSpPr>
              <a:xfrm>
                <a:off x="6096000" y="0"/>
                <a:ext cx="1238400" cy="571500"/>
                <a:chOff x="0" y="0"/>
                <a:chExt cx="1238400" cy="571500"/>
              </a:xfrm>
            </p:grpSpPr>
            <p:sp>
              <p:nvSpPr>
                <p:cNvPr id="981" name="Google Shape;981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FF9F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📊 CloudWatch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83" name="Google Shape;983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381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84" name="Google Shape;984;p28"/>
              <p:cNvGrpSpPr/>
              <p:nvPr/>
            </p:nvGrpSpPr>
            <p:grpSpPr>
              <a:xfrm>
                <a:off x="7620000" y="0"/>
                <a:ext cx="1238400" cy="571500"/>
                <a:chOff x="0" y="0"/>
                <a:chExt cx="1238400" cy="571500"/>
              </a:xfrm>
            </p:grpSpPr>
            <p:sp>
              <p:nvSpPr>
                <p:cNvPr id="985" name="Google Shape;985;p28"/>
                <p:cNvSpPr/>
                <p:nvPr/>
              </p:nvSpPr>
              <p:spPr>
                <a:xfrm>
                  <a:off x="0" y="0"/>
                  <a:ext cx="12384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FF4D4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28"/>
                <p:cNvSpPr txBox="1"/>
                <p:nvPr/>
              </p:nvSpPr>
              <p:spPr>
                <a:xfrm>
                  <a:off x="0" y="0"/>
                  <a:ext cx="1238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⚙ Auto Scale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pic>
            <p:nvPicPr>
              <p:cNvPr id="987" name="Google Shape;987;p2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905875" y="276225"/>
                <a:ext cx="190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988" name="Google Shape;988;p28"/>
              <p:cNvGrpSpPr/>
              <p:nvPr/>
            </p:nvGrpSpPr>
            <p:grpSpPr>
              <a:xfrm>
                <a:off x="9144000" y="0"/>
                <a:ext cx="1524000" cy="571500"/>
                <a:chOff x="0" y="0"/>
                <a:chExt cx="1524000" cy="571500"/>
              </a:xfrm>
            </p:grpSpPr>
            <p:sp>
              <p:nvSpPr>
                <p:cNvPr id="989" name="Google Shape;989;p28"/>
                <p:cNvSpPr/>
                <p:nvPr/>
              </p:nvSpPr>
              <p:spPr>
                <a:xfrm>
                  <a:off x="0" y="0"/>
                  <a:ext cx="1524000" cy="5715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0E2454"/>
                </a:solidFill>
                <a:ln w="9525" cap="flat" cmpd="sng">
                  <a:solidFill>
                    <a:srgbClr val="00CCCC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28"/>
                <p:cNvSpPr txBox="1"/>
                <p:nvPr/>
              </p:nvSpPr>
              <p:spPr>
                <a:xfrm>
                  <a:off x="0" y="0"/>
                  <a:ext cx="1524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7625" tIns="47625" rIns="47625" bIns="476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1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⚡ Lambda Trigger</a:t>
                  </a:r>
                  <a:endParaRPr sz="11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  <p:grpSp>
        <p:nvGrpSpPr>
          <p:cNvPr id="991" name="Google Shape;991;p28"/>
          <p:cNvGrpSpPr/>
          <p:nvPr/>
        </p:nvGrpSpPr>
        <p:grpSpPr>
          <a:xfrm>
            <a:off x="571500" y="5095875"/>
            <a:ext cx="11049000" cy="1285800"/>
            <a:chOff x="0" y="0"/>
            <a:chExt cx="11049000" cy="1285800"/>
          </a:xfrm>
        </p:grpSpPr>
        <p:sp>
          <p:nvSpPr>
            <p:cNvPr id="992" name="Google Shape;992;p28"/>
            <p:cNvSpPr/>
            <p:nvPr/>
          </p:nvSpPr>
          <p:spPr>
            <a:xfrm>
              <a:off x="0" y="0"/>
              <a:ext cx="11049000" cy="1285800"/>
            </a:xfrm>
            <a:prstGeom prst="roundRect">
              <a:avLst>
                <a:gd name="adj" fmla="val 11851"/>
              </a:avLst>
            </a:prstGeom>
            <a:solidFill>
              <a:srgbClr val="0A1530"/>
            </a:solidFill>
            <a:ln w="14300" cap="flat" cmpd="sng">
              <a:solidFill>
                <a:srgbClr val="0062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8"/>
            <p:cNvSpPr txBox="1"/>
            <p:nvPr/>
          </p:nvSpPr>
          <p:spPr>
            <a:xfrm>
              <a:off x="190500" y="142875"/>
              <a:ext cx="10668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📌 Implementation Notes</a:t>
              </a:r>
              <a:endParaRPr sz="1300" b="1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Current:</a:t>
              </a:r>
              <a:r>
                <a:rPr lang="en-US"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Local deployment with FastAPI + HTML dashboard. Docker containerized utilizing Python 3.11-slim base image for lightweight efficiency.</a:t>
              </a:r>
              <a:r>
                <a:rPr lang="en-US" sz="115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Future:</a:t>
              </a:r>
              <a:r>
                <a:rPr lang="en-US"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Full AWS cloud deployment integrating EC2 Auto Scaling Groups, CloudWatch alarms/metrics, S3 model artifacts, Lambda serverless triggers, and ALB for optimized load balancing.</a:t>
              </a:r>
              <a:endParaRPr sz="1150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994" name="Google Shape;994;p28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8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996" name="Google Shape;996;p28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/ 26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9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Technology Stack</a:t>
            </a:r>
            <a:endParaRPr/>
          </a:p>
        </p:txBody>
      </p:sp>
      <p:sp>
        <p:nvSpPr>
          <p:cNvPr id="1004" name="Google Shape;1004;p29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9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Tools, Frameworks &amp; Libraries</a:t>
            </a:r>
            <a:endParaRPr/>
          </a:p>
        </p:txBody>
      </p:sp>
      <p:sp>
        <p:nvSpPr>
          <p:cNvPr id="1006" name="Google Shape;1006;p29"/>
          <p:cNvSpPr/>
          <p:nvPr/>
        </p:nvSpPr>
        <p:spPr>
          <a:xfrm>
            <a:off x="365760" y="1097280"/>
            <a:ext cx="2697480" cy="411480"/>
          </a:xfrm>
          <a:prstGeom prst="roundRect">
            <a:avLst>
              <a:gd name="adj" fmla="val 16667"/>
            </a:avLst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9"/>
          <p:cNvSpPr txBox="1"/>
          <p:nvPr/>
        </p:nvSpPr>
        <p:spPr>
          <a:xfrm>
            <a:off x="457200" y="11521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</a:t>
            </a:r>
            <a:endParaRPr/>
          </a:p>
        </p:txBody>
      </p:sp>
      <p:sp>
        <p:nvSpPr>
          <p:cNvPr id="1008" name="Google Shape;1008;p29"/>
          <p:cNvSpPr/>
          <p:nvPr/>
        </p:nvSpPr>
        <p:spPr>
          <a:xfrm>
            <a:off x="365760" y="160020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9"/>
          <p:cNvSpPr/>
          <p:nvPr/>
        </p:nvSpPr>
        <p:spPr>
          <a:xfrm>
            <a:off x="457200" y="170992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🌲</a:t>
            </a:r>
            <a:endParaRPr/>
          </a:p>
        </p:txBody>
      </p:sp>
      <p:sp>
        <p:nvSpPr>
          <p:cNvPr id="1010" name="Google Shape;1010;p29"/>
          <p:cNvSpPr txBox="1"/>
          <p:nvPr/>
        </p:nvSpPr>
        <p:spPr>
          <a:xfrm>
            <a:off x="1051560" y="1691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XGBoost</a:t>
            </a:r>
            <a:endParaRPr/>
          </a:p>
        </p:txBody>
      </p:sp>
      <p:sp>
        <p:nvSpPr>
          <p:cNvPr id="1011" name="Google Shape;1011;p29"/>
          <p:cNvSpPr txBox="1"/>
          <p:nvPr/>
        </p:nvSpPr>
        <p:spPr>
          <a:xfrm>
            <a:off x="1051560" y="19476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ML Model</a:t>
            </a:r>
            <a:endParaRPr/>
          </a:p>
        </p:txBody>
      </p:sp>
      <p:sp>
        <p:nvSpPr>
          <p:cNvPr id="1012" name="Google Shape;1012;p29"/>
          <p:cNvSpPr/>
          <p:nvPr/>
        </p:nvSpPr>
        <p:spPr>
          <a:xfrm>
            <a:off x="365760" y="246888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9"/>
          <p:cNvSpPr/>
          <p:nvPr/>
        </p:nvSpPr>
        <p:spPr>
          <a:xfrm>
            <a:off x="457200" y="257860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1014" name="Google Shape;1014;p29"/>
          <p:cNvSpPr txBox="1"/>
          <p:nvPr/>
        </p:nvSpPr>
        <p:spPr>
          <a:xfrm>
            <a:off x="1051560" y="256032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Prophet</a:t>
            </a:r>
            <a:endParaRPr/>
          </a:p>
        </p:txBody>
      </p:sp>
      <p:sp>
        <p:nvSpPr>
          <p:cNvPr id="1015" name="Google Shape;1015;p29"/>
          <p:cNvSpPr txBox="1"/>
          <p:nvPr/>
        </p:nvSpPr>
        <p:spPr>
          <a:xfrm>
            <a:off x="1051560" y="281635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Comparison Model</a:t>
            </a:r>
            <a:endParaRPr/>
          </a:p>
        </p:txBody>
      </p:sp>
      <p:sp>
        <p:nvSpPr>
          <p:cNvPr id="1016" name="Google Shape;1016;p29"/>
          <p:cNvSpPr/>
          <p:nvPr/>
        </p:nvSpPr>
        <p:spPr>
          <a:xfrm>
            <a:off x="365760" y="333756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9"/>
          <p:cNvSpPr/>
          <p:nvPr/>
        </p:nvSpPr>
        <p:spPr>
          <a:xfrm>
            <a:off x="457200" y="344728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🔬</a:t>
            </a:r>
            <a:endParaRPr/>
          </a:p>
        </p:txBody>
      </p:sp>
      <p:sp>
        <p:nvSpPr>
          <p:cNvPr id="1018" name="Google Shape;1018;p29"/>
          <p:cNvSpPr txBox="1"/>
          <p:nvPr/>
        </p:nvSpPr>
        <p:spPr>
          <a:xfrm>
            <a:off x="1051560" y="34290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Scikit-learn</a:t>
            </a:r>
            <a:endParaRPr/>
          </a:p>
        </p:txBody>
      </p:sp>
      <p:sp>
        <p:nvSpPr>
          <p:cNvPr id="1019" name="Google Shape;1019;p29"/>
          <p:cNvSpPr txBox="1"/>
          <p:nvPr/>
        </p:nvSpPr>
        <p:spPr>
          <a:xfrm>
            <a:off x="1051560" y="3685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Metrics &amp; Utils</a:t>
            </a:r>
            <a:endParaRPr/>
          </a:p>
        </p:txBody>
      </p:sp>
      <p:sp>
        <p:nvSpPr>
          <p:cNvPr id="1020" name="Google Shape;1020;p29"/>
          <p:cNvSpPr/>
          <p:nvPr/>
        </p:nvSpPr>
        <p:spPr>
          <a:xfrm>
            <a:off x="365760" y="420624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9"/>
          <p:cNvSpPr/>
          <p:nvPr/>
        </p:nvSpPr>
        <p:spPr>
          <a:xfrm>
            <a:off x="457200" y="431596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🧮</a:t>
            </a:r>
            <a:endParaRPr/>
          </a:p>
        </p:txBody>
      </p:sp>
      <p:sp>
        <p:nvSpPr>
          <p:cNvPr id="1022" name="Google Shape;1022;p29"/>
          <p:cNvSpPr txBox="1"/>
          <p:nvPr/>
        </p:nvSpPr>
        <p:spPr>
          <a:xfrm>
            <a:off x="1051560" y="4297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NumPy</a:t>
            </a:r>
            <a:endParaRPr/>
          </a:p>
        </p:txBody>
      </p:sp>
      <p:sp>
        <p:nvSpPr>
          <p:cNvPr id="1023" name="Google Shape;1023;p29"/>
          <p:cNvSpPr txBox="1"/>
          <p:nvPr/>
        </p:nvSpPr>
        <p:spPr>
          <a:xfrm>
            <a:off x="1051560" y="4553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Numerical Computing</a:t>
            </a:r>
            <a:endParaRPr/>
          </a:p>
        </p:txBody>
      </p:sp>
      <p:sp>
        <p:nvSpPr>
          <p:cNvPr id="1024" name="Google Shape;1024;p29"/>
          <p:cNvSpPr/>
          <p:nvPr/>
        </p:nvSpPr>
        <p:spPr>
          <a:xfrm>
            <a:off x="365760" y="507492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9"/>
          <p:cNvSpPr/>
          <p:nvPr/>
        </p:nvSpPr>
        <p:spPr>
          <a:xfrm>
            <a:off x="457200" y="518464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🐼</a:t>
            </a:r>
            <a:endParaRPr/>
          </a:p>
        </p:txBody>
      </p:sp>
      <p:sp>
        <p:nvSpPr>
          <p:cNvPr id="1026" name="Google Shape;1026;p29"/>
          <p:cNvSpPr txBox="1"/>
          <p:nvPr/>
        </p:nvSpPr>
        <p:spPr>
          <a:xfrm>
            <a:off x="1051560" y="516636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Pandas</a:t>
            </a:r>
            <a:endParaRPr/>
          </a:p>
        </p:txBody>
      </p:sp>
      <p:sp>
        <p:nvSpPr>
          <p:cNvPr id="1027" name="Google Shape;1027;p29"/>
          <p:cNvSpPr txBox="1"/>
          <p:nvPr/>
        </p:nvSpPr>
        <p:spPr>
          <a:xfrm>
            <a:off x="1051560" y="542239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Processing</a:t>
            </a:r>
            <a:endParaRPr/>
          </a:p>
        </p:txBody>
      </p:sp>
      <p:sp>
        <p:nvSpPr>
          <p:cNvPr id="1028" name="Google Shape;1028;p29"/>
          <p:cNvSpPr/>
          <p:nvPr/>
        </p:nvSpPr>
        <p:spPr>
          <a:xfrm>
            <a:off x="3291840" y="1097280"/>
            <a:ext cx="2697480" cy="41148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9"/>
          <p:cNvSpPr txBox="1"/>
          <p:nvPr/>
        </p:nvSpPr>
        <p:spPr>
          <a:xfrm>
            <a:off x="3383280" y="11521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</a:t>
            </a:r>
            <a:endParaRPr/>
          </a:p>
        </p:txBody>
      </p:sp>
      <p:sp>
        <p:nvSpPr>
          <p:cNvPr id="1030" name="Google Shape;1030;p29"/>
          <p:cNvSpPr/>
          <p:nvPr/>
        </p:nvSpPr>
        <p:spPr>
          <a:xfrm>
            <a:off x="3291840" y="160020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9"/>
          <p:cNvSpPr/>
          <p:nvPr/>
        </p:nvSpPr>
        <p:spPr>
          <a:xfrm>
            <a:off x="3383280" y="170992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🐍</a:t>
            </a:r>
            <a:endParaRPr/>
          </a:p>
        </p:txBody>
      </p:sp>
      <p:sp>
        <p:nvSpPr>
          <p:cNvPr id="1032" name="Google Shape;1032;p29"/>
          <p:cNvSpPr txBox="1"/>
          <p:nvPr/>
        </p:nvSpPr>
        <p:spPr>
          <a:xfrm>
            <a:off x="3977640" y="1691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3.11</a:t>
            </a:r>
            <a:endParaRPr/>
          </a:p>
        </p:txBody>
      </p:sp>
      <p:sp>
        <p:nvSpPr>
          <p:cNvPr id="1033" name="Google Shape;1033;p29"/>
          <p:cNvSpPr txBox="1"/>
          <p:nvPr/>
        </p:nvSpPr>
        <p:spPr>
          <a:xfrm>
            <a:off x="3977640" y="19476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Language</a:t>
            </a:r>
            <a:endParaRPr/>
          </a:p>
        </p:txBody>
      </p:sp>
      <p:sp>
        <p:nvSpPr>
          <p:cNvPr id="1034" name="Google Shape;1034;p29"/>
          <p:cNvSpPr/>
          <p:nvPr/>
        </p:nvSpPr>
        <p:spPr>
          <a:xfrm>
            <a:off x="3291840" y="246888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9"/>
          <p:cNvSpPr/>
          <p:nvPr/>
        </p:nvSpPr>
        <p:spPr>
          <a:xfrm>
            <a:off x="3383280" y="257860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036" name="Google Shape;1036;p29"/>
          <p:cNvSpPr txBox="1"/>
          <p:nvPr/>
        </p:nvSpPr>
        <p:spPr>
          <a:xfrm>
            <a:off x="3977640" y="256032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FastAPI</a:t>
            </a:r>
            <a:endParaRPr/>
          </a:p>
        </p:txBody>
      </p:sp>
      <p:sp>
        <p:nvSpPr>
          <p:cNvPr id="1037" name="Google Shape;1037;p29"/>
          <p:cNvSpPr txBox="1"/>
          <p:nvPr/>
        </p:nvSpPr>
        <p:spPr>
          <a:xfrm>
            <a:off x="3977640" y="281635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 API Framework</a:t>
            </a:r>
            <a:endParaRPr/>
          </a:p>
        </p:txBody>
      </p:sp>
      <p:sp>
        <p:nvSpPr>
          <p:cNvPr id="1038" name="Google Shape;1038;p29"/>
          <p:cNvSpPr/>
          <p:nvPr/>
        </p:nvSpPr>
        <p:spPr>
          <a:xfrm>
            <a:off x="3291840" y="333756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9"/>
          <p:cNvSpPr/>
          <p:nvPr/>
        </p:nvSpPr>
        <p:spPr>
          <a:xfrm>
            <a:off x="3383280" y="344728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</a:t>
            </a:r>
            <a:endParaRPr/>
          </a:p>
        </p:txBody>
      </p:sp>
      <p:sp>
        <p:nvSpPr>
          <p:cNvPr id="1040" name="Google Shape;1040;p29"/>
          <p:cNvSpPr txBox="1"/>
          <p:nvPr/>
        </p:nvSpPr>
        <p:spPr>
          <a:xfrm>
            <a:off x="3977640" y="34290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Joblib</a:t>
            </a:r>
            <a:endParaRPr/>
          </a:p>
        </p:txBody>
      </p:sp>
      <p:sp>
        <p:nvSpPr>
          <p:cNvPr id="1041" name="Google Shape;1041;p29"/>
          <p:cNvSpPr txBox="1"/>
          <p:nvPr/>
        </p:nvSpPr>
        <p:spPr>
          <a:xfrm>
            <a:off x="3977640" y="3685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Serialization</a:t>
            </a:r>
            <a:endParaRPr/>
          </a:p>
        </p:txBody>
      </p:sp>
      <p:sp>
        <p:nvSpPr>
          <p:cNvPr id="1042" name="Google Shape;1042;p29"/>
          <p:cNvSpPr/>
          <p:nvPr/>
        </p:nvSpPr>
        <p:spPr>
          <a:xfrm>
            <a:off x="3291840" y="420624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9"/>
          <p:cNvSpPr/>
          <p:nvPr/>
        </p:nvSpPr>
        <p:spPr>
          <a:xfrm>
            <a:off x="3383280" y="431596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/>
          </a:p>
        </p:txBody>
      </p:sp>
      <p:sp>
        <p:nvSpPr>
          <p:cNvPr id="1044" name="Google Shape;1044;p29"/>
          <p:cNvSpPr txBox="1"/>
          <p:nvPr/>
        </p:nvSpPr>
        <p:spPr>
          <a:xfrm>
            <a:off x="3977640" y="4297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CORS MW</a:t>
            </a:r>
            <a:endParaRPr/>
          </a:p>
        </p:txBody>
      </p:sp>
      <p:sp>
        <p:nvSpPr>
          <p:cNvPr id="1045" name="Google Shape;1045;p29"/>
          <p:cNvSpPr txBox="1"/>
          <p:nvPr/>
        </p:nvSpPr>
        <p:spPr>
          <a:xfrm>
            <a:off x="3977640" y="4553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Cross-Origin Support</a:t>
            </a:r>
            <a:endParaRPr/>
          </a:p>
        </p:txBody>
      </p:sp>
      <p:sp>
        <p:nvSpPr>
          <p:cNvPr id="1046" name="Google Shape;1046;p29"/>
          <p:cNvSpPr/>
          <p:nvPr/>
        </p:nvSpPr>
        <p:spPr>
          <a:xfrm>
            <a:off x="3291840" y="507492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9"/>
          <p:cNvSpPr/>
          <p:nvPr/>
        </p:nvSpPr>
        <p:spPr>
          <a:xfrm>
            <a:off x="3383280" y="518464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🐳</a:t>
            </a:r>
            <a:endParaRPr/>
          </a:p>
        </p:txBody>
      </p:sp>
      <p:sp>
        <p:nvSpPr>
          <p:cNvPr id="1048" name="Google Shape;1048;p29"/>
          <p:cNvSpPr txBox="1"/>
          <p:nvPr/>
        </p:nvSpPr>
        <p:spPr>
          <a:xfrm>
            <a:off x="3977640" y="516636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</a:t>
            </a:r>
            <a:endParaRPr/>
          </a:p>
        </p:txBody>
      </p:sp>
      <p:sp>
        <p:nvSpPr>
          <p:cNvPr id="1049" name="Google Shape;1049;p29"/>
          <p:cNvSpPr txBox="1"/>
          <p:nvPr/>
        </p:nvSpPr>
        <p:spPr>
          <a:xfrm>
            <a:off x="3977640" y="542239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Containerization</a:t>
            </a:r>
            <a:endParaRPr/>
          </a:p>
        </p:txBody>
      </p:sp>
      <p:sp>
        <p:nvSpPr>
          <p:cNvPr id="1050" name="Google Shape;1050;p29"/>
          <p:cNvSpPr/>
          <p:nvPr/>
        </p:nvSpPr>
        <p:spPr>
          <a:xfrm>
            <a:off x="6217920" y="1097280"/>
            <a:ext cx="2697480" cy="411480"/>
          </a:xfrm>
          <a:prstGeom prst="roundRect">
            <a:avLst>
              <a:gd name="adj" fmla="val 16667"/>
            </a:avLst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9"/>
          <p:cNvSpPr txBox="1"/>
          <p:nvPr/>
        </p:nvSpPr>
        <p:spPr>
          <a:xfrm>
            <a:off x="6309360" y="11521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</a:t>
            </a:r>
            <a:endParaRPr/>
          </a:p>
        </p:txBody>
      </p:sp>
      <p:sp>
        <p:nvSpPr>
          <p:cNvPr id="1052" name="Google Shape;1052;p29"/>
          <p:cNvSpPr/>
          <p:nvPr/>
        </p:nvSpPr>
        <p:spPr>
          <a:xfrm>
            <a:off x="6217920" y="160020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9"/>
          <p:cNvSpPr/>
          <p:nvPr/>
        </p:nvSpPr>
        <p:spPr>
          <a:xfrm>
            <a:off x="6309360" y="170992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/>
          </a:p>
        </p:txBody>
      </p:sp>
      <p:sp>
        <p:nvSpPr>
          <p:cNvPr id="1054" name="Google Shape;1054;p29"/>
          <p:cNvSpPr txBox="1"/>
          <p:nvPr/>
        </p:nvSpPr>
        <p:spPr>
          <a:xfrm>
            <a:off x="6903720" y="1691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HTML5</a:t>
            </a:r>
            <a:endParaRPr/>
          </a:p>
        </p:txBody>
      </p:sp>
      <p:sp>
        <p:nvSpPr>
          <p:cNvPr id="1055" name="Google Shape;1055;p29"/>
          <p:cNvSpPr txBox="1"/>
          <p:nvPr/>
        </p:nvSpPr>
        <p:spPr>
          <a:xfrm>
            <a:off x="6903720" y="19476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Structure</a:t>
            </a:r>
            <a:endParaRPr/>
          </a:p>
        </p:txBody>
      </p:sp>
      <p:sp>
        <p:nvSpPr>
          <p:cNvPr id="1056" name="Google Shape;1056;p29"/>
          <p:cNvSpPr/>
          <p:nvPr/>
        </p:nvSpPr>
        <p:spPr>
          <a:xfrm>
            <a:off x="6217920" y="246888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9"/>
          <p:cNvSpPr/>
          <p:nvPr/>
        </p:nvSpPr>
        <p:spPr>
          <a:xfrm>
            <a:off x="6309360" y="257860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🎨</a:t>
            </a:r>
            <a:endParaRPr/>
          </a:p>
        </p:txBody>
      </p:sp>
      <p:sp>
        <p:nvSpPr>
          <p:cNvPr id="1058" name="Google Shape;1058;p29"/>
          <p:cNvSpPr txBox="1"/>
          <p:nvPr/>
        </p:nvSpPr>
        <p:spPr>
          <a:xfrm>
            <a:off x="6903720" y="256032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CSS3</a:t>
            </a:r>
            <a:endParaRPr/>
          </a:p>
        </p:txBody>
      </p:sp>
      <p:sp>
        <p:nvSpPr>
          <p:cNvPr id="1059" name="Google Shape;1059;p29"/>
          <p:cNvSpPr txBox="1"/>
          <p:nvPr/>
        </p:nvSpPr>
        <p:spPr>
          <a:xfrm>
            <a:off x="6903720" y="281635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Styling &amp; Themes</a:t>
            </a:r>
            <a:endParaRPr/>
          </a:p>
        </p:txBody>
      </p:sp>
      <p:sp>
        <p:nvSpPr>
          <p:cNvPr id="1060" name="Google Shape;1060;p29"/>
          <p:cNvSpPr/>
          <p:nvPr/>
        </p:nvSpPr>
        <p:spPr>
          <a:xfrm>
            <a:off x="6217920" y="333756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9"/>
          <p:cNvSpPr/>
          <p:nvPr/>
        </p:nvSpPr>
        <p:spPr>
          <a:xfrm>
            <a:off x="6309360" y="344728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</a:t>
            </a:r>
            <a:endParaRPr/>
          </a:p>
        </p:txBody>
      </p:sp>
      <p:sp>
        <p:nvSpPr>
          <p:cNvPr id="1062" name="Google Shape;1062;p29"/>
          <p:cNvSpPr txBox="1"/>
          <p:nvPr/>
        </p:nvSpPr>
        <p:spPr>
          <a:xfrm>
            <a:off x="6903720" y="34290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JavaScript</a:t>
            </a:r>
            <a:endParaRPr/>
          </a:p>
        </p:txBody>
      </p:sp>
      <p:sp>
        <p:nvSpPr>
          <p:cNvPr id="1063" name="Google Shape;1063;p29"/>
          <p:cNvSpPr txBox="1"/>
          <p:nvPr/>
        </p:nvSpPr>
        <p:spPr>
          <a:xfrm>
            <a:off x="6903720" y="3685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Logic &amp; Interactivity</a:t>
            </a:r>
            <a:endParaRPr/>
          </a:p>
        </p:txBody>
      </p:sp>
      <p:sp>
        <p:nvSpPr>
          <p:cNvPr id="1064" name="Google Shape;1064;p29"/>
          <p:cNvSpPr/>
          <p:nvPr/>
        </p:nvSpPr>
        <p:spPr>
          <a:xfrm>
            <a:off x="6217920" y="420624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9"/>
          <p:cNvSpPr/>
          <p:nvPr/>
        </p:nvSpPr>
        <p:spPr>
          <a:xfrm>
            <a:off x="6309360" y="431596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066" name="Google Shape;1066;p29"/>
          <p:cNvSpPr txBox="1"/>
          <p:nvPr/>
        </p:nvSpPr>
        <p:spPr>
          <a:xfrm>
            <a:off x="6903720" y="4297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ApexCharts</a:t>
            </a:r>
            <a:endParaRPr/>
          </a:p>
        </p:txBody>
      </p:sp>
      <p:sp>
        <p:nvSpPr>
          <p:cNvPr id="1067" name="Google Shape;1067;p29"/>
          <p:cNvSpPr txBox="1"/>
          <p:nvPr/>
        </p:nvSpPr>
        <p:spPr>
          <a:xfrm>
            <a:off x="6903720" y="4553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Chart Library</a:t>
            </a:r>
            <a:endParaRPr/>
          </a:p>
        </p:txBody>
      </p:sp>
      <p:sp>
        <p:nvSpPr>
          <p:cNvPr id="1068" name="Google Shape;1068;p29"/>
          <p:cNvSpPr/>
          <p:nvPr/>
        </p:nvSpPr>
        <p:spPr>
          <a:xfrm>
            <a:off x="6217920" y="507492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9"/>
          <p:cNvSpPr/>
          <p:nvPr/>
        </p:nvSpPr>
        <p:spPr>
          <a:xfrm>
            <a:off x="6309360" y="518464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🗺</a:t>
            </a:r>
            <a:endParaRPr/>
          </a:p>
        </p:txBody>
      </p:sp>
      <p:sp>
        <p:nvSpPr>
          <p:cNvPr id="1070" name="Google Shape;1070;p29"/>
          <p:cNvSpPr txBox="1"/>
          <p:nvPr/>
        </p:nvSpPr>
        <p:spPr>
          <a:xfrm>
            <a:off x="6903720" y="516636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Plotly.js</a:t>
            </a:r>
            <a:endParaRPr/>
          </a:p>
        </p:txBody>
      </p:sp>
      <p:sp>
        <p:nvSpPr>
          <p:cNvPr id="1071" name="Google Shape;1071;p29"/>
          <p:cNvSpPr txBox="1"/>
          <p:nvPr/>
        </p:nvSpPr>
        <p:spPr>
          <a:xfrm>
            <a:off x="6903720" y="542239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Maps &amp; Visualizations</a:t>
            </a:r>
            <a:endParaRPr/>
          </a:p>
        </p:txBody>
      </p:sp>
      <p:sp>
        <p:nvSpPr>
          <p:cNvPr id="1072" name="Google Shape;1072;p29"/>
          <p:cNvSpPr/>
          <p:nvPr/>
        </p:nvSpPr>
        <p:spPr>
          <a:xfrm>
            <a:off x="9144000" y="1097280"/>
            <a:ext cx="2697480" cy="411480"/>
          </a:xfrm>
          <a:prstGeom prst="roundRect">
            <a:avLst>
              <a:gd name="adj" fmla="val 16667"/>
            </a:avLst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9"/>
          <p:cNvSpPr txBox="1"/>
          <p:nvPr/>
        </p:nvSpPr>
        <p:spPr>
          <a:xfrm>
            <a:off x="9235440" y="115214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DevOps &amp; Tools</a:t>
            </a:r>
            <a:endParaRPr/>
          </a:p>
        </p:txBody>
      </p:sp>
      <p:sp>
        <p:nvSpPr>
          <p:cNvPr id="1074" name="Google Shape;1074;p29"/>
          <p:cNvSpPr/>
          <p:nvPr/>
        </p:nvSpPr>
        <p:spPr>
          <a:xfrm>
            <a:off x="9144000" y="160020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9"/>
          <p:cNvSpPr/>
          <p:nvPr/>
        </p:nvSpPr>
        <p:spPr>
          <a:xfrm>
            <a:off x="9235440" y="170992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📁</a:t>
            </a:r>
            <a:endParaRPr/>
          </a:p>
        </p:txBody>
      </p:sp>
      <p:sp>
        <p:nvSpPr>
          <p:cNvPr id="1076" name="Google Shape;1076;p29"/>
          <p:cNvSpPr txBox="1"/>
          <p:nvPr/>
        </p:nvSpPr>
        <p:spPr>
          <a:xfrm>
            <a:off x="9829800" y="169164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</a:t>
            </a:r>
            <a:endParaRPr/>
          </a:p>
        </p:txBody>
      </p:sp>
      <p:sp>
        <p:nvSpPr>
          <p:cNvPr id="1077" name="Google Shape;1077;p29"/>
          <p:cNvSpPr txBox="1"/>
          <p:nvPr/>
        </p:nvSpPr>
        <p:spPr>
          <a:xfrm>
            <a:off x="9829800" y="194767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Version Control</a:t>
            </a:r>
            <a:endParaRPr/>
          </a:p>
        </p:txBody>
      </p:sp>
      <p:sp>
        <p:nvSpPr>
          <p:cNvPr id="1078" name="Google Shape;1078;p29"/>
          <p:cNvSpPr/>
          <p:nvPr/>
        </p:nvSpPr>
        <p:spPr>
          <a:xfrm>
            <a:off x="9144000" y="246888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9"/>
          <p:cNvSpPr/>
          <p:nvPr/>
        </p:nvSpPr>
        <p:spPr>
          <a:xfrm>
            <a:off x="9235440" y="257860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💻</a:t>
            </a:r>
            <a:endParaRPr/>
          </a:p>
        </p:txBody>
      </p:sp>
      <p:sp>
        <p:nvSpPr>
          <p:cNvPr id="1080" name="Google Shape;1080;p29"/>
          <p:cNvSpPr txBox="1"/>
          <p:nvPr/>
        </p:nvSpPr>
        <p:spPr>
          <a:xfrm>
            <a:off x="9829800" y="256032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 Code</a:t>
            </a:r>
            <a:endParaRPr/>
          </a:p>
        </p:txBody>
      </p:sp>
      <p:sp>
        <p:nvSpPr>
          <p:cNvPr id="1081" name="Google Shape;1081;p29"/>
          <p:cNvSpPr txBox="1"/>
          <p:nvPr/>
        </p:nvSpPr>
        <p:spPr>
          <a:xfrm>
            <a:off x="9829800" y="281635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</a:t>
            </a:r>
            <a:endParaRPr/>
          </a:p>
        </p:txBody>
      </p:sp>
      <p:sp>
        <p:nvSpPr>
          <p:cNvPr id="1082" name="Google Shape;1082;p29"/>
          <p:cNvSpPr/>
          <p:nvPr/>
        </p:nvSpPr>
        <p:spPr>
          <a:xfrm>
            <a:off x="9144000" y="333756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9"/>
          <p:cNvSpPr/>
          <p:nvPr/>
        </p:nvSpPr>
        <p:spPr>
          <a:xfrm>
            <a:off x="9235440" y="344728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🅱</a:t>
            </a:r>
            <a:endParaRPr/>
          </a:p>
        </p:txBody>
      </p:sp>
      <p:sp>
        <p:nvSpPr>
          <p:cNvPr id="1084" name="Google Shape;1084;p29"/>
          <p:cNvSpPr txBox="1"/>
          <p:nvPr/>
        </p:nvSpPr>
        <p:spPr>
          <a:xfrm>
            <a:off x="9829800" y="34290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Bootstrap 5</a:t>
            </a:r>
            <a:endParaRPr/>
          </a:p>
        </p:txBody>
      </p:sp>
      <p:sp>
        <p:nvSpPr>
          <p:cNvPr id="1085" name="Google Shape;1085;p29"/>
          <p:cNvSpPr txBox="1"/>
          <p:nvPr/>
        </p:nvSpPr>
        <p:spPr>
          <a:xfrm>
            <a:off x="9829800" y="368503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 Framework</a:t>
            </a:r>
            <a:endParaRPr/>
          </a:p>
        </p:txBody>
      </p:sp>
      <p:sp>
        <p:nvSpPr>
          <p:cNvPr id="1086" name="Google Shape;1086;p29"/>
          <p:cNvSpPr/>
          <p:nvPr/>
        </p:nvSpPr>
        <p:spPr>
          <a:xfrm>
            <a:off x="9144000" y="420624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9"/>
          <p:cNvSpPr/>
          <p:nvPr/>
        </p:nvSpPr>
        <p:spPr>
          <a:xfrm>
            <a:off x="9235440" y="431596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🔤</a:t>
            </a:r>
            <a:endParaRPr/>
          </a:p>
        </p:txBody>
      </p:sp>
      <p:sp>
        <p:nvSpPr>
          <p:cNvPr id="1088" name="Google Shape;1088;p29"/>
          <p:cNvSpPr txBox="1"/>
          <p:nvPr/>
        </p:nvSpPr>
        <p:spPr>
          <a:xfrm>
            <a:off x="9829800" y="42976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Font Awesome</a:t>
            </a:r>
            <a:endParaRPr/>
          </a:p>
        </p:txBody>
      </p:sp>
      <p:sp>
        <p:nvSpPr>
          <p:cNvPr id="1089" name="Google Shape;1089;p29"/>
          <p:cNvSpPr txBox="1"/>
          <p:nvPr/>
        </p:nvSpPr>
        <p:spPr>
          <a:xfrm>
            <a:off x="9829800" y="455371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Icon Library</a:t>
            </a:r>
            <a:endParaRPr/>
          </a:p>
        </p:txBody>
      </p:sp>
      <p:sp>
        <p:nvSpPr>
          <p:cNvPr id="1090" name="Google Shape;1090;p29"/>
          <p:cNvSpPr/>
          <p:nvPr/>
        </p:nvSpPr>
        <p:spPr>
          <a:xfrm>
            <a:off x="9144000" y="5074920"/>
            <a:ext cx="2697480" cy="749808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9"/>
          <p:cNvSpPr/>
          <p:nvPr/>
        </p:nvSpPr>
        <p:spPr>
          <a:xfrm>
            <a:off x="9235440" y="5184648"/>
            <a:ext cx="502920" cy="502920"/>
          </a:xfrm>
          <a:prstGeom prst="ellipse">
            <a:avLst/>
          </a:prstGeom>
          <a:solidFill>
            <a:srgbClr val="0818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📋</a:t>
            </a:r>
            <a:endParaRPr/>
          </a:p>
        </p:txBody>
      </p:sp>
      <p:sp>
        <p:nvSpPr>
          <p:cNvPr id="1092" name="Google Shape;1092;p29"/>
          <p:cNvSpPr txBox="1"/>
          <p:nvPr/>
        </p:nvSpPr>
        <p:spPr>
          <a:xfrm>
            <a:off x="9829800" y="516636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Compose</a:t>
            </a:r>
            <a:endParaRPr/>
          </a:p>
        </p:txBody>
      </p:sp>
      <p:sp>
        <p:nvSpPr>
          <p:cNvPr id="1093" name="Google Shape;1093;p29"/>
          <p:cNvSpPr txBox="1"/>
          <p:nvPr/>
        </p:nvSpPr>
        <p:spPr>
          <a:xfrm>
            <a:off x="9829800" y="542239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Orchestration</a:t>
            </a:r>
            <a:endParaRPr/>
          </a:p>
        </p:txBody>
      </p:sp>
      <p:sp>
        <p:nvSpPr>
          <p:cNvPr id="1094" name="Google Shape;1094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096" name="Google Shape;1096;p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 / 26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0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0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Overview</a:t>
            </a:r>
            <a:endParaRPr/>
          </a:p>
        </p:txBody>
      </p:sp>
      <p:sp>
        <p:nvSpPr>
          <p:cNvPr id="1104" name="Google Shape;1104;p30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0"/>
          <p:cNvSpPr txBox="1"/>
          <p:nvPr/>
        </p:nvSpPr>
        <p:spPr>
          <a:xfrm>
            <a:off x="640080" y="8229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AutoScale AI — Real-Time Predictive Monitoring Dashboard</a:t>
            </a:r>
            <a:endParaRPr/>
          </a:p>
        </p:txBody>
      </p:sp>
      <p:grpSp>
        <p:nvGrpSpPr>
          <p:cNvPr id="1106" name="Google Shape;1106;p30"/>
          <p:cNvGrpSpPr/>
          <p:nvPr/>
        </p:nvGrpSpPr>
        <p:grpSpPr>
          <a:xfrm>
            <a:off x="571500" y="1238250"/>
            <a:ext cx="6096000" cy="3429000"/>
            <a:chOff x="0" y="0"/>
            <a:chExt cx="6096000" cy="3429000"/>
          </a:xfrm>
        </p:grpSpPr>
        <p:sp>
          <p:nvSpPr>
            <p:cNvPr id="1107" name="Google Shape;1107;p30"/>
            <p:cNvSpPr/>
            <p:nvPr/>
          </p:nvSpPr>
          <p:spPr>
            <a:xfrm>
              <a:off x="0" y="0"/>
              <a:ext cx="6096000" cy="3429000"/>
            </a:xfrm>
            <a:prstGeom prst="roundRect">
              <a:avLst>
                <a:gd name="adj" fmla="val 4444"/>
              </a:avLst>
            </a:prstGeom>
            <a:solidFill>
              <a:srgbClr val="0A1A3C"/>
            </a:solidFill>
            <a:ln w="19050" cap="flat" cmpd="sng">
              <a:solidFill>
                <a:srgbClr val="142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>
              <a:off x="0" y="0"/>
              <a:ext cx="6096000" cy="381000"/>
            </a:xfrm>
            <a:prstGeom prst="roundRect">
              <a:avLst>
                <a:gd name="adj" fmla="val 40000"/>
              </a:avLst>
            </a:prstGeom>
            <a:solidFill>
              <a:srgbClr val="0E245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>
              <a:off x="133350" y="133350"/>
              <a:ext cx="114300" cy="114300"/>
            </a:xfrm>
            <a:prstGeom prst="ellipse">
              <a:avLst/>
            </a:prstGeom>
            <a:solidFill>
              <a:srgbClr val="FF4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>
              <a:off x="285750" y="133350"/>
              <a:ext cx="114300" cy="114300"/>
            </a:xfrm>
            <a:prstGeom prst="ellipse">
              <a:avLst/>
            </a:prstGeom>
            <a:solidFill>
              <a:srgbClr val="FF9F4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>
              <a:off x="438150" y="133350"/>
              <a:ext cx="114300" cy="114300"/>
            </a:xfrm>
            <a:prstGeom prst="ellipse">
              <a:avLst/>
            </a:prstGeom>
            <a:solidFill>
              <a:srgbClr val="00D68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 txBox="1"/>
            <p:nvPr/>
          </p:nvSpPr>
          <p:spPr>
            <a:xfrm>
              <a:off x="762000" y="7620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AutoScale AI — Live Predictive Monitoring Dashboard</a:t>
              </a:r>
              <a:endParaRPr sz="100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190500" y="571500"/>
              <a:ext cx="3905400" cy="1905000"/>
            </a:xfrm>
            <a:prstGeom prst="roundRect">
              <a:avLst>
                <a:gd name="adj" fmla="val 4000"/>
              </a:avLst>
            </a:prstGeom>
            <a:solidFill>
              <a:srgbClr val="050E2B"/>
            </a:solidFill>
            <a:ln w="9525" cap="flat" cmpd="sng">
              <a:solidFill>
                <a:srgbClr val="142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285750" y="762000"/>
              <a:ext cx="3429000" cy="1428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20000" y="88000"/>
                  </a:lnTo>
                  <a:lnTo>
                    <a:pt x="40000" y="104000"/>
                  </a:lnTo>
                  <a:lnTo>
                    <a:pt x="60000" y="32000"/>
                  </a:lnTo>
                  <a:lnTo>
                    <a:pt x="80000" y="64000"/>
                  </a:lnTo>
                  <a:lnTo>
                    <a:pt x="100000" y="0"/>
                  </a:lnTo>
                  <a:lnTo>
                    <a:pt x="120000" y="16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857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285750" y="762000"/>
              <a:ext cx="3429000" cy="16191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05882"/>
                  </a:moveTo>
                  <a:lnTo>
                    <a:pt x="20000" y="77647"/>
                  </a:lnTo>
                  <a:lnTo>
                    <a:pt x="40000" y="91765"/>
                  </a:lnTo>
                  <a:lnTo>
                    <a:pt x="60000" y="28235"/>
                  </a:lnTo>
                  <a:lnTo>
                    <a:pt x="80000" y="56471"/>
                  </a:lnTo>
                  <a:lnTo>
                    <a:pt x="100000" y="0"/>
                  </a:lnTo>
                  <a:lnTo>
                    <a:pt x="120000" y="14118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BFFF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 txBox="1"/>
            <p:nvPr/>
          </p:nvSpPr>
          <p:spPr>
            <a:xfrm>
              <a:off x="285750" y="666750"/>
              <a:ext cx="1428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Real-Time Traffic</a:t>
              </a:r>
              <a:endParaRPr sz="9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4286250" y="571500"/>
              <a:ext cx="1619100" cy="857400"/>
            </a:xfrm>
            <a:prstGeom prst="roundRect">
              <a:avLst>
                <a:gd name="adj" fmla="val 8888"/>
              </a:avLst>
            </a:prstGeom>
            <a:solidFill>
              <a:srgbClr val="050E2B"/>
            </a:solidFill>
            <a:ln w="9525" cap="flat" cmpd="sng">
              <a:solidFill>
                <a:srgbClr val="142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 txBox="1"/>
            <p:nvPr/>
          </p:nvSpPr>
          <p:spPr>
            <a:xfrm>
              <a:off x="4381500" y="666750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98.5%</a:t>
              </a:r>
              <a:br>
                <a:rPr lang="en-US">
                  <a:latin typeface="Quattrocento Sans"/>
                  <a:ea typeface="Quattrocento Sans"/>
                  <a:cs typeface="Quattrocento Sans"/>
                  <a:sym typeface="Quattrocento Sans"/>
                </a:rPr>
              </a:br>
              <a:r>
                <a:rPr lang="en-US" sz="8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Model Accuracy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4286250" y="1619250"/>
              <a:ext cx="1619100" cy="857400"/>
            </a:xfrm>
            <a:prstGeom prst="roundRect">
              <a:avLst>
                <a:gd name="adj" fmla="val 8888"/>
              </a:avLst>
            </a:prstGeom>
            <a:solidFill>
              <a:srgbClr val="050E2B"/>
            </a:solidFill>
            <a:ln w="9525" cap="flat" cmpd="sng">
              <a:solidFill>
                <a:srgbClr val="142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0"/>
            <p:cNvSpPr txBox="1"/>
            <p:nvPr/>
          </p:nvSpPr>
          <p:spPr>
            <a:xfrm>
              <a:off x="4381500" y="1714500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4D4D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&lt; 5 ms</a:t>
              </a:r>
              <a:br>
                <a:rPr lang="en-US">
                  <a:latin typeface="Quattrocento Sans"/>
                  <a:ea typeface="Quattrocento Sans"/>
                  <a:cs typeface="Quattrocento Sans"/>
                  <a:sym typeface="Quattrocento Sans"/>
                </a:rPr>
              </a:br>
              <a:r>
                <a:rPr lang="en-US" sz="8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Avg Latency</a:t>
              </a:r>
              <a:endParaRPr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21" name="Google Shape;1121;p30"/>
            <p:cNvSpPr txBox="1"/>
            <p:nvPr/>
          </p:nvSpPr>
          <p:spPr>
            <a:xfrm>
              <a:off x="190500" y="2667000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📸 Dashboard Home Page — KPI Cards, Traffic Chart, Gauges</a:t>
              </a:r>
              <a:endParaRPr sz="110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6953250" y="1238250"/>
            <a:ext cx="4667175" cy="3429150"/>
            <a:chOff x="0" y="0"/>
            <a:chExt cx="4667175" cy="3429150"/>
          </a:xfrm>
        </p:grpSpPr>
        <p:grpSp>
          <p:nvGrpSpPr>
            <p:cNvPr id="1123" name="Google Shape;1123;p30"/>
            <p:cNvGrpSpPr/>
            <p:nvPr/>
          </p:nvGrpSpPr>
          <p:grpSpPr>
            <a:xfrm>
              <a:off x="0" y="0"/>
              <a:ext cx="2238300" cy="1047900"/>
              <a:chOff x="0" y="0"/>
              <a:chExt cx="2238300" cy="1047900"/>
            </a:xfrm>
          </p:grpSpPr>
          <p:sp>
            <p:nvSpPr>
              <p:cNvPr id="1124" name="Google Shape;1124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006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📊 KPI Metric Cards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Request count, active users, CPU/memory, response time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27" name="Google Shape;1127;p30"/>
            <p:cNvGrpSpPr/>
            <p:nvPr/>
          </p:nvGrpSpPr>
          <p:grpSpPr>
            <a:xfrm>
              <a:off x="2428875" y="0"/>
              <a:ext cx="2238300" cy="1047900"/>
              <a:chOff x="0" y="0"/>
              <a:chExt cx="2238300" cy="1047900"/>
            </a:xfrm>
          </p:grpSpPr>
          <p:sp>
            <p:nvSpPr>
              <p:cNvPr id="1128" name="Google Shape;1128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00B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📈 Prediction Graph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Actual vs Predicted vs Forecast real-time traffic visualization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31" name="Google Shape;1131;p30"/>
            <p:cNvGrpSpPr/>
            <p:nvPr/>
          </p:nvGrpSpPr>
          <p:grpSpPr>
            <a:xfrm>
              <a:off x="0" y="1190625"/>
              <a:ext cx="2238300" cy="1047900"/>
              <a:chOff x="0" y="0"/>
              <a:chExt cx="2238300" cy="1047900"/>
            </a:xfrm>
          </p:grpSpPr>
          <p:sp>
            <p:nvSpPr>
              <p:cNvPr id="1132" name="Google Shape;1132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00D68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🖥 Resource Gauges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CPU, Memory, Queue radial gauges with live updates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35" name="Google Shape;1135;p30"/>
            <p:cNvGrpSpPr/>
            <p:nvPr/>
          </p:nvGrpSpPr>
          <p:grpSpPr>
            <a:xfrm>
              <a:off x="2428875" y="1190625"/>
              <a:ext cx="2238300" cy="1047900"/>
              <a:chOff x="0" y="0"/>
              <a:chExt cx="2238300" cy="1047900"/>
            </a:xfrm>
          </p:grpSpPr>
          <p:sp>
            <p:nvSpPr>
              <p:cNvPr id="1136" name="Google Shape;1136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FF9F4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⏱ Scaling Timeline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Current vs Recommended servers with scaling action history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39" name="Google Shape;1139;p30"/>
            <p:cNvGrpSpPr/>
            <p:nvPr/>
          </p:nvGrpSpPr>
          <p:grpSpPr>
            <a:xfrm>
              <a:off x="0" y="2381250"/>
              <a:ext cx="2238300" cy="1047900"/>
              <a:chOff x="0" y="0"/>
              <a:chExt cx="2238300" cy="1047900"/>
            </a:xfrm>
          </p:grpSpPr>
          <p:sp>
            <p:nvSpPr>
              <p:cNvPr id="1140" name="Google Shape;1140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FF4D4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🔔 Alert System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CPU/Memory warnings, error rate alerts, queue depth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43" name="Google Shape;1143;p30"/>
            <p:cNvGrpSpPr/>
            <p:nvPr/>
          </p:nvGrpSpPr>
          <p:grpSpPr>
            <a:xfrm>
              <a:off x="2428875" y="2381250"/>
              <a:ext cx="2238300" cy="1047900"/>
              <a:chOff x="0" y="0"/>
              <a:chExt cx="2238300" cy="1047900"/>
            </a:xfrm>
          </p:grpSpPr>
          <p:sp>
            <p:nvSpPr>
              <p:cNvPr id="1144" name="Google Shape;1144;p30"/>
              <p:cNvSpPr/>
              <p:nvPr/>
            </p:nvSpPr>
            <p:spPr>
              <a:xfrm>
                <a:off x="0" y="0"/>
                <a:ext cx="2238300" cy="1047900"/>
              </a:xfrm>
              <a:prstGeom prst="roundRect">
                <a:avLst>
                  <a:gd name="adj" fmla="val 10909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30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A85C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0"/>
              <p:cNvSpPr txBox="1"/>
              <p:nvPr/>
            </p:nvSpPr>
            <p:spPr>
              <a:xfrm>
                <a:off x="190500" y="142875"/>
                <a:ext cx="1905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⚙ Settings Panel</a:t>
                </a:r>
                <a:br>
                  <a:rPr lang="en-US">
                    <a:latin typeface="Quattrocento Sans"/>
                    <a:ea typeface="Quattrocento Sans"/>
                    <a:cs typeface="Quattrocento Sans"/>
                    <a:sym typeface="Quattrocento Sans"/>
                  </a:rPr>
                </a:br>
                <a:r>
                  <a:rPr lang="en-US" sz="8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Theme toggle, auto-refresh, interval config, API URL</a:t>
                </a:r>
                <a:endParaRPr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1147" name="Google Shape;1147;p30"/>
          <p:cNvGrpSpPr/>
          <p:nvPr/>
        </p:nvGrpSpPr>
        <p:grpSpPr>
          <a:xfrm>
            <a:off x="571500" y="4857750"/>
            <a:ext cx="11049000" cy="1428900"/>
            <a:chOff x="0" y="0"/>
            <a:chExt cx="11049000" cy="1428900"/>
          </a:xfrm>
        </p:grpSpPr>
        <p:sp>
          <p:nvSpPr>
            <p:cNvPr id="1148" name="Google Shape;1148;p30"/>
            <p:cNvSpPr/>
            <p:nvPr/>
          </p:nvSpPr>
          <p:spPr>
            <a:xfrm>
              <a:off x="0" y="0"/>
              <a:ext cx="11049000" cy="1428900"/>
            </a:xfrm>
            <a:prstGeom prst="roundRect">
              <a:avLst>
                <a:gd name="adj" fmla="val 10666"/>
              </a:avLst>
            </a:prstGeom>
            <a:solidFill>
              <a:srgbClr val="061028"/>
            </a:solidFill>
            <a:ln w="14300" cap="flat" cmpd="sng">
              <a:solidFill>
                <a:srgbClr val="142A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0"/>
            <p:cNvSpPr txBox="1"/>
            <p:nvPr/>
          </p:nvSpPr>
          <p:spPr>
            <a:xfrm>
              <a:off x="238125" y="1905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📋 9 Dashboard Pages</a:t>
              </a:r>
              <a:endParaRPr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1150" name="Google Shape;1150;p30"/>
            <p:cNvGrpSpPr/>
            <p:nvPr/>
          </p:nvGrpSpPr>
          <p:grpSpPr>
            <a:xfrm>
              <a:off x="238125" y="571500"/>
              <a:ext cx="10515600" cy="571500"/>
              <a:chOff x="0" y="0"/>
              <a:chExt cx="10515600" cy="571500"/>
            </a:xfrm>
          </p:grpSpPr>
          <p:grpSp>
            <p:nvGrpSpPr>
              <p:cNvPr id="1151" name="Google Shape;1151;p30"/>
              <p:cNvGrpSpPr/>
              <p:nvPr/>
            </p:nvGrpSpPr>
            <p:grpSpPr>
              <a:xfrm>
                <a:off x="0" y="0"/>
                <a:ext cx="1066800" cy="571500"/>
                <a:chOff x="0" y="0"/>
                <a:chExt cx="1066800" cy="571500"/>
              </a:xfrm>
            </p:grpSpPr>
            <p:sp>
              <p:nvSpPr>
                <p:cNvPr id="1152" name="Google Shape;1152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062FF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3" name="Google Shape;1153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 b="1">
                      <a:solidFill>
                        <a:srgbClr val="FFFFFF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Dashboard</a:t>
                  </a:r>
                  <a:endParaRPr sz="10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54" name="Google Shape;1154;p30"/>
              <p:cNvGrpSpPr/>
              <p:nvPr/>
            </p:nvGrpSpPr>
            <p:grpSpPr>
              <a:xfrm>
                <a:off x="1181100" y="0"/>
                <a:ext cx="1066800" cy="571500"/>
                <a:chOff x="0" y="0"/>
                <a:chExt cx="1066800" cy="571500"/>
              </a:xfrm>
            </p:grpSpPr>
            <p:sp>
              <p:nvSpPr>
                <p:cNvPr id="1155" name="Google Shape;1155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Live Traffic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57" name="Google Shape;1157;p30"/>
              <p:cNvGrpSpPr/>
              <p:nvPr/>
            </p:nvGrpSpPr>
            <p:grpSpPr>
              <a:xfrm>
                <a:off x="2362200" y="0"/>
                <a:ext cx="1066800" cy="571500"/>
                <a:chOff x="0" y="0"/>
                <a:chExt cx="1066800" cy="571500"/>
              </a:xfrm>
            </p:grpSpPr>
            <p:sp>
              <p:nvSpPr>
                <p:cNvPr id="1158" name="Google Shape;1158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9" name="Google Shape;1159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Analytics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60" name="Google Shape;1160;p30"/>
              <p:cNvGrpSpPr/>
              <p:nvPr/>
            </p:nvGrpSpPr>
            <p:grpSpPr>
              <a:xfrm>
                <a:off x="3543300" y="0"/>
                <a:ext cx="1066800" cy="571500"/>
                <a:chOff x="0" y="0"/>
                <a:chExt cx="1066800" cy="571500"/>
              </a:xfrm>
            </p:grpSpPr>
            <p:sp>
              <p:nvSpPr>
                <p:cNvPr id="1161" name="Google Shape;1161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Infrastructure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63" name="Google Shape;1163;p30"/>
              <p:cNvGrpSpPr/>
              <p:nvPr/>
            </p:nvGrpSpPr>
            <p:grpSpPr>
              <a:xfrm>
                <a:off x="4724400" y="0"/>
                <a:ext cx="1066800" cy="571500"/>
                <a:chOff x="0" y="0"/>
                <a:chExt cx="1066800" cy="571500"/>
              </a:xfrm>
            </p:grpSpPr>
            <p:sp>
              <p:nvSpPr>
                <p:cNvPr id="1164" name="Google Shape;1164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Autoscaling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66" name="Google Shape;1166;p30"/>
              <p:cNvGrpSpPr/>
              <p:nvPr/>
            </p:nvGrpSpPr>
            <p:grpSpPr>
              <a:xfrm>
                <a:off x="5905500" y="0"/>
                <a:ext cx="1066800" cy="571500"/>
                <a:chOff x="0" y="0"/>
                <a:chExt cx="1066800" cy="571500"/>
              </a:xfrm>
            </p:grpSpPr>
            <p:sp>
              <p:nvSpPr>
                <p:cNvPr id="1167" name="Google Shape;1167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Global Traffic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69" name="Google Shape;1169;p30"/>
              <p:cNvGrpSpPr/>
              <p:nvPr/>
            </p:nvGrpSpPr>
            <p:grpSpPr>
              <a:xfrm>
                <a:off x="7086600" y="0"/>
                <a:ext cx="1066800" cy="571500"/>
                <a:chOff x="0" y="0"/>
                <a:chExt cx="1066800" cy="571500"/>
              </a:xfrm>
            </p:grpSpPr>
            <p:sp>
              <p:nvSpPr>
                <p:cNvPr id="1170" name="Google Shape;1170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ML Prediction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72" name="Google Shape;1172;p30"/>
              <p:cNvGrpSpPr/>
              <p:nvPr/>
            </p:nvGrpSpPr>
            <p:grpSpPr>
              <a:xfrm>
                <a:off x="8267700" y="0"/>
                <a:ext cx="1066800" cy="571500"/>
                <a:chOff x="0" y="0"/>
                <a:chExt cx="1066800" cy="571500"/>
              </a:xfrm>
            </p:grpSpPr>
            <p:sp>
              <p:nvSpPr>
                <p:cNvPr id="1173" name="Google Shape;1173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Reports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  <p:grpSp>
            <p:nvGrpSpPr>
              <p:cNvPr id="1175" name="Google Shape;1175;p30"/>
              <p:cNvGrpSpPr/>
              <p:nvPr/>
            </p:nvGrpSpPr>
            <p:grpSpPr>
              <a:xfrm>
                <a:off x="9448800" y="0"/>
                <a:ext cx="1066800" cy="571500"/>
                <a:chOff x="0" y="0"/>
                <a:chExt cx="1066800" cy="571500"/>
              </a:xfrm>
            </p:grpSpPr>
            <p:sp>
              <p:nvSpPr>
                <p:cNvPr id="1176" name="Google Shape;1176;p30"/>
                <p:cNvSpPr/>
                <p:nvPr/>
              </p:nvSpPr>
              <p:spPr>
                <a:xfrm>
                  <a:off x="0" y="0"/>
                  <a:ext cx="1066800" cy="571500"/>
                </a:xfrm>
                <a:prstGeom prst="roundRect">
                  <a:avLst>
                    <a:gd name="adj" fmla="val 13333"/>
                  </a:avLst>
                </a:prstGeom>
                <a:solidFill>
                  <a:srgbClr val="0A1A3C"/>
                </a:solidFill>
                <a:ln w="11425" cap="flat" cmpd="sng">
                  <a:solidFill>
                    <a:srgbClr val="142A5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7" name="Google Shape;1177;p30"/>
                <p:cNvSpPr txBox="1"/>
                <p:nvPr/>
              </p:nvSpPr>
              <p:spPr>
                <a:xfrm>
                  <a:off x="0" y="0"/>
                  <a:ext cx="1066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8C99B3"/>
                      </a:solidFill>
                      <a:latin typeface="Quattrocento Sans"/>
                      <a:ea typeface="Quattrocento Sans"/>
                      <a:cs typeface="Quattrocento Sans"/>
                      <a:sym typeface="Quattrocento Sans"/>
                    </a:rPr>
                    <a:t>Settings</a:t>
                  </a:r>
                  <a:endParaRPr sz="10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endParaRPr>
                </a:p>
              </p:txBody>
            </p:sp>
          </p:grpSp>
        </p:grpSp>
      </p:grpSp>
      <p:sp>
        <p:nvSpPr>
          <p:cNvPr id="1178" name="Google Shape;1178;p30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0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180" name="Google Shape;1180;p30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 / 26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57E78-6C92-7AE4-7BCA-EE403ABF6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252260"/>
            <a:ext cx="61531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31"/>
          <p:cNvSpPr/>
          <p:nvPr/>
        </p:nvSpPr>
        <p:spPr>
          <a:xfrm>
            <a:off x="0" y="0"/>
            <a:ext cx="12191700" cy="5490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1"/>
          <p:cNvSpPr txBox="1"/>
          <p:nvPr/>
        </p:nvSpPr>
        <p:spPr>
          <a:xfrm>
            <a:off x="640080" y="228600"/>
            <a:ext cx="1005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Analytics Dashboard</a:t>
            </a:r>
            <a:endParaRPr/>
          </a:p>
        </p:txBody>
      </p:sp>
      <p:sp>
        <p:nvSpPr>
          <p:cNvPr id="1188" name="Google Shape;1188;p31"/>
          <p:cNvSpPr/>
          <p:nvPr/>
        </p:nvSpPr>
        <p:spPr>
          <a:xfrm>
            <a:off x="640080" y="731520"/>
            <a:ext cx="1828800" cy="3660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1"/>
          <p:cNvSpPr txBox="1"/>
          <p:nvPr/>
        </p:nvSpPr>
        <p:spPr>
          <a:xfrm>
            <a:off x="640080" y="8229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Worldwide Traffic Distribution &amp; Platform Insights</a:t>
            </a:r>
            <a:endParaRPr/>
          </a:p>
        </p:txBody>
      </p:sp>
      <p:grpSp>
        <p:nvGrpSpPr>
          <p:cNvPr id="1190" name="Google Shape;1190;p31"/>
          <p:cNvGrpSpPr/>
          <p:nvPr/>
        </p:nvGrpSpPr>
        <p:grpSpPr>
          <a:xfrm>
            <a:off x="457200" y="1143000"/>
            <a:ext cx="11268000" cy="4848225"/>
            <a:chOff x="457200" y="1143000"/>
            <a:chExt cx="11268000" cy="4848225"/>
          </a:xfrm>
        </p:grpSpPr>
        <p:grpSp>
          <p:nvGrpSpPr>
            <p:cNvPr id="1191" name="Google Shape;1191;p31"/>
            <p:cNvGrpSpPr/>
            <p:nvPr/>
          </p:nvGrpSpPr>
          <p:grpSpPr>
            <a:xfrm>
              <a:off x="457200" y="1143000"/>
              <a:ext cx="6667500" cy="3143400"/>
              <a:chOff x="0" y="0"/>
              <a:chExt cx="6667500" cy="3143400"/>
            </a:xfrm>
          </p:grpSpPr>
          <p:sp>
            <p:nvSpPr>
              <p:cNvPr id="1192" name="Google Shape;1192;p31"/>
              <p:cNvSpPr/>
              <p:nvPr/>
            </p:nvSpPr>
            <p:spPr>
              <a:xfrm>
                <a:off x="0" y="0"/>
                <a:ext cx="6667500" cy="3143400"/>
              </a:xfrm>
              <a:prstGeom prst="roundRect">
                <a:avLst>
                  <a:gd name="adj" fmla="val 4848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193" name="Google Shape;1193;p31" descr="A high-tech dark blue world map with glowing cyan and blue connection lines and data points representing global internet traffic futuristic dashboard style"/>
              <p:cNvPicPr preferRelativeResize="0"/>
              <p:nvPr/>
            </p:nvPicPr>
            <p:blipFill rotWithShape="1">
              <a:blip r:embed="rId3">
                <a:alphaModFix/>
              </a:blip>
              <a:srcRect t="8096" b="8096"/>
              <a:stretch/>
            </p:blipFill>
            <p:spPr>
              <a:xfrm>
                <a:off x="0" y="0"/>
                <a:ext cx="6667500" cy="3143400"/>
              </a:xfrm>
              <a:prstGeom prst="roundRect">
                <a:avLst>
                  <a:gd name="adj" fmla="val 4848"/>
                </a:avLst>
              </a:prstGeom>
              <a:noFill/>
              <a:ln>
                <a:noFill/>
              </a:ln>
            </p:spPr>
          </p:pic>
          <p:sp>
            <p:nvSpPr>
              <p:cNvPr id="1194" name="Google Shape;1194;p31"/>
              <p:cNvSpPr/>
              <p:nvPr/>
            </p:nvSpPr>
            <p:spPr>
              <a:xfrm>
                <a:off x="0" y="2762250"/>
                <a:ext cx="6667500" cy="381000"/>
              </a:xfrm>
              <a:prstGeom prst="roundRect">
                <a:avLst>
                  <a:gd name="adj" fmla="val 0"/>
                </a:avLst>
              </a:prstGeom>
              <a:solidFill>
                <a:srgbClr val="050E2B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1"/>
              <p:cNvSpPr txBox="1"/>
              <p:nvPr/>
            </p:nvSpPr>
            <p:spPr>
              <a:xfrm>
                <a:off x="0" y="2762250"/>
                <a:ext cx="666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🌍 Plotly Choropleth World Map — Traffic by Country</a:t>
                </a:r>
                <a:endParaRPr sz="100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196" name="Google Shape;1196;p31"/>
            <p:cNvGrpSpPr/>
            <p:nvPr/>
          </p:nvGrpSpPr>
          <p:grpSpPr>
            <a:xfrm>
              <a:off x="7410450" y="1143000"/>
              <a:ext cx="2047800" cy="1476300"/>
              <a:chOff x="0" y="0"/>
              <a:chExt cx="2047800" cy="1476300"/>
            </a:xfrm>
          </p:grpSpPr>
          <p:sp>
            <p:nvSpPr>
              <p:cNvPr id="1197" name="Google Shape;1197;p31"/>
              <p:cNvSpPr/>
              <p:nvPr/>
            </p:nvSpPr>
            <p:spPr>
              <a:xfrm>
                <a:off x="0" y="0"/>
                <a:ext cx="20478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1"/>
              <p:cNvSpPr/>
              <p:nvPr/>
            </p:nvSpPr>
            <p:spPr>
              <a:xfrm>
                <a:off x="0" y="0"/>
                <a:ext cx="47700" cy="1476300"/>
              </a:xfrm>
              <a:prstGeom prst="roundRect">
                <a:avLst>
                  <a:gd name="adj" fmla="val 50000"/>
                </a:avLst>
              </a:prstGeom>
              <a:solidFill>
                <a:srgbClr val="006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 txBox="1"/>
              <p:nvPr/>
            </p:nvSpPr>
            <p:spPr>
              <a:xfrm>
                <a:off x="142875" y="95250"/>
                <a:ext cx="17622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🌍 Top Regions</a:t>
                </a:r>
                <a:endParaRPr sz="13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USA (22%) </a:t>
                </a:r>
                <a:r>
                  <a:rPr lang="en-US" sz="9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— us-east-1</a:t>
                </a:r>
                <a:endParaRPr sz="10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India (20%) </a:t>
                </a:r>
                <a:r>
                  <a:rPr lang="en-US" sz="9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— ap-south-1</a:t>
                </a:r>
                <a:endParaRPr sz="10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UK (8%) </a:t>
                </a:r>
                <a:r>
                  <a:rPr lang="en-US" sz="9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— eu-west-2</a:t>
                </a:r>
                <a:endParaRPr sz="10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Germany (8%) </a:t>
                </a:r>
                <a:r>
                  <a:rPr lang="en-US" sz="9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— eu-central-1</a:t>
                </a:r>
                <a:endParaRPr sz="10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Japan (7%) </a:t>
                </a:r>
                <a:r>
                  <a:rPr lang="en-US" sz="95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— ap-northeast-1</a:t>
                </a:r>
                <a:endParaRPr sz="10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00" name="Google Shape;1200;p31"/>
            <p:cNvGrpSpPr/>
            <p:nvPr/>
          </p:nvGrpSpPr>
          <p:grpSpPr>
            <a:xfrm>
              <a:off x="9648825" y="1143000"/>
              <a:ext cx="2047800" cy="1476300"/>
              <a:chOff x="0" y="0"/>
              <a:chExt cx="2047800" cy="1476300"/>
            </a:xfrm>
          </p:grpSpPr>
          <p:sp>
            <p:nvSpPr>
              <p:cNvPr id="1201" name="Google Shape;1201;p31"/>
              <p:cNvSpPr/>
              <p:nvPr/>
            </p:nvSpPr>
            <p:spPr>
              <a:xfrm>
                <a:off x="0" y="0"/>
                <a:ext cx="20478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1"/>
              <p:cNvSpPr/>
              <p:nvPr/>
            </p:nvSpPr>
            <p:spPr>
              <a:xfrm>
                <a:off x="0" y="0"/>
                <a:ext cx="47700" cy="1476300"/>
              </a:xfrm>
              <a:prstGeom prst="roundRect">
                <a:avLst>
                  <a:gd name="adj" fmla="val 50000"/>
                </a:avLst>
              </a:prstGeom>
              <a:solidFill>
                <a:srgbClr val="00B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1"/>
              <p:cNvSpPr txBox="1"/>
              <p:nvPr/>
            </p:nvSpPr>
            <p:spPr>
              <a:xfrm>
                <a:off x="142875" y="95250"/>
                <a:ext cx="17622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📱 Device Analytics</a:t>
                </a:r>
                <a:endParaRPr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Mobile — </a:t>
                </a:r>
                <a:r>
                  <a:rPr lang="en-US" sz="12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45%</a:t>
                </a:r>
                <a:endParaRPr sz="12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Smart TV — </a:t>
                </a:r>
                <a:r>
                  <a:rPr lang="en-US" sz="12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25%</a:t>
                </a:r>
                <a:endParaRPr sz="12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Desktop — </a:t>
                </a:r>
                <a:r>
                  <a:rPr lang="en-US" sz="12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22%</a:t>
                </a:r>
                <a:endParaRPr sz="12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Tablet — </a:t>
                </a:r>
                <a:r>
                  <a:rPr lang="en-US" sz="12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8%</a:t>
                </a:r>
                <a:endParaRPr sz="12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04" name="Google Shape;1204;p31"/>
            <p:cNvGrpSpPr/>
            <p:nvPr/>
          </p:nvGrpSpPr>
          <p:grpSpPr>
            <a:xfrm>
              <a:off x="7410450" y="2809875"/>
              <a:ext cx="2047800" cy="1476300"/>
              <a:chOff x="0" y="0"/>
              <a:chExt cx="2047800" cy="1476300"/>
            </a:xfrm>
          </p:grpSpPr>
          <p:sp>
            <p:nvSpPr>
              <p:cNvPr id="1205" name="Google Shape;1205;p31"/>
              <p:cNvSpPr/>
              <p:nvPr/>
            </p:nvSpPr>
            <p:spPr>
              <a:xfrm>
                <a:off x="0" y="0"/>
                <a:ext cx="20478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1"/>
              <p:cNvSpPr/>
              <p:nvPr/>
            </p:nvSpPr>
            <p:spPr>
              <a:xfrm>
                <a:off x="0" y="0"/>
                <a:ext cx="47700" cy="1476300"/>
              </a:xfrm>
              <a:prstGeom prst="roundRect">
                <a:avLst>
                  <a:gd name="adj" fmla="val 50000"/>
                </a:avLst>
              </a:prstGeom>
              <a:solidFill>
                <a:srgbClr val="00D68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1"/>
              <p:cNvSpPr txBox="1"/>
              <p:nvPr/>
            </p:nvSpPr>
            <p:spPr>
              <a:xfrm>
                <a:off x="142875" y="95250"/>
                <a:ext cx="17622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🖥 Platform Dist.</a:t>
                </a:r>
                <a:endParaRPr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Android — </a:t>
                </a:r>
                <a:r>
                  <a:rPr lang="en-US" sz="115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35%</a:t>
                </a:r>
                <a:endParaRPr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iOS — </a:t>
                </a:r>
                <a:r>
                  <a:rPr lang="en-US" sz="115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20%</a:t>
                </a:r>
                <a:endParaRPr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Web — </a:t>
                </a:r>
                <a:r>
                  <a:rPr lang="en-US" sz="115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20%</a:t>
                </a:r>
                <a:endParaRPr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Android TV — </a:t>
                </a:r>
                <a:r>
                  <a:rPr lang="en-US" sz="115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15%</a:t>
                </a:r>
                <a:endParaRPr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Apple TV — </a:t>
                </a:r>
                <a:r>
                  <a:rPr lang="en-US" sz="115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10%</a:t>
                </a:r>
                <a:endParaRPr sz="115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08" name="Google Shape;1208;p31"/>
            <p:cNvGrpSpPr/>
            <p:nvPr/>
          </p:nvGrpSpPr>
          <p:grpSpPr>
            <a:xfrm>
              <a:off x="9648825" y="2809875"/>
              <a:ext cx="2047800" cy="1476300"/>
              <a:chOff x="0" y="0"/>
              <a:chExt cx="2047800" cy="1476300"/>
            </a:xfrm>
          </p:grpSpPr>
          <p:sp>
            <p:nvSpPr>
              <p:cNvPr id="1209" name="Google Shape;1209;p31"/>
              <p:cNvSpPr/>
              <p:nvPr/>
            </p:nvSpPr>
            <p:spPr>
              <a:xfrm>
                <a:off x="0" y="0"/>
                <a:ext cx="20478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0A1A3C"/>
              </a:solidFill>
              <a:ln w="14300" cap="flat" cmpd="sng">
                <a:solidFill>
                  <a:srgbClr val="142A5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1"/>
              <p:cNvSpPr/>
              <p:nvPr/>
            </p:nvSpPr>
            <p:spPr>
              <a:xfrm>
                <a:off x="0" y="0"/>
                <a:ext cx="47700" cy="1476300"/>
              </a:xfrm>
              <a:prstGeom prst="roundRect">
                <a:avLst>
                  <a:gd name="adj" fmla="val 50000"/>
                </a:avLst>
              </a:prstGeom>
              <a:solidFill>
                <a:srgbClr val="A85C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1"/>
              <p:cNvSpPr txBox="1"/>
              <p:nvPr/>
            </p:nvSpPr>
            <p:spPr>
              <a:xfrm>
                <a:off x="142875" y="95250"/>
                <a:ext cx="17622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FFF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💳 Subscriptions</a:t>
                </a:r>
                <a:endParaRPr sz="15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Standard — </a:t>
                </a:r>
                <a:r>
                  <a:rPr lang="en-US" sz="1300" b="1">
                    <a:solidFill>
                      <a:srgbClr val="A85C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40%</a:t>
                </a:r>
                <a:endParaRPr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Basic — </a:t>
                </a:r>
                <a:r>
                  <a:rPr lang="en-US" sz="1300" b="1">
                    <a:solidFill>
                      <a:srgbClr val="A85C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30%</a:t>
                </a:r>
                <a:endParaRPr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C4CCD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• Premium — </a:t>
                </a:r>
                <a:r>
                  <a:rPr lang="en-US" sz="1300" b="1">
                    <a:solidFill>
                      <a:srgbClr val="A85C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30%</a:t>
                </a:r>
                <a:endParaRPr sz="1300">
                  <a:solidFill>
                    <a:srgbClr val="C4CCD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212" name="Google Shape;1212;p31"/>
            <p:cNvSpPr txBox="1"/>
            <p:nvPr/>
          </p:nvSpPr>
          <p:spPr>
            <a:xfrm>
              <a:off x="457200" y="4476750"/>
              <a:ext cx="1123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🎬 Content Type Distribution</a:t>
              </a:r>
              <a:endParaRPr sz="1200" b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grpSp>
          <p:nvGrpSpPr>
            <p:cNvPr id="1213" name="Google Shape;1213;p31"/>
            <p:cNvGrpSpPr/>
            <p:nvPr/>
          </p:nvGrpSpPr>
          <p:grpSpPr>
            <a:xfrm>
              <a:off x="457200" y="4810125"/>
              <a:ext cx="2047800" cy="809700"/>
              <a:chOff x="0" y="0"/>
              <a:chExt cx="2047800" cy="809700"/>
            </a:xfrm>
          </p:grpSpPr>
          <p:sp>
            <p:nvSpPr>
              <p:cNvPr id="1214" name="Google Shape;1214;p31"/>
              <p:cNvSpPr/>
              <p:nvPr/>
            </p:nvSpPr>
            <p:spPr>
              <a:xfrm>
                <a:off x="0" y="0"/>
                <a:ext cx="20478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0A1A3C"/>
              </a:solidFill>
              <a:ln w="14300" cap="flat" cmpd="sng">
                <a:solidFill>
                  <a:srgbClr val="0062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1"/>
              <p:cNvSpPr/>
              <p:nvPr/>
            </p:nvSpPr>
            <p:spPr>
              <a:xfrm>
                <a:off x="0" y="0"/>
                <a:ext cx="20478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62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1"/>
              <p:cNvSpPr txBox="1"/>
              <p:nvPr/>
            </p:nvSpPr>
            <p:spPr>
              <a:xfrm>
                <a:off x="0" y="95250"/>
                <a:ext cx="2047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0062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38%</a:t>
                </a:r>
                <a:endParaRPr sz="2200" b="1">
                  <a:solidFill>
                    <a:srgbClr val="0062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Series</a:t>
                </a:r>
                <a:endParaRPr sz="9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17" name="Google Shape;1217;p31"/>
            <p:cNvGrpSpPr/>
            <p:nvPr/>
          </p:nvGrpSpPr>
          <p:grpSpPr>
            <a:xfrm>
              <a:off x="2762250" y="4810125"/>
              <a:ext cx="2047800" cy="809700"/>
              <a:chOff x="0" y="0"/>
              <a:chExt cx="2047800" cy="809700"/>
            </a:xfrm>
          </p:grpSpPr>
          <p:sp>
            <p:nvSpPr>
              <p:cNvPr id="1218" name="Google Shape;1218;p31"/>
              <p:cNvSpPr/>
              <p:nvPr/>
            </p:nvSpPr>
            <p:spPr>
              <a:xfrm>
                <a:off x="0" y="0"/>
                <a:ext cx="20478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0A1A3C"/>
              </a:solidFill>
              <a:ln w="14300" cap="flat" cmpd="sng">
                <a:solidFill>
                  <a:srgbClr val="00B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1"/>
              <p:cNvSpPr/>
              <p:nvPr/>
            </p:nvSpPr>
            <p:spPr>
              <a:xfrm>
                <a:off x="0" y="0"/>
                <a:ext cx="20478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B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1"/>
              <p:cNvSpPr txBox="1"/>
              <p:nvPr/>
            </p:nvSpPr>
            <p:spPr>
              <a:xfrm>
                <a:off x="0" y="95250"/>
                <a:ext cx="2047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00BF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32%</a:t>
                </a:r>
                <a:endParaRPr sz="2200" b="1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Movies</a:t>
                </a:r>
                <a:endParaRPr sz="9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21" name="Google Shape;1221;p31"/>
            <p:cNvGrpSpPr/>
            <p:nvPr/>
          </p:nvGrpSpPr>
          <p:grpSpPr>
            <a:xfrm>
              <a:off x="5067300" y="4810125"/>
              <a:ext cx="2047800" cy="809700"/>
              <a:chOff x="0" y="0"/>
              <a:chExt cx="2047800" cy="809700"/>
            </a:xfrm>
          </p:grpSpPr>
          <p:sp>
            <p:nvSpPr>
              <p:cNvPr id="1222" name="Google Shape;1222;p31"/>
              <p:cNvSpPr/>
              <p:nvPr/>
            </p:nvSpPr>
            <p:spPr>
              <a:xfrm>
                <a:off x="0" y="0"/>
                <a:ext cx="20478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0A1A3C"/>
              </a:solidFill>
              <a:ln w="14300" cap="flat" cmpd="sng">
                <a:solidFill>
                  <a:srgbClr val="00D68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1"/>
              <p:cNvSpPr/>
              <p:nvPr/>
            </p:nvSpPr>
            <p:spPr>
              <a:xfrm>
                <a:off x="0" y="0"/>
                <a:ext cx="20478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00D68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1"/>
              <p:cNvSpPr txBox="1"/>
              <p:nvPr/>
            </p:nvSpPr>
            <p:spPr>
              <a:xfrm>
                <a:off x="0" y="95250"/>
                <a:ext cx="2047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00D68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12%</a:t>
                </a:r>
                <a:endParaRPr sz="2200" b="1">
                  <a:solidFill>
                    <a:srgbClr val="00D6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Live Sports</a:t>
                </a:r>
                <a:endParaRPr sz="9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25" name="Google Shape;1225;p31"/>
            <p:cNvGrpSpPr/>
            <p:nvPr/>
          </p:nvGrpSpPr>
          <p:grpSpPr>
            <a:xfrm>
              <a:off x="7372350" y="4810125"/>
              <a:ext cx="2047800" cy="809700"/>
              <a:chOff x="0" y="0"/>
              <a:chExt cx="2047800" cy="809700"/>
            </a:xfrm>
          </p:grpSpPr>
          <p:sp>
            <p:nvSpPr>
              <p:cNvPr id="1226" name="Google Shape;1226;p31"/>
              <p:cNvSpPr/>
              <p:nvPr/>
            </p:nvSpPr>
            <p:spPr>
              <a:xfrm>
                <a:off x="0" y="0"/>
                <a:ext cx="20478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0A1A3C"/>
              </a:solidFill>
              <a:ln w="14300" cap="flat" cmpd="sng">
                <a:solidFill>
                  <a:srgbClr val="FF9F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1"/>
              <p:cNvSpPr/>
              <p:nvPr/>
            </p:nvSpPr>
            <p:spPr>
              <a:xfrm>
                <a:off x="0" y="0"/>
                <a:ext cx="20478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FF9F4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1"/>
              <p:cNvSpPr txBox="1"/>
              <p:nvPr/>
            </p:nvSpPr>
            <p:spPr>
              <a:xfrm>
                <a:off x="0" y="95250"/>
                <a:ext cx="2047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FF9F4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10%</a:t>
                </a:r>
                <a:endParaRPr sz="2200" b="1">
                  <a:solidFill>
                    <a:srgbClr val="FF9F4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Documentary</a:t>
                </a:r>
                <a:endParaRPr sz="9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1229" name="Google Shape;1229;p31"/>
            <p:cNvGrpSpPr/>
            <p:nvPr/>
          </p:nvGrpSpPr>
          <p:grpSpPr>
            <a:xfrm>
              <a:off x="9677400" y="4810125"/>
              <a:ext cx="2047800" cy="809700"/>
              <a:chOff x="0" y="0"/>
              <a:chExt cx="2047800" cy="809700"/>
            </a:xfrm>
          </p:grpSpPr>
          <p:sp>
            <p:nvSpPr>
              <p:cNvPr id="1230" name="Google Shape;1230;p31"/>
              <p:cNvSpPr/>
              <p:nvPr/>
            </p:nvSpPr>
            <p:spPr>
              <a:xfrm>
                <a:off x="0" y="0"/>
                <a:ext cx="2047800" cy="809700"/>
              </a:xfrm>
              <a:prstGeom prst="roundRect">
                <a:avLst>
                  <a:gd name="adj" fmla="val 14117"/>
                </a:avLst>
              </a:prstGeom>
              <a:solidFill>
                <a:srgbClr val="0A1A3C"/>
              </a:solidFill>
              <a:ln w="14300" cap="flat" cmpd="sng">
                <a:solidFill>
                  <a:srgbClr val="A85C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1"/>
              <p:cNvSpPr/>
              <p:nvPr/>
            </p:nvSpPr>
            <p:spPr>
              <a:xfrm>
                <a:off x="0" y="0"/>
                <a:ext cx="20478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A85C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1"/>
              <p:cNvSpPr txBox="1"/>
              <p:nvPr/>
            </p:nvSpPr>
            <p:spPr>
              <a:xfrm>
                <a:off x="0" y="95250"/>
                <a:ext cx="2047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 b="1">
                    <a:solidFill>
                      <a:srgbClr val="A85CFF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8%</a:t>
                </a:r>
                <a:endParaRPr sz="2200" b="1">
                  <a:solidFill>
                    <a:srgbClr val="A85C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8C99B3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Kids</a:t>
                </a:r>
                <a:endParaRPr sz="90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sp>
          <p:nvSpPr>
            <p:cNvPr id="1233" name="Google Shape;1233;p31"/>
            <p:cNvSpPr txBox="1"/>
            <p:nvPr/>
          </p:nvSpPr>
          <p:spPr>
            <a:xfrm>
              <a:off x="457200" y="5762625"/>
              <a:ext cx="1123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☁ Cloud Regions: </a:t>
              </a:r>
              <a:r>
                <a:rPr lang="en-US" sz="85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us-east-1</a:t>
              </a: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• </a:t>
              </a:r>
              <a:r>
                <a:rPr lang="en-US" sz="85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ap-south-1</a:t>
              </a: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• </a:t>
              </a:r>
              <a:r>
                <a:rPr lang="en-US" sz="85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eu-west-2</a:t>
              </a: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• </a:t>
              </a:r>
              <a:r>
                <a:rPr lang="en-US" sz="85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eu-central-1</a:t>
              </a: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• </a:t>
              </a:r>
              <a:r>
                <a:rPr lang="en-US" sz="850">
                  <a:solidFill>
                    <a:srgbClr val="00B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ap-northeast-1</a:t>
              </a:r>
              <a:r>
                <a:rPr lang="en-US" sz="850">
                  <a:solidFill>
                    <a:srgbClr val="8C99B3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• ca-central-1 • ap-southeast-2</a:t>
              </a:r>
              <a:endParaRPr sz="850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234" name="Google Shape;1234;p31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1"/>
          <p:cNvSpPr txBox="1"/>
          <p:nvPr/>
        </p:nvSpPr>
        <p:spPr>
          <a:xfrm>
            <a:off x="457200" y="658368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236" name="Google Shape;1236;p31"/>
          <p:cNvSpPr txBox="1"/>
          <p:nvPr/>
        </p:nvSpPr>
        <p:spPr>
          <a:xfrm>
            <a:off x="10972800" y="6492240"/>
            <a:ext cx="10974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 / 26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8FB9D0-F172-F150-4B8F-B632CF1B4D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1" t="3859" r="2443" b="4657"/>
          <a:stretch>
            <a:fillRect/>
          </a:stretch>
        </p:blipFill>
        <p:spPr>
          <a:xfrm>
            <a:off x="422678" y="1146532"/>
            <a:ext cx="6702022" cy="316257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2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&amp; Performance</a:t>
            </a:r>
            <a:endParaRPr/>
          </a:p>
        </p:txBody>
      </p:sp>
      <p:sp>
        <p:nvSpPr>
          <p:cNvPr id="1244" name="Google Shape;1244;p32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2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Evaluation Metrics &amp; System Performance</a:t>
            </a:r>
            <a:endParaRPr/>
          </a:p>
        </p:txBody>
      </p:sp>
      <p:sp>
        <p:nvSpPr>
          <p:cNvPr id="1246" name="Google Shape;1246;p32"/>
          <p:cNvSpPr/>
          <p:nvPr/>
        </p:nvSpPr>
        <p:spPr>
          <a:xfrm>
            <a:off x="365760" y="1097280"/>
            <a:ext cx="205740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2"/>
          <p:cNvSpPr/>
          <p:nvPr/>
        </p:nvSpPr>
        <p:spPr>
          <a:xfrm>
            <a:off x="365760" y="1097280"/>
            <a:ext cx="205740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2"/>
          <p:cNvSpPr txBox="1"/>
          <p:nvPr/>
        </p:nvSpPr>
        <p:spPr>
          <a:xfrm>
            <a:off x="365760" y="1188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1249" name="Google Shape;1249;p32"/>
          <p:cNvSpPr txBox="1"/>
          <p:nvPr/>
        </p:nvSpPr>
        <p:spPr>
          <a:xfrm>
            <a:off x="365760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98.5%</a:t>
            </a:r>
            <a:endParaRPr/>
          </a:p>
        </p:txBody>
      </p:sp>
      <p:sp>
        <p:nvSpPr>
          <p:cNvPr id="1250" name="Google Shape;1250;p32"/>
          <p:cNvSpPr txBox="1"/>
          <p:nvPr/>
        </p:nvSpPr>
        <p:spPr>
          <a:xfrm>
            <a:off x="365760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</a:t>
            </a:r>
            <a:b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/>
          </a:p>
        </p:txBody>
      </p:sp>
      <p:sp>
        <p:nvSpPr>
          <p:cNvPr id="1251" name="Google Shape;1251;p32"/>
          <p:cNvSpPr/>
          <p:nvPr/>
        </p:nvSpPr>
        <p:spPr>
          <a:xfrm>
            <a:off x="2670048" y="1097280"/>
            <a:ext cx="205740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2"/>
          <p:cNvSpPr/>
          <p:nvPr/>
        </p:nvSpPr>
        <p:spPr>
          <a:xfrm>
            <a:off x="2670048" y="1097280"/>
            <a:ext cx="205740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2"/>
          <p:cNvSpPr txBox="1"/>
          <p:nvPr/>
        </p:nvSpPr>
        <p:spPr>
          <a:xfrm>
            <a:off x="2670048" y="1188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📉</a:t>
            </a:r>
            <a:endParaRPr/>
          </a:p>
        </p:txBody>
      </p:sp>
      <p:sp>
        <p:nvSpPr>
          <p:cNvPr id="1254" name="Google Shape;1254;p32"/>
          <p:cNvSpPr txBox="1"/>
          <p:nvPr/>
        </p:nvSpPr>
        <p:spPr>
          <a:xfrm>
            <a:off x="2670048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17.8</a:t>
            </a:r>
            <a:endParaRPr/>
          </a:p>
        </p:txBody>
      </p:sp>
      <p:sp>
        <p:nvSpPr>
          <p:cNvPr id="1255" name="Google Shape;1255;p32"/>
          <p:cNvSpPr txBox="1"/>
          <p:nvPr/>
        </p:nvSpPr>
        <p:spPr>
          <a:xfrm>
            <a:off x="2670048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MAE</a:t>
            </a:r>
            <a:endParaRPr/>
          </a:p>
        </p:txBody>
      </p:sp>
      <p:sp>
        <p:nvSpPr>
          <p:cNvPr id="1256" name="Google Shape;1256;p32"/>
          <p:cNvSpPr/>
          <p:nvPr/>
        </p:nvSpPr>
        <p:spPr>
          <a:xfrm>
            <a:off x="4974336" y="1097280"/>
            <a:ext cx="205740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2"/>
          <p:cNvSpPr/>
          <p:nvPr/>
        </p:nvSpPr>
        <p:spPr>
          <a:xfrm>
            <a:off x="4974336" y="1097280"/>
            <a:ext cx="205740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2"/>
          <p:cNvSpPr txBox="1"/>
          <p:nvPr/>
        </p:nvSpPr>
        <p:spPr>
          <a:xfrm>
            <a:off x="4974336" y="1188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259" name="Google Shape;1259;p32"/>
          <p:cNvSpPr txBox="1"/>
          <p:nvPr/>
        </p:nvSpPr>
        <p:spPr>
          <a:xfrm>
            <a:off x="4974336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25.4</a:t>
            </a:r>
            <a:endParaRPr/>
          </a:p>
        </p:txBody>
      </p:sp>
      <p:sp>
        <p:nvSpPr>
          <p:cNvPr id="1260" name="Google Shape;1260;p32"/>
          <p:cNvSpPr txBox="1"/>
          <p:nvPr/>
        </p:nvSpPr>
        <p:spPr>
          <a:xfrm>
            <a:off x="4974336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RMSE</a:t>
            </a:r>
            <a:endParaRPr/>
          </a:p>
        </p:txBody>
      </p:sp>
      <p:sp>
        <p:nvSpPr>
          <p:cNvPr id="1261" name="Google Shape;1261;p32"/>
          <p:cNvSpPr/>
          <p:nvPr/>
        </p:nvSpPr>
        <p:spPr>
          <a:xfrm>
            <a:off x="7278624" y="1097280"/>
            <a:ext cx="205740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2"/>
          <p:cNvSpPr/>
          <p:nvPr/>
        </p:nvSpPr>
        <p:spPr>
          <a:xfrm>
            <a:off x="7278624" y="1097280"/>
            <a:ext cx="205740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2"/>
          <p:cNvSpPr txBox="1"/>
          <p:nvPr/>
        </p:nvSpPr>
        <p:spPr>
          <a:xfrm>
            <a:off x="7278624" y="1188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1264" name="Google Shape;1264;p32"/>
          <p:cNvSpPr txBox="1"/>
          <p:nvPr/>
        </p:nvSpPr>
        <p:spPr>
          <a:xfrm>
            <a:off x="7278624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0.97</a:t>
            </a:r>
            <a:endParaRPr/>
          </a:p>
        </p:txBody>
      </p:sp>
      <p:sp>
        <p:nvSpPr>
          <p:cNvPr id="1265" name="Google Shape;1265;p32"/>
          <p:cNvSpPr txBox="1"/>
          <p:nvPr/>
        </p:nvSpPr>
        <p:spPr>
          <a:xfrm>
            <a:off x="7278624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R² Score</a:t>
            </a:r>
            <a:endParaRPr/>
          </a:p>
        </p:txBody>
      </p:sp>
      <p:sp>
        <p:nvSpPr>
          <p:cNvPr id="1266" name="Google Shape;1266;p32"/>
          <p:cNvSpPr/>
          <p:nvPr/>
        </p:nvSpPr>
        <p:spPr>
          <a:xfrm>
            <a:off x="9582912" y="1097280"/>
            <a:ext cx="205740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2"/>
          <p:cNvSpPr/>
          <p:nvPr/>
        </p:nvSpPr>
        <p:spPr>
          <a:xfrm>
            <a:off x="9582912" y="1097280"/>
            <a:ext cx="205740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2"/>
          <p:cNvSpPr txBox="1"/>
          <p:nvPr/>
        </p:nvSpPr>
        <p:spPr>
          <a:xfrm>
            <a:off x="9582912" y="118872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269" name="Google Shape;1269;p32"/>
          <p:cNvSpPr txBox="1"/>
          <p:nvPr/>
        </p:nvSpPr>
        <p:spPr>
          <a:xfrm>
            <a:off x="9582912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&lt;5 ms</a:t>
            </a:r>
            <a:endParaRPr/>
          </a:p>
        </p:txBody>
      </p:sp>
      <p:sp>
        <p:nvSpPr>
          <p:cNvPr id="1270" name="Google Shape;1270;p32"/>
          <p:cNvSpPr txBox="1"/>
          <p:nvPr/>
        </p:nvSpPr>
        <p:spPr>
          <a:xfrm>
            <a:off x="9582912" y="19202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Avg Latency</a:t>
            </a:r>
            <a:endParaRPr/>
          </a:p>
        </p:txBody>
      </p:sp>
      <p:graphicFrame>
        <p:nvGraphicFramePr>
          <p:cNvPr id="1271" name="Google Shape;1271;p32"/>
          <p:cNvGraphicFramePr/>
          <p:nvPr/>
        </p:nvGraphicFramePr>
        <p:xfrm>
          <a:off x="365760" y="2514600"/>
          <a:ext cx="6400800" cy="2560275"/>
        </p:xfrm>
        <a:graphic>
          <a:graphicData uri="http://schemas.openxmlformats.org/drawingml/2006/table">
            <a:tbl>
              <a:tblPr firstRow="1" bandRow="1">
                <a:noFill/>
                <a:tableStyleId>{94F2F661-C38D-4C9E-BB06-D91E19C73B52}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XGBoost (Ours)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Prophet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Improvement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0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Prediction Accuracy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98.5%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89.2%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▲ +9.3%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Mean Absolute Error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17.8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42.3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▼ 57.9%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Root Mean Square Error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25.4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58.7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▼ 56.7%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R² Score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0.97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0.82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▲ +18.3%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Inference Time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&lt;5 ms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~50 ms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▼ 90%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Training Time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~45 sec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~120 sec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▼ 62.5%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Features Used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38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38x more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A1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 Size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9.4 MB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7.3 MB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C4CCD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815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72" name="Google Shape;1272;p32"/>
          <p:cNvSpPr/>
          <p:nvPr/>
        </p:nvSpPr>
        <p:spPr>
          <a:xfrm>
            <a:off x="7040880" y="2514600"/>
            <a:ext cx="4846320" cy="868680"/>
          </a:xfrm>
          <a:prstGeom prst="roundRect">
            <a:avLst>
              <a:gd name="adj" fmla="val 16667"/>
            </a:avLst>
          </a:prstGeom>
          <a:solidFill>
            <a:srgbClr val="061028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2"/>
          <p:cNvSpPr txBox="1"/>
          <p:nvPr/>
        </p:nvSpPr>
        <p:spPr>
          <a:xfrm>
            <a:off x="7178040" y="25877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  Actual vs Predicted</a:t>
            </a:r>
            <a:endParaRPr/>
          </a:p>
        </p:txBody>
      </p:sp>
      <p:sp>
        <p:nvSpPr>
          <p:cNvPr id="1274" name="Google Shape;1274;p32"/>
          <p:cNvSpPr txBox="1"/>
          <p:nvPr/>
        </p:nvSpPr>
        <p:spPr>
          <a:xfrm>
            <a:off x="7178040" y="28346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Placeholder ]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Line chart showing prediction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 over test set</a:t>
            </a:r>
            <a:endParaRPr/>
          </a:p>
        </p:txBody>
      </p:sp>
      <p:sp>
        <p:nvSpPr>
          <p:cNvPr id="1275" name="Google Shape;1275;p32"/>
          <p:cNvSpPr/>
          <p:nvPr/>
        </p:nvSpPr>
        <p:spPr>
          <a:xfrm>
            <a:off x="7040880" y="3520440"/>
            <a:ext cx="4846320" cy="868680"/>
          </a:xfrm>
          <a:prstGeom prst="roundRect">
            <a:avLst>
              <a:gd name="adj" fmla="val 16667"/>
            </a:avLst>
          </a:prstGeom>
          <a:solidFill>
            <a:srgbClr val="061028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2"/>
          <p:cNvSpPr txBox="1"/>
          <p:nvPr/>
        </p:nvSpPr>
        <p:spPr>
          <a:xfrm>
            <a:off x="7178040" y="359359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Error Distribution</a:t>
            </a:r>
            <a:endParaRPr/>
          </a:p>
        </p:txBody>
      </p:sp>
      <p:sp>
        <p:nvSpPr>
          <p:cNvPr id="1277" name="Google Shape;1277;p32"/>
          <p:cNvSpPr txBox="1"/>
          <p:nvPr/>
        </p:nvSpPr>
        <p:spPr>
          <a:xfrm>
            <a:off x="7178040" y="3840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Placeholder ]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Histogram of prediction errors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(normally distributed)</a:t>
            </a:r>
            <a:endParaRPr/>
          </a:p>
        </p:txBody>
      </p:sp>
      <p:sp>
        <p:nvSpPr>
          <p:cNvPr id="1278" name="Google Shape;1278;p32"/>
          <p:cNvSpPr/>
          <p:nvPr/>
        </p:nvSpPr>
        <p:spPr>
          <a:xfrm>
            <a:off x="7040880" y="4526280"/>
            <a:ext cx="4846320" cy="868680"/>
          </a:xfrm>
          <a:prstGeom prst="roundRect">
            <a:avLst>
              <a:gd name="adj" fmla="val 16667"/>
            </a:avLst>
          </a:prstGeom>
          <a:solidFill>
            <a:srgbClr val="061028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2"/>
          <p:cNvSpPr txBox="1"/>
          <p:nvPr/>
        </p:nvSpPr>
        <p:spPr>
          <a:xfrm>
            <a:off x="7178040" y="459943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🔥  Feature Importance</a:t>
            </a:r>
            <a:endParaRPr/>
          </a:p>
        </p:txBody>
      </p:sp>
      <p:sp>
        <p:nvSpPr>
          <p:cNvPr id="1280" name="Google Shape;1280;p32"/>
          <p:cNvSpPr txBox="1"/>
          <p:nvPr/>
        </p:nvSpPr>
        <p:spPr>
          <a:xfrm>
            <a:off x="7178040" y="4846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 Placeholder ]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Bar chart of top 10 features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by XGBoost importance</a:t>
            </a:r>
            <a:endParaRPr/>
          </a:p>
        </p:txBody>
      </p:sp>
      <p:sp>
        <p:nvSpPr>
          <p:cNvPr id="1281" name="Google Shape;1281;p32"/>
          <p:cNvSpPr txBox="1"/>
          <p:nvPr/>
        </p:nvSpPr>
        <p:spPr>
          <a:xfrm>
            <a:off x="457200" y="5257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⚙  Autoscaling Decision Performance</a:t>
            </a:r>
            <a:endParaRPr/>
          </a:p>
        </p:txBody>
      </p:sp>
      <p:sp>
        <p:nvSpPr>
          <p:cNvPr id="1282" name="Google Shape;1282;p32"/>
          <p:cNvSpPr/>
          <p:nvPr/>
        </p:nvSpPr>
        <p:spPr>
          <a:xfrm>
            <a:off x="365760" y="5577840"/>
            <a:ext cx="210312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2"/>
          <p:cNvSpPr txBox="1"/>
          <p:nvPr/>
        </p:nvSpPr>
        <p:spPr>
          <a:xfrm>
            <a:off x="457200" y="562356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⬆</a:t>
            </a:r>
            <a:endParaRPr/>
          </a:p>
        </p:txBody>
      </p:sp>
      <p:sp>
        <p:nvSpPr>
          <p:cNvPr id="1284" name="Google Shape;1284;p32"/>
          <p:cNvSpPr txBox="1"/>
          <p:nvPr/>
        </p:nvSpPr>
        <p:spPr>
          <a:xfrm>
            <a:off x="777240" y="56235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Up</a:t>
            </a:r>
            <a:endParaRPr/>
          </a:p>
        </p:txBody>
      </p:sp>
      <p:sp>
        <p:nvSpPr>
          <p:cNvPr id="1285" name="Google Shape;1285;p32"/>
          <p:cNvSpPr txBox="1"/>
          <p:nvPr/>
        </p:nvSpPr>
        <p:spPr>
          <a:xfrm>
            <a:off x="457200" y="58521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utilization &gt; 85%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 CPU &gt; 75%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 Memory &gt; 75%</a:t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2670048" y="5577840"/>
            <a:ext cx="210312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2"/>
          <p:cNvSpPr txBox="1"/>
          <p:nvPr/>
        </p:nvSpPr>
        <p:spPr>
          <a:xfrm>
            <a:off x="2761488" y="562356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⬇</a:t>
            </a:r>
            <a:endParaRPr/>
          </a:p>
        </p:txBody>
      </p:sp>
      <p:sp>
        <p:nvSpPr>
          <p:cNvPr id="1288" name="Google Shape;1288;p32"/>
          <p:cNvSpPr txBox="1"/>
          <p:nvPr/>
        </p:nvSpPr>
        <p:spPr>
          <a:xfrm>
            <a:off x="3081528" y="56235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Down</a:t>
            </a:r>
            <a:endParaRPr/>
          </a:p>
        </p:txBody>
      </p:sp>
      <p:sp>
        <p:nvSpPr>
          <p:cNvPr id="1289" name="Google Shape;1289;p32"/>
          <p:cNvSpPr txBox="1"/>
          <p:nvPr/>
        </p:nvSpPr>
        <p:spPr>
          <a:xfrm>
            <a:off x="2761488" y="58521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utilization &lt; 45%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CPU &lt; 30%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Memory &lt; 35%</a:t>
            </a:r>
            <a:endParaRPr/>
          </a:p>
        </p:txBody>
      </p:sp>
      <p:sp>
        <p:nvSpPr>
          <p:cNvPr id="1290" name="Google Shape;1290;p32"/>
          <p:cNvSpPr/>
          <p:nvPr/>
        </p:nvSpPr>
        <p:spPr>
          <a:xfrm>
            <a:off x="4974336" y="5577840"/>
            <a:ext cx="210312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2"/>
          <p:cNvSpPr txBox="1"/>
          <p:nvPr/>
        </p:nvSpPr>
        <p:spPr>
          <a:xfrm>
            <a:off x="5065776" y="562356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═</a:t>
            </a:r>
            <a:endParaRPr/>
          </a:p>
        </p:txBody>
      </p:sp>
      <p:sp>
        <p:nvSpPr>
          <p:cNvPr id="1292" name="Google Shape;1292;p32"/>
          <p:cNvSpPr txBox="1"/>
          <p:nvPr/>
        </p:nvSpPr>
        <p:spPr>
          <a:xfrm>
            <a:off x="5385816" y="56235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Maintain</a:t>
            </a:r>
            <a:endParaRPr/>
          </a:p>
        </p:txBody>
      </p:sp>
      <p:sp>
        <p:nvSpPr>
          <p:cNvPr id="1293" name="Google Shape;1293;p32"/>
          <p:cNvSpPr txBox="1"/>
          <p:nvPr/>
        </p:nvSpPr>
        <p:spPr>
          <a:xfrm>
            <a:off x="5065776" y="58521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Within optimal range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45% - 85% utilization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Balanced resources</a:t>
            </a:r>
            <a:endParaRPr/>
          </a:p>
        </p:txBody>
      </p:sp>
      <p:sp>
        <p:nvSpPr>
          <p:cNvPr id="1294" name="Google Shape;1294;p32"/>
          <p:cNvSpPr/>
          <p:nvPr/>
        </p:nvSpPr>
        <p:spPr>
          <a:xfrm>
            <a:off x="7278624" y="5577840"/>
            <a:ext cx="210312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2"/>
          <p:cNvSpPr txBox="1"/>
          <p:nvPr/>
        </p:nvSpPr>
        <p:spPr>
          <a:xfrm>
            <a:off x="7370064" y="562356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296" name="Google Shape;1296;p32"/>
          <p:cNvSpPr txBox="1"/>
          <p:nvPr/>
        </p:nvSpPr>
        <p:spPr>
          <a:xfrm>
            <a:off x="7690104" y="56235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 Instances</a:t>
            </a:r>
            <a:endParaRPr/>
          </a:p>
        </p:txBody>
      </p:sp>
      <p:sp>
        <p:nvSpPr>
          <p:cNvPr id="1297" name="Google Shape;1297;p32"/>
          <p:cNvSpPr txBox="1"/>
          <p:nvPr/>
        </p:nvSpPr>
        <p:spPr>
          <a:xfrm>
            <a:off x="7370064" y="58521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Floor: 2 instances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Guaranteed availability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Always-on baseline</a:t>
            </a:r>
            <a:endParaRPr/>
          </a:p>
        </p:txBody>
      </p:sp>
      <p:sp>
        <p:nvSpPr>
          <p:cNvPr id="1298" name="Google Shape;1298;p32"/>
          <p:cNvSpPr/>
          <p:nvPr/>
        </p:nvSpPr>
        <p:spPr>
          <a:xfrm>
            <a:off x="9582912" y="5577840"/>
            <a:ext cx="2103120" cy="868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2"/>
          <p:cNvSpPr txBox="1"/>
          <p:nvPr/>
        </p:nvSpPr>
        <p:spPr>
          <a:xfrm>
            <a:off x="9674352" y="562356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300" name="Google Shape;1300;p32"/>
          <p:cNvSpPr txBox="1"/>
          <p:nvPr/>
        </p:nvSpPr>
        <p:spPr>
          <a:xfrm>
            <a:off x="9994392" y="56235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 Instances</a:t>
            </a:r>
            <a:endParaRPr/>
          </a:p>
        </p:txBody>
      </p:sp>
      <p:sp>
        <p:nvSpPr>
          <p:cNvPr id="1301" name="Google Shape;1301;p32"/>
          <p:cNvSpPr txBox="1"/>
          <p:nvPr/>
        </p:nvSpPr>
        <p:spPr>
          <a:xfrm>
            <a:off x="9674352" y="58521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Ceiling: 10 instances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protection</a:t>
            </a:r>
            <a:b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7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Burst capacity</a:t>
            </a:r>
            <a:endParaRPr/>
          </a:p>
        </p:txBody>
      </p:sp>
      <p:sp>
        <p:nvSpPr>
          <p:cNvPr id="1302" name="Google Shape;1302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2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304" name="Google Shape;1304;p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 / 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3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Impact</a:t>
            </a:r>
            <a:endParaRPr/>
          </a:p>
        </p:txBody>
      </p:sp>
      <p:sp>
        <p:nvSpPr>
          <p:cNvPr id="1312" name="Google Shape;1312;p33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3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ROI, Industry Applications &amp; Value Proposition</a:t>
            </a:r>
            <a:endParaRPr/>
          </a:p>
        </p:txBody>
      </p:sp>
      <p:sp>
        <p:nvSpPr>
          <p:cNvPr id="1314" name="Google Shape;1314;p33"/>
          <p:cNvSpPr/>
          <p:nvPr/>
        </p:nvSpPr>
        <p:spPr>
          <a:xfrm>
            <a:off x="365760" y="109728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3"/>
          <p:cNvSpPr/>
          <p:nvPr/>
        </p:nvSpPr>
        <p:spPr>
          <a:xfrm>
            <a:off x="365760" y="1097280"/>
            <a:ext cx="356616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3"/>
          <p:cNvSpPr/>
          <p:nvPr/>
        </p:nvSpPr>
        <p:spPr>
          <a:xfrm>
            <a:off x="502920" y="1280160"/>
            <a:ext cx="502920" cy="50292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💰</a:t>
            </a:r>
            <a:endParaRPr/>
          </a:p>
        </p:txBody>
      </p:sp>
      <p:sp>
        <p:nvSpPr>
          <p:cNvPr id="1317" name="Google Shape;1317;p33"/>
          <p:cNvSpPr txBox="1"/>
          <p:nvPr/>
        </p:nvSpPr>
        <p:spPr>
          <a:xfrm>
            <a:off x="1097280" y="12070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Reduction</a:t>
            </a:r>
            <a:endParaRPr/>
          </a:p>
        </p:txBody>
      </p:sp>
      <p:sp>
        <p:nvSpPr>
          <p:cNvPr id="1318" name="Google Shape;1318;p33"/>
          <p:cNvSpPr txBox="1"/>
          <p:nvPr/>
        </p:nvSpPr>
        <p:spPr>
          <a:xfrm>
            <a:off x="2651760" y="1234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35-40%</a:t>
            </a:r>
            <a:endParaRPr/>
          </a:p>
        </p:txBody>
      </p:sp>
      <p:sp>
        <p:nvSpPr>
          <p:cNvPr id="1319" name="Google Shape;1319;p33"/>
          <p:cNvSpPr txBox="1"/>
          <p:nvPr/>
        </p:nvSpPr>
        <p:spPr>
          <a:xfrm>
            <a:off x="502920" y="18745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 over-provisioning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resource wastage</a:t>
            </a:r>
            <a:endParaRPr/>
          </a:p>
        </p:txBody>
      </p:sp>
      <p:sp>
        <p:nvSpPr>
          <p:cNvPr id="1320" name="Google Shape;1320;p33"/>
          <p:cNvSpPr/>
          <p:nvPr/>
        </p:nvSpPr>
        <p:spPr>
          <a:xfrm>
            <a:off x="4206240" y="109728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3"/>
          <p:cNvSpPr/>
          <p:nvPr/>
        </p:nvSpPr>
        <p:spPr>
          <a:xfrm>
            <a:off x="4206240" y="1097280"/>
            <a:ext cx="356616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3"/>
          <p:cNvSpPr/>
          <p:nvPr/>
        </p:nvSpPr>
        <p:spPr>
          <a:xfrm>
            <a:off x="4343400" y="128016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⏱</a:t>
            </a:r>
            <a:endParaRPr/>
          </a:p>
        </p:txBody>
      </p:sp>
      <p:sp>
        <p:nvSpPr>
          <p:cNvPr id="1323" name="Google Shape;1323;p33"/>
          <p:cNvSpPr txBox="1"/>
          <p:nvPr/>
        </p:nvSpPr>
        <p:spPr>
          <a:xfrm>
            <a:off x="4937760" y="12070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Downtime</a:t>
            </a:r>
            <a:endParaRPr/>
          </a:p>
        </p:txBody>
      </p:sp>
      <p:sp>
        <p:nvSpPr>
          <p:cNvPr id="1324" name="Google Shape;1324;p33"/>
          <p:cNvSpPr txBox="1"/>
          <p:nvPr/>
        </p:nvSpPr>
        <p:spPr>
          <a:xfrm>
            <a:off x="6492240" y="1234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99.9%</a:t>
            </a:r>
            <a:endParaRPr/>
          </a:p>
        </p:txBody>
      </p:sp>
      <p:sp>
        <p:nvSpPr>
          <p:cNvPr id="1325" name="Google Shape;1325;p33"/>
          <p:cNvSpPr txBox="1"/>
          <p:nvPr/>
        </p:nvSpPr>
        <p:spPr>
          <a:xfrm>
            <a:off x="4343400" y="18745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 scaling prevents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outages and SLA breaches</a:t>
            </a:r>
            <a:endParaRPr/>
          </a:p>
        </p:txBody>
      </p:sp>
      <p:sp>
        <p:nvSpPr>
          <p:cNvPr id="1326" name="Google Shape;1326;p33"/>
          <p:cNvSpPr/>
          <p:nvPr/>
        </p:nvSpPr>
        <p:spPr>
          <a:xfrm>
            <a:off x="8046720" y="109728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33"/>
          <p:cNvSpPr/>
          <p:nvPr/>
        </p:nvSpPr>
        <p:spPr>
          <a:xfrm>
            <a:off x="8046720" y="1097280"/>
            <a:ext cx="356616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3"/>
          <p:cNvSpPr/>
          <p:nvPr/>
        </p:nvSpPr>
        <p:spPr>
          <a:xfrm>
            <a:off x="8183880" y="128016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</a:t>
            </a:r>
            <a:endParaRPr/>
          </a:p>
        </p:txBody>
      </p:sp>
      <p:sp>
        <p:nvSpPr>
          <p:cNvPr id="1329" name="Google Shape;1329;p33"/>
          <p:cNvSpPr txBox="1"/>
          <p:nvPr/>
        </p:nvSpPr>
        <p:spPr>
          <a:xfrm>
            <a:off x="8778240" y="120700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Experience</a:t>
            </a:r>
            <a:endParaRPr/>
          </a:p>
        </p:txBody>
      </p:sp>
      <p:sp>
        <p:nvSpPr>
          <p:cNvPr id="1330" name="Google Shape;1330;p33"/>
          <p:cNvSpPr txBox="1"/>
          <p:nvPr/>
        </p:nvSpPr>
        <p:spPr>
          <a:xfrm>
            <a:off x="10332720" y="12344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3x Better</a:t>
            </a:r>
            <a:endParaRPr/>
          </a:p>
        </p:txBody>
      </p:sp>
      <p:sp>
        <p:nvSpPr>
          <p:cNvPr id="1331" name="Google Shape;1331;p33"/>
          <p:cNvSpPr txBox="1"/>
          <p:nvPr/>
        </p:nvSpPr>
        <p:spPr>
          <a:xfrm>
            <a:off x="8183880" y="18745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Faster response times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zero cold-starts</a:t>
            </a:r>
            <a:endParaRPr/>
          </a:p>
        </p:txBody>
      </p:sp>
      <p:sp>
        <p:nvSpPr>
          <p:cNvPr id="1332" name="Google Shape;1332;p33"/>
          <p:cNvSpPr/>
          <p:nvPr/>
        </p:nvSpPr>
        <p:spPr>
          <a:xfrm>
            <a:off x="365760" y="265176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3"/>
          <p:cNvSpPr/>
          <p:nvPr/>
        </p:nvSpPr>
        <p:spPr>
          <a:xfrm>
            <a:off x="365760" y="2651760"/>
            <a:ext cx="356616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3"/>
          <p:cNvSpPr/>
          <p:nvPr/>
        </p:nvSpPr>
        <p:spPr>
          <a:xfrm>
            <a:off x="502920" y="2834640"/>
            <a:ext cx="502920" cy="50292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1335" name="Google Shape;1335;p33"/>
          <p:cNvSpPr txBox="1"/>
          <p:nvPr/>
        </p:nvSpPr>
        <p:spPr>
          <a:xfrm>
            <a:off x="1097280" y="27614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Utilization</a:t>
            </a:r>
            <a:endParaRPr/>
          </a:p>
        </p:txBody>
      </p:sp>
      <p:sp>
        <p:nvSpPr>
          <p:cNvPr id="1336" name="Google Shape;1336;p33"/>
          <p:cNvSpPr txBox="1"/>
          <p:nvPr/>
        </p:nvSpPr>
        <p:spPr>
          <a:xfrm>
            <a:off x="2651760" y="27889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+45%</a:t>
            </a:r>
            <a:endParaRPr/>
          </a:p>
        </p:txBody>
      </p:sp>
      <p:sp>
        <p:nvSpPr>
          <p:cNvPr id="1337" name="Google Shape;1337;p33"/>
          <p:cNvSpPr txBox="1"/>
          <p:nvPr/>
        </p:nvSpPr>
        <p:spPr>
          <a:xfrm>
            <a:off x="502920" y="3429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Optimal right-sizing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cloud instances</a:t>
            </a:r>
            <a:endParaRPr/>
          </a:p>
        </p:txBody>
      </p:sp>
      <p:sp>
        <p:nvSpPr>
          <p:cNvPr id="1338" name="Google Shape;1338;p33"/>
          <p:cNvSpPr/>
          <p:nvPr/>
        </p:nvSpPr>
        <p:spPr>
          <a:xfrm>
            <a:off x="4206240" y="265176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3"/>
          <p:cNvSpPr/>
          <p:nvPr/>
        </p:nvSpPr>
        <p:spPr>
          <a:xfrm>
            <a:off x="4206240" y="2651760"/>
            <a:ext cx="356616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3"/>
          <p:cNvSpPr/>
          <p:nvPr/>
        </p:nvSpPr>
        <p:spPr>
          <a:xfrm>
            <a:off x="4343400" y="283464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341" name="Google Shape;1341;p33"/>
          <p:cNvSpPr txBox="1"/>
          <p:nvPr/>
        </p:nvSpPr>
        <p:spPr>
          <a:xfrm>
            <a:off x="4937760" y="27614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</a:t>
            </a:r>
            <a:endParaRPr/>
          </a:p>
        </p:txBody>
      </p:sp>
      <p:sp>
        <p:nvSpPr>
          <p:cNvPr id="1342" name="Google Shape;1342;p33"/>
          <p:cNvSpPr txBox="1"/>
          <p:nvPr/>
        </p:nvSpPr>
        <p:spPr>
          <a:xfrm>
            <a:off x="6492240" y="27889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-60%</a:t>
            </a:r>
            <a:endParaRPr/>
          </a:p>
        </p:txBody>
      </p:sp>
      <p:sp>
        <p:nvSpPr>
          <p:cNvPr id="1343" name="Google Shape;1343;p33"/>
          <p:cNvSpPr txBox="1"/>
          <p:nvPr/>
        </p:nvSpPr>
        <p:spPr>
          <a:xfrm>
            <a:off x="4343400" y="3429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Pre-warmed instances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ready for traffic</a:t>
            </a:r>
            <a:endParaRPr/>
          </a:p>
        </p:txBody>
      </p:sp>
      <p:sp>
        <p:nvSpPr>
          <p:cNvPr id="1344" name="Google Shape;1344;p33"/>
          <p:cNvSpPr/>
          <p:nvPr/>
        </p:nvSpPr>
        <p:spPr>
          <a:xfrm>
            <a:off x="8046720" y="2651760"/>
            <a:ext cx="3566160" cy="13258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3"/>
          <p:cNvSpPr/>
          <p:nvPr/>
        </p:nvSpPr>
        <p:spPr>
          <a:xfrm>
            <a:off x="8046720" y="2651760"/>
            <a:ext cx="3566160" cy="45720"/>
          </a:xfrm>
          <a:prstGeom prst="rect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3"/>
          <p:cNvSpPr/>
          <p:nvPr/>
        </p:nvSpPr>
        <p:spPr>
          <a:xfrm>
            <a:off x="8183880" y="2834640"/>
            <a:ext cx="502920" cy="502920"/>
          </a:xfrm>
          <a:prstGeom prst="ellipse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🏗</a:t>
            </a:r>
            <a:endParaRPr/>
          </a:p>
        </p:txBody>
      </p:sp>
      <p:sp>
        <p:nvSpPr>
          <p:cNvPr id="1347" name="Google Shape;1347;p33"/>
          <p:cNvSpPr txBox="1"/>
          <p:nvPr/>
        </p:nvSpPr>
        <p:spPr>
          <a:xfrm>
            <a:off x="8778240" y="27614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Scalable</a:t>
            </a:r>
            <a:b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Infrastructure</a:t>
            </a:r>
            <a:endParaRPr/>
          </a:p>
        </p:txBody>
      </p:sp>
      <p:sp>
        <p:nvSpPr>
          <p:cNvPr id="1348" name="Google Shape;1348;p33"/>
          <p:cNvSpPr txBox="1"/>
          <p:nvPr/>
        </p:nvSpPr>
        <p:spPr>
          <a:xfrm>
            <a:off x="10332720" y="27889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</a:t>
            </a:r>
            <a:endParaRPr/>
          </a:p>
        </p:txBody>
      </p:sp>
      <p:sp>
        <p:nvSpPr>
          <p:cNvPr id="1349" name="Google Shape;1349;p33"/>
          <p:cNvSpPr txBox="1"/>
          <p:nvPr/>
        </p:nvSpPr>
        <p:spPr>
          <a:xfrm>
            <a:off x="8183880" y="34290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Handles traffic from</a:t>
            </a:r>
            <a:b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to 10 instances</a:t>
            </a:r>
            <a:endParaRPr/>
          </a:p>
        </p:txBody>
      </p:sp>
      <p:sp>
        <p:nvSpPr>
          <p:cNvPr id="1350" name="Google Shape;1350;p33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🏢  Industry Applications</a:t>
            </a:r>
            <a:endParaRPr/>
          </a:p>
        </p:txBody>
      </p:sp>
      <p:sp>
        <p:nvSpPr>
          <p:cNvPr id="1351" name="Google Shape;1351;p33"/>
          <p:cNvSpPr/>
          <p:nvPr/>
        </p:nvSpPr>
        <p:spPr>
          <a:xfrm>
            <a:off x="457200" y="4709160"/>
            <a:ext cx="13716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3"/>
          <p:cNvSpPr/>
          <p:nvPr/>
        </p:nvSpPr>
        <p:spPr>
          <a:xfrm>
            <a:off x="365760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3"/>
          <p:cNvSpPr txBox="1"/>
          <p:nvPr/>
        </p:nvSpPr>
        <p:spPr>
          <a:xfrm>
            <a:off x="365760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🎬</a:t>
            </a:r>
            <a:endParaRPr sz="1700"/>
          </a:p>
        </p:txBody>
      </p:sp>
      <p:sp>
        <p:nvSpPr>
          <p:cNvPr id="1354" name="Google Shape;1354;p33"/>
          <p:cNvSpPr txBox="1"/>
          <p:nvPr/>
        </p:nvSpPr>
        <p:spPr>
          <a:xfrm>
            <a:off x="365760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Netflix</a:t>
            </a:r>
            <a:endParaRPr sz="1700"/>
          </a:p>
        </p:txBody>
      </p:sp>
      <p:sp>
        <p:nvSpPr>
          <p:cNvPr id="1355" name="Google Shape;1355;p33"/>
          <p:cNvSpPr txBox="1"/>
          <p:nvPr/>
        </p:nvSpPr>
        <p:spPr>
          <a:xfrm>
            <a:off x="365760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Video streaming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scaling</a:t>
            </a:r>
            <a:endParaRPr sz="1700"/>
          </a:p>
        </p:txBody>
      </p:sp>
      <p:sp>
        <p:nvSpPr>
          <p:cNvPr id="1356" name="Google Shape;1356;p33"/>
          <p:cNvSpPr/>
          <p:nvPr/>
        </p:nvSpPr>
        <p:spPr>
          <a:xfrm>
            <a:off x="2304288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3"/>
          <p:cNvSpPr txBox="1"/>
          <p:nvPr/>
        </p:nvSpPr>
        <p:spPr>
          <a:xfrm>
            <a:off x="2304288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🛒</a:t>
            </a:r>
            <a:endParaRPr sz="1700"/>
          </a:p>
        </p:txBody>
      </p:sp>
      <p:sp>
        <p:nvSpPr>
          <p:cNvPr id="1358" name="Google Shape;1358;p33"/>
          <p:cNvSpPr txBox="1"/>
          <p:nvPr/>
        </p:nvSpPr>
        <p:spPr>
          <a:xfrm>
            <a:off x="2304288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</a:t>
            </a:r>
            <a:endParaRPr sz="1700"/>
          </a:p>
        </p:txBody>
      </p:sp>
      <p:sp>
        <p:nvSpPr>
          <p:cNvPr id="1359" name="Google Shape;1359;p33"/>
          <p:cNvSpPr txBox="1"/>
          <p:nvPr/>
        </p:nvSpPr>
        <p:spPr>
          <a:xfrm>
            <a:off x="2304288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E-commerce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mgmt</a:t>
            </a:r>
            <a:endParaRPr sz="1700"/>
          </a:p>
        </p:txBody>
      </p:sp>
      <p:sp>
        <p:nvSpPr>
          <p:cNvPr id="1360" name="Google Shape;1360;p33"/>
          <p:cNvSpPr/>
          <p:nvPr/>
        </p:nvSpPr>
        <p:spPr>
          <a:xfrm>
            <a:off x="4242816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3"/>
          <p:cNvSpPr txBox="1"/>
          <p:nvPr/>
        </p:nvSpPr>
        <p:spPr>
          <a:xfrm>
            <a:off x="4242816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🏏</a:t>
            </a:r>
            <a:endParaRPr sz="1700"/>
          </a:p>
        </p:txBody>
      </p:sp>
      <p:sp>
        <p:nvSpPr>
          <p:cNvPr id="1362" name="Google Shape;1362;p33"/>
          <p:cNvSpPr txBox="1"/>
          <p:nvPr/>
        </p:nvSpPr>
        <p:spPr>
          <a:xfrm>
            <a:off x="4242816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Hotstar</a:t>
            </a:r>
            <a:endParaRPr sz="1700"/>
          </a:p>
        </p:txBody>
      </p:sp>
      <p:sp>
        <p:nvSpPr>
          <p:cNvPr id="1363" name="Google Shape;1363;p33"/>
          <p:cNvSpPr txBox="1"/>
          <p:nvPr/>
        </p:nvSpPr>
        <p:spPr>
          <a:xfrm>
            <a:off x="4242816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sports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scaling</a:t>
            </a:r>
            <a:endParaRPr sz="1700"/>
          </a:p>
        </p:txBody>
      </p:sp>
      <p:sp>
        <p:nvSpPr>
          <p:cNvPr id="1364" name="Google Shape;1364;p33"/>
          <p:cNvSpPr/>
          <p:nvPr/>
        </p:nvSpPr>
        <p:spPr>
          <a:xfrm>
            <a:off x="6181344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3"/>
          <p:cNvSpPr txBox="1"/>
          <p:nvPr/>
        </p:nvSpPr>
        <p:spPr>
          <a:xfrm>
            <a:off x="6181344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🎫</a:t>
            </a:r>
            <a:endParaRPr sz="1700"/>
          </a:p>
        </p:txBody>
      </p:sp>
      <p:sp>
        <p:nvSpPr>
          <p:cNvPr id="1366" name="Google Shape;1366;p33"/>
          <p:cNvSpPr txBox="1"/>
          <p:nvPr/>
        </p:nvSpPr>
        <p:spPr>
          <a:xfrm>
            <a:off x="6181344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Ticketing</a:t>
            </a:r>
            <a:endParaRPr sz="1700"/>
          </a:p>
        </p:txBody>
      </p:sp>
      <p:sp>
        <p:nvSpPr>
          <p:cNvPr id="1367" name="Google Shape;1367;p33"/>
          <p:cNvSpPr txBox="1"/>
          <p:nvPr/>
        </p:nvSpPr>
        <p:spPr>
          <a:xfrm>
            <a:off x="6181344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Flash sale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handling</a:t>
            </a:r>
            <a:endParaRPr sz="1700"/>
          </a:p>
        </p:txBody>
      </p:sp>
      <p:sp>
        <p:nvSpPr>
          <p:cNvPr id="1368" name="Google Shape;1368;p33"/>
          <p:cNvSpPr/>
          <p:nvPr/>
        </p:nvSpPr>
        <p:spPr>
          <a:xfrm>
            <a:off x="8119872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3"/>
          <p:cNvSpPr txBox="1"/>
          <p:nvPr/>
        </p:nvSpPr>
        <p:spPr>
          <a:xfrm>
            <a:off x="8119872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🏦</a:t>
            </a:r>
            <a:endParaRPr sz="1700"/>
          </a:p>
        </p:txBody>
      </p:sp>
      <p:sp>
        <p:nvSpPr>
          <p:cNvPr id="1370" name="Google Shape;1370;p33"/>
          <p:cNvSpPr txBox="1"/>
          <p:nvPr/>
        </p:nvSpPr>
        <p:spPr>
          <a:xfrm>
            <a:off x="8119872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Banking</a:t>
            </a:r>
            <a:endParaRPr sz="1700"/>
          </a:p>
        </p:txBody>
      </p:sp>
      <p:sp>
        <p:nvSpPr>
          <p:cNvPr id="1371" name="Google Shape;1371;p33"/>
          <p:cNvSpPr txBox="1"/>
          <p:nvPr/>
        </p:nvSpPr>
        <p:spPr>
          <a:xfrm>
            <a:off x="8119872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Transaction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spikes</a:t>
            </a:r>
            <a:endParaRPr sz="1700"/>
          </a:p>
        </p:txBody>
      </p:sp>
      <p:sp>
        <p:nvSpPr>
          <p:cNvPr id="1372" name="Google Shape;1372;p33"/>
          <p:cNvSpPr/>
          <p:nvPr/>
        </p:nvSpPr>
        <p:spPr>
          <a:xfrm>
            <a:off x="10058400" y="4892040"/>
            <a:ext cx="1737360" cy="12344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3"/>
          <p:cNvSpPr txBox="1"/>
          <p:nvPr/>
        </p:nvSpPr>
        <p:spPr>
          <a:xfrm>
            <a:off x="10058400" y="4965192"/>
            <a:ext cx="173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🎮</a:t>
            </a:r>
            <a:endParaRPr sz="1700"/>
          </a:p>
        </p:txBody>
      </p:sp>
      <p:sp>
        <p:nvSpPr>
          <p:cNvPr id="1374" name="Google Shape;1374;p33"/>
          <p:cNvSpPr txBox="1"/>
          <p:nvPr/>
        </p:nvSpPr>
        <p:spPr>
          <a:xfrm>
            <a:off x="10058400" y="5257800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Gaming</a:t>
            </a:r>
            <a:endParaRPr sz="1700"/>
          </a:p>
        </p:txBody>
      </p:sp>
      <p:sp>
        <p:nvSpPr>
          <p:cNvPr id="1375" name="Google Shape;1375;p33"/>
          <p:cNvSpPr txBox="1"/>
          <p:nvPr/>
        </p:nvSpPr>
        <p:spPr>
          <a:xfrm>
            <a:off x="10058400" y="5513832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</a:t>
            </a:r>
            <a:b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0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scaling</a:t>
            </a:r>
            <a:endParaRPr sz="1700"/>
          </a:p>
        </p:txBody>
      </p:sp>
      <p:sp>
        <p:nvSpPr>
          <p:cNvPr id="1376" name="Google Shape;1376;p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3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378" name="Google Shape;1378;p3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 / 26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3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4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SWOT Analysis</a:t>
            </a:r>
            <a:endParaRPr/>
          </a:p>
        </p:txBody>
      </p:sp>
      <p:sp>
        <p:nvSpPr>
          <p:cNvPr id="1386" name="Google Shape;1386;p34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4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Strategic Assessment of the Predictive Autoscaling System</a:t>
            </a:r>
            <a:endParaRPr/>
          </a:p>
        </p:txBody>
      </p:sp>
      <p:sp>
        <p:nvSpPr>
          <p:cNvPr id="1388" name="Google Shape;1388;p34"/>
          <p:cNvSpPr/>
          <p:nvPr/>
        </p:nvSpPr>
        <p:spPr>
          <a:xfrm>
            <a:off x="457200" y="1097280"/>
            <a:ext cx="5394960" cy="2331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4"/>
          <p:cNvSpPr/>
          <p:nvPr/>
        </p:nvSpPr>
        <p:spPr>
          <a:xfrm>
            <a:off x="457200" y="1097280"/>
            <a:ext cx="539496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4"/>
          <p:cNvSpPr txBox="1"/>
          <p:nvPr/>
        </p:nvSpPr>
        <p:spPr>
          <a:xfrm>
            <a:off x="640080" y="120700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  STRENGTHS</a:t>
            </a:r>
            <a:endParaRPr sz="1800"/>
          </a:p>
        </p:txBody>
      </p:sp>
      <p:sp>
        <p:nvSpPr>
          <p:cNvPr id="1391" name="Google Shape;1391;p34"/>
          <p:cNvSpPr txBox="1"/>
          <p:nvPr/>
        </p:nvSpPr>
        <p:spPr>
          <a:xfrm>
            <a:off x="640080" y="155448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98.5% prediction accuracy</a:t>
            </a:r>
            <a:endParaRPr sz="1800"/>
          </a:p>
        </p:txBody>
      </p:sp>
      <p:sp>
        <p:nvSpPr>
          <p:cNvPr id="1392" name="Google Shape;1392;p34"/>
          <p:cNvSpPr txBox="1"/>
          <p:nvPr/>
        </p:nvSpPr>
        <p:spPr>
          <a:xfrm>
            <a:off x="640080" y="19751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Real-time 15-min forecasting</a:t>
            </a:r>
            <a:endParaRPr sz="1800"/>
          </a:p>
        </p:txBody>
      </p:sp>
      <p:sp>
        <p:nvSpPr>
          <p:cNvPr id="1393" name="Google Shape;1393;p34"/>
          <p:cNvSpPr txBox="1"/>
          <p:nvPr/>
        </p:nvSpPr>
        <p:spPr>
          <a:xfrm>
            <a:off x="640080" y="23957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38 engineered features</a:t>
            </a:r>
            <a:endParaRPr sz="1800"/>
          </a:p>
        </p:txBody>
      </p:sp>
      <p:sp>
        <p:nvSpPr>
          <p:cNvPr id="1394" name="Google Shape;1394;p34"/>
          <p:cNvSpPr txBox="1"/>
          <p:nvPr/>
        </p:nvSpPr>
        <p:spPr>
          <a:xfrm>
            <a:off x="640080" y="2816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Multi-metric autoscaling</a:t>
            </a:r>
            <a:endParaRPr sz="1800"/>
          </a:p>
        </p:txBody>
      </p:sp>
      <p:sp>
        <p:nvSpPr>
          <p:cNvPr id="1395" name="Google Shape;1395;p34"/>
          <p:cNvSpPr txBox="1"/>
          <p:nvPr/>
        </p:nvSpPr>
        <p:spPr>
          <a:xfrm>
            <a:off x="3246120" y="155448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9-page interactive dashboard</a:t>
            </a:r>
            <a:endParaRPr sz="1800"/>
          </a:p>
        </p:txBody>
      </p:sp>
      <p:sp>
        <p:nvSpPr>
          <p:cNvPr id="1396" name="Google Shape;1396;p34"/>
          <p:cNvSpPr txBox="1"/>
          <p:nvPr/>
        </p:nvSpPr>
        <p:spPr>
          <a:xfrm>
            <a:off x="3246120" y="19751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Full-stack implementation</a:t>
            </a:r>
            <a:endParaRPr sz="1800"/>
          </a:p>
        </p:txBody>
      </p:sp>
      <p:sp>
        <p:nvSpPr>
          <p:cNvPr id="1397" name="Google Shape;1397;p34"/>
          <p:cNvSpPr txBox="1"/>
          <p:nvPr/>
        </p:nvSpPr>
        <p:spPr>
          <a:xfrm>
            <a:off x="3246120" y="23957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Docker containerized</a:t>
            </a:r>
            <a:endParaRPr sz="1800"/>
          </a:p>
        </p:txBody>
      </p:sp>
      <p:sp>
        <p:nvSpPr>
          <p:cNvPr id="1398" name="Google Shape;1398;p34"/>
          <p:cNvSpPr txBox="1"/>
          <p:nvPr/>
        </p:nvSpPr>
        <p:spPr>
          <a:xfrm>
            <a:off x="3246120" y="2816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RESTful API architecture</a:t>
            </a:r>
            <a:endParaRPr sz="1800"/>
          </a:p>
        </p:txBody>
      </p:sp>
      <p:sp>
        <p:nvSpPr>
          <p:cNvPr id="1399" name="Google Shape;1399;p34"/>
          <p:cNvSpPr/>
          <p:nvPr/>
        </p:nvSpPr>
        <p:spPr>
          <a:xfrm>
            <a:off x="6126480" y="1097280"/>
            <a:ext cx="5394960" cy="2331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4"/>
          <p:cNvSpPr/>
          <p:nvPr/>
        </p:nvSpPr>
        <p:spPr>
          <a:xfrm>
            <a:off x="6126480" y="1097280"/>
            <a:ext cx="5394960" cy="45720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4"/>
          <p:cNvSpPr txBox="1"/>
          <p:nvPr/>
        </p:nvSpPr>
        <p:spPr>
          <a:xfrm>
            <a:off x="6309360" y="120700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4D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❌  WEAKNESSES</a:t>
            </a:r>
            <a:endParaRPr sz="1800"/>
          </a:p>
        </p:txBody>
      </p:sp>
      <p:sp>
        <p:nvSpPr>
          <p:cNvPr id="1402" name="Google Shape;1402;p34"/>
          <p:cNvSpPr txBox="1"/>
          <p:nvPr/>
        </p:nvSpPr>
        <p:spPr>
          <a:xfrm>
            <a:off x="6309360" y="155448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Simulated dataset (not live)</a:t>
            </a:r>
            <a:endParaRPr sz="1800"/>
          </a:p>
        </p:txBody>
      </p:sp>
      <p:sp>
        <p:nvSpPr>
          <p:cNvPr id="1403" name="Google Shape;1403;p34"/>
          <p:cNvSpPr txBox="1"/>
          <p:nvPr/>
        </p:nvSpPr>
        <p:spPr>
          <a:xfrm>
            <a:off x="6309360" y="19751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Single model dependency</a:t>
            </a:r>
            <a:endParaRPr sz="1800"/>
          </a:p>
        </p:txBody>
      </p:sp>
      <p:sp>
        <p:nvSpPr>
          <p:cNvPr id="1404" name="Google Shape;1404;p34"/>
          <p:cNvSpPr txBox="1"/>
          <p:nvPr/>
        </p:nvSpPr>
        <p:spPr>
          <a:xfrm>
            <a:off x="6309360" y="23957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No real cloud deployment</a:t>
            </a:r>
            <a:endParaRPr sz="1800"/>
          </a:p>
        </p:txBody>
      </p:sp>
      <p:sp>
        <p:nvSpPr>
          <p:cNvPr id="1405" name="Google Shape;1405;p34"/>
          <p:cNvSpPr txBox="1"/>
          <p:nvPr/>
        </p:nvSpPr>
        <p:spPr>
          <a:xfrm>
            <a:off x="6309360" y="2816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Limited to batch prediction</a:t>
            </a:r>
            <a:endParaRPr sz="1800"/>
          </a:p>
        </p:txBody>
      </p:sp>
      <p:sp>
        <p:nvSpPr>
          <p:cNvPr id="1406" name="Google Shape;1406;p34"/>
          <p:cNvSpPr txBox="1"/>
          <p:nvPr/>
        </p:nvSpPr>
        <p:spPr>
          <a:xfrm>
            <a:off x="8915400" y="155448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No A/B testing framework</a:t>
            </a:r>
            <a:endParaRPr sz="1800"/>
          </a:p>
        </p:txBody>
      </p:sp>
      <p:sp>
        <p:nvSpPr>
          <p:cNvPr id="1407" name="Google Shape;1407;p34"/>
          <p:cNvSpPr txBox="1"/>
          <p:nvPr/>
        </p:nvSpPr>
        <p:spPr>
          <a:xfrm>
            <a:off x="8915400" y="197510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No CI/CD pipeline yet</a:t>
            </a:r>
            <a:endParaRPr sz="1800"/>
          </a:p>
        </p:txBody>
      </p:sp>
      <p:sp>
        <p:nvSpPr>
          <p:cNvPr id="1408" name="Google Shape;1408;p34"/>
          <p:cNvSpPr txBox="1"/>
          <p:nvPr/>
        </p:nvSpPr>
        <p:spPr>
          <a:xfrm>
            <a:off x="8915400" y="239572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Single region testing</a:t>
            </a:r>
            <a:endParaRPr sz="1800"/>
          </a:p>
        </p:txBody>
      </p:sp>
      <p:sp>
        <p:nvSpPr>
          <p:cNvPr id="1409" name="Google Shape;1409;p34"/>
          <p:cNvSpPr txBox="1"/>
          <p:nvPr/>
        </p:nvSpPr>
        <p:spPr>
          <a:xfrm>
            <a:off x="8915400" y="281635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No GPU acceleration</a:t>
            </a:r>
            <a:endParaRPr sz="1800"/>
          </a:p>
        </p:txBody>
      </p:sp>
      <p:sp>
        <p:nvSpPr>
          <p:cNvPr id="1410" name="Google Shape;1410;p34"/>
          <p:cNvSpPr/>
          <p:nvPr/>
        </p:nvSpPr>
        <p:spPr>
          <a:xfrm>
            <a:off x="457200" y="3657600"/>
            <a:ext cx="5394960" cy="2331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4"/>
          <p:cNvSpPr/>
          <p:nvPr/>
        </p:nvSpPr>
        <p:spPr>
          <a:xfrm>
            <a:off x="457200" y="3657600"/>
            <a:ext cx="539496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4"/>
          <p:cNvSpPr txBox="1"/>
          <p:nvPr/>
        </p:nvSpPr>
        <p:spPr>
          <a:xfrm>
            <a:off x="640080" y="376732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  OPPORTUNITIES</a:t>
            </a:r>
            <a:endParaRPr sz="1800"/>
          </a:p>
        </p:txBody>
      </p:sp>
      <p:sp>
        <p:nvSpPr>
          <p:cNvPr id="1413" name="Google Shape;1413;p34"/>
          <p:cNvSpPr txBox="1"/>
          <p:nvPr/>
        </p:nvSpPr>
        <p:spPr>
          <a:xfrm>
            <a:off x="640080" y="411480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AWS/Azure/GCP deployment</a:t>
            </a:r>
            <a:endParaRPr sz="1800"/>
          </a:p>
        </p:txBody>
      </p:sp>
      <p:sp>
        <p:nvSpPr>
          <p:cNvPr id="1414" name="Google Shape;1414;p34"/>
          <p:cNvSpPr txBox="1"/>
          <p:nvPr/>
        </p:nvSpPr>
        <p:spPr>
          <a:xfrm>
            <a:off x="640080" y="453542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Real-time streaming (Kafka)</a:t>
            </a:r>
            <a:endParaRPr sz="1800"/>
          </a:p>
        </p:txBody>
      </p:sp>
      <p:sp>
        <p:nvSpPr>
          <p:cNvPr id="1415" name="Google Shape;1415;p34"/>
          <p:cNvSpPr txBox="1"/>
          <p:nvPr/>
        </p:nvSpPr>
        <p:spPr>
          <a:xfrm>
            <a:off x="640080" y="495604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Kubernetes orchestration</a:t>
            </a:r>
            <a:endParaRPr sz="1800"/>
          </a:p>
        </p:txBody>
      </p:sp>
      <p:sp>
        <p:nvSpPr>
          <p:cNvPr id="1416" name="Google Shape;1416;p34"/>
          <p:cNvSpPr txBox="1"/>
          <p:nvPr/>
        </p:nvSpPr>
        <p:spPr>
          <a:xfrm>
            <a:off x="640080" y="537667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Reinforcement learning</a:t>
            </a:r>
            <a:endParaRPr sz="1800"/>
          </a:p>
        </p:txBody>
      </p:sp>
      <p:sp>
        <p:nvSpPr>
          <p:cNvPr id="1417" name="Google Shape;1417;p34"/>
          <p:cNvSpPr txBox="1"/>
          <p:nvPr/>
        </p:nvSpPr>
        <p:spPr>
          <a:xfrm>
            <a:off x="3246120" y="411480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Multi-cloud support</a:t>
            </a:r>
            <a:endParaRPr sz="1800"/>
          </a:p>
        </p:txBody>
      </p:sp>
      <p:sp>
        <p:nvSpPr>
          <p:cNvPr id="1418" name="Google Shape;1418;p34"/>
          <p:cNvSpPr txBox="1"/>
          <p:nvPr/>
        </p:nvSpPr>
        <p:spPr>
          <a:xfrm>
            <a:off x="3246120" y="453542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Enterprise SaaS product</a:t>
            </a:r>
            <a:endParaRPr sz="1800"/>
          </a:p>
        </p:txBody>
      </p:sp>
      <p:sp>
        <p:nvSpPr>
          <p:cNvPr id="1419" name="Google Shape;1419;p34"/>
          <p:cNvSpPr txBox="1"/>
          <p:nvPr/>
        </p:nvSpPr>
        <p:spPr>
          <a:xfrm>
            <a:off x="3246120" y="495604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Edge computing integration</a:t>
            </a:r>
            <a:endParaRPr sz="1800"/>
          </a:p>
        </p:txBody>
      </p:sp>
      <p:sp>
        <p:nvSpPr>
          <p:cNvPr id="1420" name="Google Shape;1420;p34"/>
          <p:cNvSpPr txBox="1"/>
          <p:nvPr/>
        </p:nvSpPr>
        <p:spPr>
          <a:xfrm>
            <a:off x="3246120" y="537667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Generative AI for alerts</a:t>
            </a:r>
            <a:endParaRPr sz="1800"/>
          </a:p>
        </p:txBody>
      </p:sp>
      <p:sp>
        <p:nvSpPr>
          <p:cNvPr id="1421" name="Google Shape;1421;p34"/>
          <p:cNvSpPr/>
          <p:nvPr/>
        </p:nvSpPr>
        <p:spPr>
          <a:xfrm>
            <a:off x="6126480" y="3657600"/>
            <a:ext cx="5394960" cy="2331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4"/>
          <p:cNvSpPr/>
          <p:nvPr/>
        </p:nvSpPr>
        <p:spPr>
          <a:xfrm>
            <a:off x="6126480" y="3657600"/>
            <a:ext cx="539496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34"/>
          <p:cNvSpPr txBox="1"/>
          <p:nvPr/>
        </p:nvSpPr>
        <p:spPr>
          <a:xfrm>
            <a:off x="6309360" y="3767328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9F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  THREATS</a:t>
            </a:r>
            <a:endParaRPr sz="1800"/>
          </a:p>
        </p:txBody>
      </p:sp>
      <p:sp>
        <p:nvSpPr>
          <p:cNvPr id="1424" name="Google Shape;1424;p34"/>
          <p:cNvSpPr txBox="1"/>
          <p:nvPr/>
        </p:nvSpPr>
        <p:spPr>
          <a:xfrm>
            <a:off x="6309360" y="411480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Cloud provider native tools</a:t>
            </a:r>
            <a:endParaRPr sz="1800"/>
          </a:p>
        </p:txBody>
      </p:sp>
      <p:sp>
        <p:nvSpPr>
          <p:cNvPr id="1425" name="Google Shape;1425;p34"/>
          <p:cNvSpPr txBox="1"/>
          <p:nvPr/>
        </p:nvSpPr>
        <p:spPr>
          <a:xfrm>
            <a:off x="6309360" y="453542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Rapid technology changes</a:t>
            </a:r>
            <a:endParaRPr sz="1800"/>
          </a:p>
        </p:txBody>
      </p:sp>
      <p:sp>
        <p:nvSpPr>
          <p:cNvPr id="1426" name="Google Shape;1426;p34"/>
          <p:cNvSpPr txBox="1"/>
          <p:nvPr/>
        </p:nvSpPr>
        <p:spPr>
          <a:xfrm>
            <a:off x="6309360" y="495604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Data drift in production</a:t>
            </a:r>
            <a:endParaRPr sz="1800"/>
          </a:p>
        </p:txBody>
      </p:sp>
      <p:sp>
        <p:nvSpPr>
          <p:cNvPr id="1427" name="Google Shape;1427;p34"/>
          <p:cNvSpPr txBox="1"/>
          <p:nvPr/>
        </p:nvSpPr>
        <p:spPr>
          <a:xfrm>
            <a:off x="6309360" y="537667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Model degradation over time</a:t>
            </a:r>
            <a:endParaRPr sz="1800"/>
          </a:p>
        </p:txBody>
      </p:sp>
      <p:sp>
        <p:nvSpPr>
          <p:cNvPr id="1428" name="Google Shape;1428;p34"/>
          <p:cNvSpPr txBox="1"/>
          <p:nvPr/>
        </p:nvSpPr>
        <p:spPr>
          <a:xfrm>
            <a:off x="8915400" y="4114800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Security vulnerabilities</a:t>
            </a:r>
            <a:endParaRPr sz="1800"/>
          </a:p>
        </p:txBody>
      </p:sp>
      <p:sp>
        <p:nvSpPr>
          <p:cNvPr id="1429" name="Google Shape;1429;p34"/>
          <p:cNvSpPr txBox="1"/>
          <p:nvPr/>
        </p:nvSpPr>
        <p:spPr>
          <a:xfrm>
            <a:off x="8915400" y="4535424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Competition from AWS/Azure</a:t>
            </a:r>
            <a:endParaRPr sz="1800"/>
          </a:p>
        </p:txBody>
      </p:sp>
      <p:sp>
        <p:nvSpPr>
          <p:cNvPr id="1430" name="Google Shape;1430;p34"/>
          <p:cNvSpPr txBox="1"/>
          <p:nvPr/>
        </p:nvSpPr>
        <p:spPr>
          <a:xfrm>
            <a:off x="8915400" y="4956048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Regulatory compliance needs</a:t>
            </a:r>
            <a:endParaRPr sz="1800"/>
          </a:p>
        </p:txBody>
      </p:sp>
      <p:sp>
        <p:nvSpPr>
          <p:cNvPr id="1431" name="Google Shape;1431;p34"/>
          <p:cNvSpPr txBox="1"/>
          <p:nvPr/>
        </p:nvSpPr>
        <p:spPr>
          <a:xfrm>
            <a:off x="8915400" y="5376672"/>
            <a:ext cx="246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▸ Cost of GPU for deep learning</a:t>
            </a:r>
            <a:endParaRPr sz="1800"/>
          </a:p>
        </p:txBody>
      </p:sp>
      <p:sp>
        <p:nvSpPr>
          <p:cNvPr id="1432" name="Google Shape;1432;p34"/>
          <p:cNvSpPr/>
          <p:nvPr/>
        </p:nvSpPr>
        <p:spPr>
          <a:xfrm>
            <a:off x="5897880" y="1097280"/>
            <a:ext cx="36576" cy="4892040"/>
          </a:xfrm>
          <a:prstGeom prst="rect">
            <a:avLst/>
          </a:prstGeom>
          <a:solidFill>
            <a:srgbClr val="8C99B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4"/>
          <p:cNvSpPr/>
          <p:nvPr/>
        </p:nvSpPr>
        <p:spPr>
          <a:xfrm>
            <a:off x="457200" y="3474720"/>
            <a:ext cx="11064240" cy="36576"/>
          </a:xfrm>
          <a:prstGeom prst="rect">
            <a:avLst/>
          </a:prstGeom>
          <a:solidFill>
            <a:srgbClr val="8C99B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4"/>
          <p:cNvSpPr/>
          <p:nvPr/>
        </p:nvSpPr>
        <p:spPr>
          <a:xfrm>
            <a:off x="5394960" y="3017520"/>
            <a:ext cx="1051560" cy="105156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4"/>
          <p:cNvSpPr txBox="1"/>
          <p:nvPr/>
        </p:nvSpPr>
        <p:spPr>
          <a:xfrm>
            <a:off x="5394960" y="3246120"/>
            <a:ext cx="105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SWOT</a:t>
            </a:r>
            <a:endParaRPr sz="1800"/>
          </a:p>
        </p:txBody>
      </p:sp>
      <p:sp>
        <p:nvSpPr>
          <p:cNvPr id="1436" name="Google Shape;1436;p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4"/>
          <p:cNvSpPr txBox="1"/>
          <p:nvPr/>
        </p:nvSpPr>
        <p:spPr>
          <a:xfrm>
            <a:off x="457200" y="6583680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800"/>
          </a:p>
        </p:txBody>
      </p:sp>
      <p:sp>
        <p:nvSpPr>
          <p:cNvPr id="1438" name="Google Shape;1438;p34"/>
          <p:cNvSpPr txBox="1"/>
          <p:nvPr/>
        </p:nvSpPr>
        <p:spPr>
          <a:xfrm>
            <a:off x="10972800" y="6492240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/ 26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5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Scope</a:t>
            </a:r>
            <a:endParaRPr/>
          </a:p>
        </p:txBody>
      </p:sp>
      <p:sp>
        <p:nvSpPr>
          <p:cNvPr id="1446" name="Google Shape;1446;p35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5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Roadmap for Production &amp; Advanced Features</a:t>
            </a:r>
            <a:endParaRPr/>
          </a:p>
        </p:txBody>
      </p:sp>
      <p:sp>
        <p:nvSpPr>
          <p:cNvPr id="1448" name="Google Shape;1448;p35"/>
          <p:cNvSpPr/>
          <p:nvPr/>
        </p:nvSpPr>
        <p:spPr>
          <a:xfrm>
            <a:off x="320040" y="1097280"/>
            <a:ext cx="2697480" cy="77724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5"/>
          <p:cNvSpPr txBox="1"/>
          <p:nvPr/>
        </p:nvSpPr>
        <p:spPr>
          <a:xfrm>
            <a:off x="411480" y="11430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1</a:t>
            </a:r>
            <a:endParaRPr/>
          </a:p>
        </p:txBody>
      </p:sp>
      <p:sp>
        <p:nvSpPr>
          <p:cNvPr id="1450" name="Google Shape;1450;p35"/>
          <p:cNvSpPr txBox="1"/>
          <p:nvPr/>
        </p:nvSpPr>
        <p:spPr>
          <a:xfrm>
            <a:off x="411480" y="13258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Deployment</a:t>
            </a:r>
            <a:endParaRPr/>
          </a:p>
        </p:txBody>
      </p:sp>
      <p:sp>
        <p:nvSpPr>
          <p:cNvPr id="1451" name="Google Shape;1451;p35"/>
          <p:cNvSpPr txBox="1"/>
          <p:nvPr/>
        </p:nvSpPr>
        <p:spPr>
          <a:xfrm>
            <a:off x="411480" y="1600200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 Q3 2026</a:t>
            </a:r>
            <a:endParaRPr/>
          </a:p>
        </p:txBody>
      </p:sp>
      <p:sp>
        <p:nvSpPr>
          <p:cNvPr id="1452" name="Google Shape;1452;p35"/>
          <p:cNvSpPr/>
          <p:nvPr/>
        </p:nvSpPr>
        <p:spPr>
          <a:xfrm>
            <a:off x="320040" y="196596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5"/>
          <p:cNvSpPr txBox="1"/>
          <p:nvPr/>
        </p:nvSpPr>
        <p:spPr>
          <a:xfrm>
            <a:off x="411480" y="2075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/>
          </a:p>
        </p:txBody>
      </p:sp>
      <p:sp>
        <p:nvSpPr>
          <p:cNvPr id="1454" name="Google Shape;1454;p35"/>
          <p:cNvSpPr txBox="1"/>
          <p:nvPr/>
        </p:nvSpPr>
        <p:spPr>
          <a:xfrm>
            <a:off x="777240" y="20756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EC2 + ASG</a:t>
            </a:r>
            <a:endParaRPr/>
          </a:p>
        </p:txBody>
      </p:sp>
      <p:sp>
        <p:nvSpPr>
          <p:cNvPr id="1455" name="Google Shape;1455;p35"/>
          <p:cNvSpPr/>
          <p:nvPr/>
        </p:nvSpPr>
        <p:spPr>
          <a:xfrm>
            <a:off x="320040" y="26060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5"/>
          <p:cNvSpPr txBox="1"/>
          <p:nvPr/>
        </p:nvSpPr>
        <p:spPr>
          <a:xfrm>
            <a:off x="411480" y="2715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/>
          </a:p>
        </p:txBody>
      </p:sp>
      <p:sp>
        <p:nvSpPr>
          <p:cNvPr id="1457" name="Google Shape;1457;p35"/>
          <p:cNvSpPr txBox="1"/>
          <p:nvPr/>
        </p:nvSpPr>
        <p:spPr>
          <a:xfrm>
            <a:off x="777240" y="27157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VM Scale Sets</a:t>
            </a:r>
            <a:endParaRPr/>
          </a:p>
        </p:txBody>
      </p:sp>
      <p:sp>
        <p:nvSpPr>
          <p:cNvPr id="1458" name="Google Shape;1458;p35"/>
          <p:cNvSpPr/>
          <p:nvPr/>
        </p:nvSpPr>
        <p:spPr>
          <a:xfrm>
            <a:off x="320040" y="324612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5"/>
          <p:cNvSpPr txBox="1"/>
          <p:nvPr/>
        </p:nvSpPr>
        <p:spPr>
          <a:xfrm>
            <a:off x="411480" y="33558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/>
          </a:p>
        </p:txBody>
      </p:sp>
      <p:sp>
        <p:nvSpPr>
          <p:cNvPr id="1460" name="Google Shape;1460;p35"/>
          <p:cNvSpPr txBox="1"/>
          <p:nvPr/>
        </p:nvSpPr>
        <p:spPr>
          <a:xfrm>
            <a:off x="777240" y="3355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Google Cloud MIG</a:t>
            </a:r>
            <a:endParaRPr/>
          </a:p>
        </p:txBody>
      </p:sp>
      <p:sp>
        <p:nvSpPr>
          <p:cNvPr id="1461" name="Google Shape;1461;p35"/>
          <p:cNvSpPr/>
          <p:nvPr/>
        </p:nvSpPr>
        <p:spPr>
          <a:xfrm>
            <a:off x="3246120" y="1097280"/>
            <a:ext cx="2697480" cy="77724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5"/>
          <p:cNvSpPr txBox="1"/>
          <p:nvPr/>
        </p:nvSpPr>
        <p:spPr>
          <a:xfrm>
            <a:off x="3337560" y="11430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</a:t>
            </a:r>
            <a:endParaRPr/>
          </a:p>
        </p:txBody>
      </p:sp>
      <p:sp>
        <p:nvSpPr>
          <p:cNvPr id="1463" name="Google Shape;1463;p35"/>
          <p:cNvSpPr txBox="1"/>
          <p:nvPr/>
        </p:nvSpPr>
        <p:spPr>
          <a:xfrm>
            <a:off x="3337560" y="13258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Containerization</a:t>
            </a:r>
            <a:endParaRPr/>
          </a:p>
        </p:txBody>
      </p:sp>
      <p:sp>
        <p:nvSpPr>
          <p:cNvPr id="1464" name="Google Shape;1464;p35"/>
          <p:cNvSpPr txBox="1"/>
          <p:nvPr/>
        </p:nvSpPr>
        <p:spPr>
          <a:xfrm>
            <a:off x="3337560" y="1600200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 Q4 2026</a:t>
            </a:r>
            <a:endParaRPr/>
          </a:p>
        </p:txBody>
      </p:sp>
      <p:sp>
        <p:nvSpPr>
          <p:cNvPr id="1465" name="Google Shape;1465;p35"/>
          <p:cNvSpPr/>
          <p:nvPr/>
        </p:nvSpPr>
        <p:spPr>
          <a:xfrm>
            <a:off x="3246120" y="196596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5"/>
          <p:cNvSpPr txBox="1"/>
          <p:nvPr/>
        </p:nvSpPr>
        <p:spPr>
          <a:xfrm>
            <a:off x="3337560" y="2075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🐳</a:t>
            </a:r>
            <a:endParaRPr/>
          </a:p>
        </p:txBody>
      </p:sp>
      <p:sp>
        <p:nvSpPr>
          <p:cNvPr id="1467" name="Google Shape;1467;p35"/>
          <p:cNvSpPr txBox="1"/>
          <p:nvPr/>
        </p:nvSpPr>
        <p:spPr>
          <a:xfrm>
            <a:off x="3703320" y="20756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Docker Optimization</a:t>
            </a:r>
            <a:endParaRPr/>
          </a:p>
        </p:txBody>
      </p:sp>
      <p:sp>
        <p:nvSpPr>
          <p:cNvPr id="1468" name="Google Shape;1468;p35"/>
          <p:cNvSpPr/>
          <p:nvPr/>
        </p:nvSpPr>
        <p:spPr>
          <a:xfrm>
            <a:off x="3246120" y="26060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5"/>
          <p:cNvSpPr txBox="1"/>
          <p:nvPr/>
        </p:nvSpPr>
        <p:spPr>
          <a:xfrm>
            <a:off x="3337560" y="2715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☸</a:t>
            </a:r>
            <a:endParaRPr/>
          </a:p>
        </p:txBody>
      </p:sp>
      <p:sp>
        <p:nvSpPr>
          <p:cNvPr id="1470" name="Google Shape;1470;p35"/>
          <p:cNvSpPr txBox="1"/>
          <p:nvPr/>
        </p:nvSpPr>
        <p:spPr>
          <a:xfrm>
            <a:off x="3703320" y="27157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Kubernetes (K8s)</a:t>
            </a:r>
            <a:endParaRPr/>
          </a:p>
        </p:txBody>
      </p:sp>
      <p:sp>
        <p:nvSpPr>
          <p:cNvPr id="1471" name="Google Shape;1471;p35"/>
          <p:cNvSpPr/>
          <p:nvPr/>
        </p:nvSpPr>
        <p:spPr>
          <a:xfrm>
            <a:off x="3246120" y="324612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5"/>
          <p:cNvSpPr txBox="1"/>
          <p:nvPr/>
        </p:nvSpPr>
        <p:spPr>
          <a:xfrm>
            <a:off x="3337560" y="33558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</a:t>
            </a:r>
            <a:endParaRPr/>
          </a:p>
        </p:txBody>
      </p:sp>
      <p:sp>
        <p:nvSpPr>
          <p:cNvPr id="1473" name="Google Shape;1473;p35"/>
          <p:cNvSpPr txBox="1"/>
          <p:nvPr/>
        </p:nvSpPr>
        <p:spPr>
          <a:xfrm>
            <a:off x="3703320" y="3355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Helm Charts</a:t>
            </a:r>
            <a:endParaRPr/>
          </a:p>
        </p:txBody>
      </p:sp>
      <p:sp>
        <p:nvSpPr>
          <p:cNvPr id="1474" name="Google Shape;1474;p35"/>
          <p:cNvSpPr/>
          <p:nvPr/>
        </p:nvSpPr>
        <p:spPr>
          <a:xfrm>
            <a:off x="6172200" y="1097280"/>
            <a:ext cx="2697480" cy="77724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5"/>
          <p:cNvSpPr txBox="1"/>
          <p:nvPr/>
        </p:nvSpPr>
        <p:spPr>
          <a:xfrm>
            <a:off x="6263640" y="11430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3</a:t>
            </a:r>
            <a:endParaRPr/>
          </a:p>
        </p:txBody>
      </p:sp>
      <p:sp>
        <p:nvSpPr>
          <p:cNvPr id="1476" name="Google Shape;1476;p35"/>
          <p:cNvSpPr txBox="1"/>
          <p:nvPr/>
        </p:nvSpPr>
        <p:spPr>
          <a:xfrm>
            <a:off x="6263640" y="13258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Streaming</a:t>
            </a:r>
            <a:endParaRPr/>
          </a:p>
        </p:txBody>
      </p:sp>
      <p:sp>
        <p:nvSpPr>
          <p:cNvPr id="1477" name="Google Shape;1477;p35"/>
          <p:cNvSpPr txBox="1"/>
          <p:nvPr/>
        </p:nvSpPr>
        <p:spPr>
          <a:xfrm>
            <a:off x="6263640" y="1600200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 Q1 2027</a:t>
            </a:r>
            <a:endParaRPr/>
          </a:p>
        </p:txBody>
      </p:sp>
      <p:sp>
        <p:nvSpPr>
          <p:cNvPr id="1478" name="Google Shape;1478;p35"/>
          <p:cNvSpPr/>
          <p:nvPr/>
        </p:nvSpPr>
        <p:spPr>
          <a:xfrm>
            <a:off x="6172200" y="196596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5"/>
          <p:cNvSpPr txBox="1"/>
          <p:nvPr/>
        </p:nvSpPr>
        <p:spPr>
          <a:xfrm>
            <a:off x="6263640" y="2075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📡</a:t>
            </a:r>
            <a:endParaRPr/>
          </a:p>
        </p:txBody>
      </p:sp>
      <p:sp>
        <p:nvSpPr>
          <p:cNvPr id="1480" name="Google Shape;1480;p35"/>
          <p:cNvSpPr txBox="1"/>
          <p:nvPr/>
        </p:nvSpPr>
        <p:spPr>
          <a:xfrm>
            <a:off x="6629400" y="20756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Apache Kafka</a:t>
            </a:r>
            <a:endParaRPr/>
          </a:p>
        </p:txBody>
      </p:sp>
      <p:sp>
        <p:nvSpPr>
          <p:cNvPr id="1481" name="Google Shape;1481;p35"/>
          <p:cNvSpPr/>
          <p:nvPr/>
        </p:nvSpPr>
        <p:spPr>
          <a:xfrm>
            <a:off x="6172200" y="26060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5"/>
          <p:cNvSpPr txBox="1"/>
          <p:nvPr/>
        </p:nvSpPr>
        <p:spPr>
          <a:xfrm>
            <a:off x="6263640" y="2715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483" name="Google Shape;1483;p35"/>
          <p:cNvSpPr txBox="1"/>
          <p:nvPr/>
        </p:nvSpPr>
        <p:spPr>
          <a:xfrm>
            <a:off x="6629400" y="27157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Spark Streaming</a:t>
            </a:r>
            <a:endParaRPr/>
          </a:p>
        </p:txBody>
      </p:sp>
      <p:sp>
        <p:nvSpPr>
          <p:cNvPr id="1484" name="Google Shape;1484;p35"/>
          <p:cNvSpPr/>
          <p:nvPr/>
        </p:nvSpPr>
        <p:spPr>
          <a:xfrm>
            <a:off x="6172200" y="324612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5"/>
          <p:cNvSpPr txBox="1"/>
          <p:nvPr/>
        </p:nvSpPr>
        <p:spPr>
          <a:xfrm>
            <a:off x="6263640" y="33558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486" name="Google Shape;1486;p35"/>
          <p:cNvSpPr txBox="1"/>
          <p:nvPr/>
        </p:nvSpPr>
        <p:spPr>
          <a:xfrm>
            <a:off x="6629400" y="3355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ML Pipeline</a:t>
            </a:r>
            <a:endParaRPr/>
          </a:p>
        </p:txBody>
      </p:sp>
      <p:sp>
        <p:nvSpPr>
          <p:cNvPr id="1487" name="Google Shape;1487;p35"/>
          <p:cNvSpPr/>
          <p:nvPr/>
        </p:nvSpPr>
        <p:spPr>
          <a:xfrm>
            <a:off x="9098280" y="1097280"/>
            <a:ext cx="2697480" cy="77724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5"/>
          <p:cNvSpPr txBox="1"/>
          <p:nvPr/>
        </p:nvSpPr>
        <p:spPr>
          <a:xfrm>
            <a:off x="9189720" y="11430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4</a:t>
            </a:r>
            <a:endParaRPr/>
          </a:p>
        </p:txBody>
      </p:sp>
      <p:sp>
        <p:nvSpPr>
          <p:cNvPr id="1489" name="Google Shape;1489;p35"/>
          <p:cNvSpPr txBox="1"/>
          <p:nvPr/>
        </p:nvSpPr>
        <p:spPr>
          <a:xfrm>
            <a:off x="9189720" y="132588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 ML</a:t>
            </a:r>
            <a:endParaRPr/>
          </a:p>
        </p:txBody>
      </p:sp>
      <p:sp>
        <p:nvSpPr>
          <p:cNvPr id="1490" name="Google Shape;1490;p35"/>
          <p:cNvSpPr txBox="1"/>
          <p:nvPr/>
        </p:nvSpPr>
        <p:spPr>
          <a:xfrm>
            <a:off x="9189720" y="1600200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📅 Q2 2027</a:t>
            </a:r>
            <a:endParaRPr/>
          </a:p>
        </p:txBody>
      </p:sp>
      <p:sp>
        <p:nvSpPr>
          <p:cNvPr id="1491" name="Google Shape;1491;p35"/>
          <p:cNvSpPr/>
          <p:nvPr/>
        </p:nvSpPr>
        <p:spPr>
          <a:xfrm>
            <a:off x="9098280" y="196596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5"/>
          <p:cNvSpPr txBox="1"/>
          <p:nvPr/>
        </p:nvSpPr>
        <p:spPr>
          <a:xfrm>
            <a:off x="9189720" y="20756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1493" name="Google Shape;1493;p35"/>
          <p:cNvSpPr txBox="1"/>
          <p:nvPr/>
        </p:nvSpPr>
        <p:spPr>
          <a:xfrm>
            <a:off x="9555480" y="20756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Reinforcement Learning</a:t>
            </a:r>
            <a:endParaRPr/>
          </a:p>
        </p:txBody>
      </p:sp>
      <p:sp>
        <p:nvSpPr>
          <p:cNvPr id="1494" name="Google Shape;1494;p35"/>
          <p:cNvSpPr/>
          <p:nvPr/>
        </p:nvSpPr>
        <p:spPr>
          <a:xfrm>
            <a:off x="9098280" y="260604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5"/>
          <p:cNvSpPr txBox="1"/>
          <p:nvPr/>
        </p:nvSpPr>
        <p:spPr>
          <a:xfrm>
            <a:off x="9189720" y="2715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496" name="Google Shape;1496;p35"/>
          <p:cNvSpPr txBox="1"/>
          <p:nvPr/>
        </p:nvSpPr>
        <p:spPr>
          <a:xfrm>
            <a:off x="9555480" y="27157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Generative AI Alerts</a:t>
            </a:r>
            <a:endParaRPr/>
          </a:p>
        </p:txBody>
      </p:sp>
      <p:sp>
        <p:nvSpPr>
          <p:cNvPr id="1497" name="Google Shape;1497;p35"/>
          <p:cNvSpPr/>
          <p:nvPr/>
        </p:nvSpPr>
        <p:spPr>
          <a:xfrm>
            <a:off x="9098280" y="3246120"/>
            <a:ext cx="2697480" cy="54864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5"/>
          <p:cNvSpPr txBox="1"/>
          <p:nvPr/>
        </p:nvSpPr>
        <p:spPr>
          <a:xfrm>
            <a:off x="9189720" y="33558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🔮</a:t>
            </a:r>
            <a:endParaRPr/>
          </a:p>
        </p:txBody>
      </p:sp>
      <p:sp>
        <p:nvSpPr>
          <p:cNvPr id="1499" name="Google Shape;1499;p35"/>
          <p:cNvSpPr txBox="1"/>
          <p:nvPr/>
        </p:nvSpPr>
        <p:spPr>
          <a:xfrm>
            <a:off x="9555480" y="3355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AutoML Optimization</a:t>
            </a:r>
            <a:endParaRPr/>
          </a:p>
        </p:txBody>
      </p:sp>
      <p:sp>
        <p:nvSpPr>
          <p:cNvPr id="1500" name="Google Shape;1500;p35"/>
          <p:cNvSpPr txBox="1"/>
          <p:nvPr/>
        </p:nvSpPr>
        <p:spPr>
          <a:xfrm>
            <a:off x="457200" y="39319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🔬  Additional Future Technologies</a:t>
            </a:r>
            <a:endParaRPr/>
          </a:p>
        </p:txBody>
      </p:sp>
      <p:sp>
        <p:nvSpPr>
          <p:cNvPr id="1501" name="Google Shape;1501;p35"/>
          <p:cNvSpPr/>
          <p:nvPr/>
        </p:nvSpPr>
        <p:spPr>
          <a:xfrm>
            <a:off x="320040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5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1503" name="Google Shape;1503;p35"/>
          <p:cNvSpPr txBox="1"/>
          <p:nvPr/>
        </p:nvSpPr>
        <p:spPr>
          <a:xfrm>
            <a:off x="320040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Serverless</a:t>
            </a:r>
            <a:endParaRPr/>
          </a:p>
        </p:txBody>
      </p:sp>
      <p:sp>
        <p:nvSpPr>
          <p:cNvPr id="1504" name="Google Shape;1504;p35"/>
          <p:cNvSpPr txBox="1"/>
          <p:nvPr/>
        </p:nvSpPr>
        <p:spPr>
          <a:xfrm>
            <a:off x="320040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Lambda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Functions</a:t>
            </a:r>
            <a:endParaRPr/>
          </a:p>
        </p:txBody>
      </p:sp>
      <p:sp>
        <p:nvSpPr>
          <p:cNvPr id="1505" name="Google Shape;1505;p35"/>
          <p:cNvSpPr/>
          <p:nvPr/>
        </p:nvSpPr>
        <p:spPr>
          <a:xfrm>
            <a:off x="2258568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5"/>
          <p:cNvSpPr/>
          <p:nvPr/>
        </p:nvSpPr>
        <p:spPr>
          <a:xfrm>
            <a:off x="2807208" y="4343400"/>
            <a:ext cx="502920" cy="50292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🧪</a:t>
            </a:r>
            <a:endParaRPr/>
          </a:p>
        </p:txBody>
      </p:sp>
      <p:sp>
        <p:nvSpPr>
          <p:cNvPr id="1507" name="Google Shape;1507;p35"/>
          <p:cNvSpPr txBox="1"/>
          <p:nvPr/>
        </p:nvSpPr>
        <p:spPr>
          <a:xfrm>
            <a:off x="2258568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MLOps</a:t>
            </a:r>
            <a:endParaRPr/>
          </a:p>
        </p:txBody>
      </p:sp>
      <p:sp>
        <p:nvSpPr>
          <p:cNvPr id="1508" name="Google Shape;1508;p35"/>
          <p:cNvSpPr txBox="1"/>
          <p:nvPr/>
        </p:nvSpPr>
        <p:spPr>
          <a:xfrm>
            <a:off x="2258568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Versioning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&amp; Monitoring</a:t>
            </a:r>
            <a:endParaRPr/>
          </a:p>
        </p:txBody>
      </p:sp>
      <p:sp>
        <p:nvSpPr>
          <p:cNvPr id="1509" name="Google Shape;1509;p35"/>
          <p:cNvSpPr/>
          <p:nvPr/>
        </p:nvSpPr>
        <p:spPr>
          <a:xfrm>
            <a:off x="4197096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4D4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5"/>
          <p:cNvSpPr/>
          <p:nvPr/>
        </p:nvSpPr>
        <p:spPr>
          <a:xfrm>
            <a:off x="4745736" y="4343400"/>
            <a:ext cx="502920" cy="502920"/>
          </a:xfrm>
          <a:prstGeom prst="ellipse">
            <a:avLst/>
          </a:prstGeom>
          <a:solidFill>
            <a:srgbClr val="FF4D4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🔒</a:t>
            </a:r>
            <a:endParaRPr/>
          </a:p>
        </p:txBody>
      </p:sp>
      <p:sp>
        <p:nvSpPr>
          <p:cNvPr id="1511" name="Google Shape;1511;p35"/>
          <p:cNvSpPr txBox="1"/>
          <p:nvPr/>
        </p:nvSpPr>
        <p:spPr>
          <a:xfrm>
            <a:off x="4197096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endParaRPr/>
          </a:p>
        </p:txBody>
      </p:sp>
      <p:sp>
        <p:nvSpPr>
          <p:cNvPr id="1512" name="Google Shape;1512;p35"/>
          <p:cNvSpPr txBox="1"/>
          <p:nvPr/>
        </p:nvSpPr>
        <p:spPr>
          <a:xfrm>
            <a:off x="4197096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IAM, VPC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Encryption</a:t>
            </a:r>
            <a:endParaRPr/>
          </a:p>
        </p:txBody>
      </p:sp>
      <p:sp>
        <p:nvSpPr>
          <p:cNvPr id="1513" name="Google Shape;1513;p35"/>
          <p:cNvSpPr/>
          <p:nvPr/>
        </p:nvSpPr>
        <p:spPr>
          <a:xfrm>
            <a:off x="6135624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CCCC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5"/>
          <p:cNvSpPr/>
          <p:nvPr/>
        </p:nvSpPr>
        <p:spPr>
          <a:xfrm>
            <a:off x="6684264" y="4343400"/>
            <a:ext cx="502920" cy="502920"/>
          </a:xfrm>
          <a:prstGeom prst="ellipse">
            <a:avLst/>
          </a:prstGeom>
          <a:solidFill>
            <a:srgbClr val="00CCC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515" name="Google Shape;1515;p35"/>
          <p:cNvSpPr txBox="1"/>
          <p:nvPr/>
        </p:nvSpPr>
        <p:spPr>
          <a:xfrm>
            <a:off x="6135624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Grafana</a:t>
            </a:r>
            <a:endParaRPr/>
          </a:p>
        </p:txBody>
      </p:sp>
      <p:sp>
        <p:nvSpPr>
          <p:cNvPr id="1516" name="Google Shape;1516;p35"/>
          <p:cNvSpPr txBox="1"/>
          <p:nvPr/>
        </p:nvSpPr>
        <p:spPr>
          <a:xfrm>
            <a:off x="6135624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</a:t>
            </a:r>
            <a:endParaRPr/>
          </a:p>
        </p:txBody>
      </p:sp>
      <p:sp>
        <p:nvSpPr>
          <p:cNvPr id="1517" name="Google Shape;1517;p35"/>
          <p:cNvSpPr/>
          <p:nvPr/>
        </p:nvSpPr>
        <p:spPr>
          <a:xfrm>
            <a:off x="8074152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5"/>
          <p:cNvSpPr/>
          <p:nvPr/>
        </p:nvSpPr>
        <p:spPr>
          <a:xfrm>
            <a:off x="8622792" y="4343400"/>
            <a:ext cx="502920" cy="50292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/>
          </a:p>
        </p:txBody>
      </p:sp>
      <p:sp>
        <p:nvSpPr>
          <p:cNvPr id="1519" name="Google Shape;1519;p35"/>
          <p:cNvSpPr txBox="1"/>
          <p:nvPr/>
        </p:nvSpPr>
        <p:spPr>
          <a:xfrm>
            <a:off x="8074152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Multi-Cloud</a:t>
            </a:r>
            <a:endParaRPr/>
          </a:p>
        </p:txBody>
      </p:sp>
      <p:sp>
        <p:nvSpPr>
          <p:cNvPr id="1520" name="Google Shape;1520;p35"/>
          <p:cNvSpPr txBox="1"/>
          <p:nvPr/>
        </p:nvSpPr>
        <p:spPr>
          <a:xfrm>
            <a:off x="8074152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Cloud-agnostic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Deployment</a:t>
            </a:r>
            <a:endParaRPr/>
          </a:p>
        </p:txBody>
      </p:sp>
      <p:sp>
        <p:nvSpPr>
          <p:cNvPr id="1521" name="Google Shape;1521;p35"/>
          <p:cNvSpPr/>
          <p:nvPr/>
        </p:nvSpPr>
        <p:spPr>
          <a:xfrm>
            <a:off x="10012680" y="4251960"/>
            <a:ext cx="1737360" cy="13716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5"/>
          <p:cNvSpPr/>
          <p:nvPr/>
        </p:nvSpPr>
        <p:spPr>
          <a:xfrm>
            <a:off x="10561320" y="4343400"/>
            <a:ext cx="502920" cy="50292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🤖</a:t>
            </a:r>
            <a:endParaRPr/>
          </a:p>
        </p:txBody>
      </p:sp>
      <p:sp>
        <p:nvSpPr>
          <p:cNvPr id="1523" name="Google Shape;1523;p35"/>
          <p:cNvSpPr txBox="1"/>
          <p:nvPr/>
        </p:nvSpPr>
        <p:spPr>
          <a:xfrm>
            <a:off x="10012680" y="489204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 AI</a:t>
            </a:r>
            <a:endParaRPr/>
          </a:p>
        </p:txBody>
      </p:sp>
      <p:sp>
        <p:nvSpPr>
          <p:cNvPr id="1524" name="Google Shape;1524;p35"/>
          <p:cNvSpPr txBox="1"/>
          <p:nvPr/>
        </p:nvSpPr>
        <p:spPr>
          <a:xfrm>
            <a:off x="10012680" y="5120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Intelligent</a:t>
            </a:r>
            <a:b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Alerts &amp; Reports</a:t>
            </a:r>
            <a:endParaRPr/>
          </a:p>
        </p:txBody>
      </p:sp>
      <p:sp>
        <p:nvSpPr>
          <p:cNvPr id="1525" name="Google Shape;1525;p3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/>
          </a:p>
        </p:txBody>
      </p:sp>
      <p:sp>
        <p:nvSpPr>
          <p:cNvPr id="1527" name="Google Shape;1527;p35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 / 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3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6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/>
          </a:p>
        </p:txBody>
      </p:sp>
      <p:sp>
        <p:nvSpPr>
          <p:cNvPr id="1535" name="Google Shape;1535;p36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6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Summary &amp; Key Takeaways</a:t>
            </a:r>
            <a:endParaRPr/>
          </a:p>
        </p:txBody>
      </p:sp>
      <p:sp>
        <p:nvSpPr>
          <p:cNvPr id="1537" name="Google Shape;1537;p36"/>
          <p:cNvSpPr/>
          <p:nvPr/>
        </p:nvSpPr>
        <p:spPr>
          <a:xfrm>
            <a:off x="365760" y="1097280"/>
            <a:ext cx="3566160" cy="2011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D68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6"/>
          <p:cNvSpPr/>
          <p:nvPr/>
        </p:nvSpPr>
        <p:spPr>
          <a:xfrm>
            <a:off x="365760" y="1097280"/>
            <a:ext cx="356616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6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 sz="1700"/>
          </a:p>
        </p:txBody>
      </p:sp>
      <p:sp>
        <p:nvSpPr>
          <p:cNvPr id="1540" name="Google Shape;1540;p36"/>
          <p:cNvSpPr txBox="1"/>
          <p:nvPr/>
        </p:nvSpPr>
        <p:spPr>
          <a:xfrm>
            <a:off x="1051560" y="1280160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Success</a:t>
            </a:r>
            <a:endParaRPr sz="1700"/>
          </a:p>
        </p:txBody>
      </p:sp>
      <p:sp>
        <p:nvSpPr>
          <p:cNvPr id="1541" name="Google Shape;1541;p36"/>
          <p:cNvSpPr txBox="1"/>
          <p:nvPr/>
        </p:nvSpPr>
        <p:spPr>
          <a:xfrm>
            <a:off x="548640" y="1645920"/>
            <a:ext cx="320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Built end-to-end ML pipeline for cloud autoscaling</a:t>
            </a:r>
            <a:endParaRPr sz="1700"/>
          </a:p>
        </p:txBody>
      </p:sp>
      <p:sp>
        <p:nvSpPr>
          <p:cNvPr id="1542" name="Google Shape;1542;p36"/>
          <p:cNvSpPr txBox="1"/>
          <p:nvPr/>
        </p:nvSpPr>
        <p:spPr>
          <a:xfrm>
            <a:off x="548640" y="196596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98.5% prediction accuracy with XGBoost</a:t>
            </a:r>
            <a:endParaRPr sz="1700"/>
          </a:p>
        </p:txBody>
      </p:sp>
      <p:sp>
        <p:nvSpPr>
          <p:cNvPr id="1543" name="Google Shape;1543;p36"/>
          <p:cNvSpPr txBox="1"/>
          <p:nvPr/>
        </p:nvSpPr>
        <p:spPr>
          <a:xfrm>
            <a:off x="548640" y="228600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15-minute ahead traffic forecasting</a:t>
            </a:r>
            <a:endParaRPr sz="1700"/>
          </a:p>
        </p:txBody>
      </p:sp>
      <p:sp>
        <p:nvSpPr>
          <p:cNvPr id="1544" name="Google Shape;1544;p36"/>
          <p:cNvSpPr txBox="1"/>
          <p:nvPr/>
        </p:nvSpPr>
        <p:spPr>
          <a:xfrm>
            <a:off x="548640" y="2606040"/>
            <a:ext cx="320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Real-time dashboard with 9 interactive pages</a:t>
            </a:r>
            <a:endParaRPr sz="1700"/>
          </a:p>
        </p:txBody>
      </p:sp>
      <p:sp>
        <p:nvSpPr>
          <p:cNvPr id="1545" name="Google Shape;1545;p36"/>
          <p:cNvSpPr/>
          <p:nvPr/>
        </p:nvSpPr>
        <p:spPr>
          <a:xfrm>
            <a:off x="4206240" y="1097280"/>
            <a:ext cx="3566160" cy="2011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6"/>
          <p:cNvSpPr/>
          <p:nvPr/>
        </p:nvSpPr>
        <p:spPr>
          <a:xfrm>
            <a:off x="4206240" y="1097280"/>
            <a:ext cx="356616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6"/>
          <p:cNvSpPr/>
          <p:nvPr/>
        </p:nvSpPr>
        <p:spPr>
          <a:xfrm>
            <a:off x="4343400" y="1234440"/>
            <a:ext cx="457200" cy="457200"/>
          </a:xfrm>
          <a:prstGeom prst="ellipse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 sz="1700"/>
          </a:p>
        </p:txBody>
      </p:sp>
      <p:sp>
        <p:nvSpPr>
          <p:cNvPr id="1548" name="Google Shape;1548;p36"/>
          <p:cNvSpPr txBox="1"/>
          <p:nvPr/>
        </p:nvSpPr>
        <p:spPr>
          <a:xfrm>
            <a:off x="4892040" y="1280160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Contributions</a:t>
            </a:r>
            <a:endParaRPr sz="1700"/>
          </a:p>
        </p:txBody>
      </p:sp>
      <p:sp>
        <p:nvSpPr>
          <p:cNvPr id="1549" name="Google Shape;1549;p36"/>
          <p:cNvSpPr txBox="1"/>
          <p:nvPr/>
        </p:nvSpPr>
        <p:spPr>
          <a:xfrm>
            <a:off x="4389120" y="1645920"/>
            <a:ext cx="320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38 engineered features from 16 raw columns</a:t>
            </a:r>
            <a:endParaRPr sz="1700"/>
          </a:p>
        </p:txBody>
      </p:sp>
      <p:sp>
        <p:nvSpPr>
          <p:cNvPr id="1550" name="Google Shape;1550;p36"/>
          <p:cNvSpPr txBox="1"/>
          <p:nvPr/>
        </p:nvSpPr>
        <p:spPr>
          <a:xfrm>
            <a:off x="4389120" y="196596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Multi-metric autoscaling decision engine</a:t>
            </a:r>
            <a:endParaRPr sz="1700"/>
          </a:p>
        </p:txBody>
      </p:sp>
      <p:sp>
        <p:nvSpPr>
          <p:cNvPr id="1551" name="Google Shape;1551;p36"/>
          <p:cNvSpPr txBox="1"/>
          <p:nvPr/>
        </p:nvSpPr>
        <p:spPr>
          <a:xfrm>
            <a:off x="4389120" y="228600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RESTful API with 5 production endpoints</a:t>
            </a:r>
            <a:endParaRPr sz="1700"/>
          </a:p>
        </p:txBody>
      </p:sp>
      <p:sp>
        <p:nvSpPr>
          <p:cNvPr id="1552" name="Google Shape;1552;p36"/>
          <p:cNvSpPr txBox="1"/>
          <p:nvPr/>
        </p:nvSpPr>
        <p:spPr>
          <a:xfrm>
            <a:off x="4389120" y="260604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Docker-containerized deployment</a:t>
            </a:r>
            <a:endParaRPr sz="1700"/>
          </a:p>
        </p:txBody>
      </p:sp>
      <p:sp>
        <p:nvSpPr>
          <p:cNvPr id="1553" name="Google Shape;1553;p36"/>
          <p:cNvSpPr/>
          <p:nvPr/>
        </p:nvSpPr>
        <p:spPr>
          <a:xfrm>
            <a:off x="8046720" y="1097280"/>
            <a:ext cx="3566160" cy="2011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36"/>
          <p:cNvSpPr/>
          <p:nvPr/>
        </p:nvSpPr>
        <p:spPr>
          <a:xfrm>
            <a:off x="8046720" y="1097280"/>
            <a:ext cx="356616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6"/>
          <p:cNvSpPr/>
          <p:nvPr/>
        </p:nvSpPr>
        <p:spPr>
          <a:xfrm>
            <a:off x="8183880" y="1234440"/>
            <a:ext cx="457200" cy="457200"/>
          </a:xfrm>
          <a:prstGeom prst="ellipse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💼</a:t>
            </a:r>
            <a:endParaRPr sz="1700"/>
          </a:p>
        </p:txBody>
      </p:sp>
      <p:sp>
        <p:nvSpPr>
          <p:cNvPr id="1556" name="Google Shape;1556;p36"/>
          <p:cNvSpPr txBox="1"/>
          <p:nvPr/>
        </p:nvSpPr>
        <p:spPr>
          <a:xfrm>
            <a:off x="8732520" y="1280160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Benefits</a:t>
            </a:r>
            <a:endParaRPr sz="1700"/>
          </a:p>
        </p:txBody>
      </p:sp>
      <p:sp>
        <p:nvSpPr>
          <p:cNvPr id="1557" name="Google Shape;1557;p36"/>
          <p:cNvSpPr txBox="1"/>
          <p:nvPr/>
        </p:nvSpPr>
        <p:spPr>
          <a:xfrm>
            <a:off x="8229600" y="164592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35-40% reduction in cloud costs</a:t>
            </a:r>
            <a:endParaRPr sz="1700"/>
          </a:p>
        </p:txBody>
      </p:sp>
      <p:sp>
        <p:nvSpPr>
          <p:cNvPr id="1558" name="Google Shape;1558;p36"/>
          <p:cNvSpPr txBox="1"/>
          <p:nvPr/>
        </p:nvSpPr>
        <p:spPr>
          <a:xfrm>
            <a:off x="8229600" y="196596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99.9% uptime with proactive scaling</a:t>
            </a:r>
            <a:endParaRPr sz="1700"/>
          </a:p>
        </p:txBody>
      </p:sp>
      <p:sp>
        <p:nvSpPr>
          <p:cNvPr id="1559" name="Google Shape;1559;p36"/>
          <p:cNvSpPr txBox="1"/>
          <p:nvPr/>
        </p:nvSpPr>
        <p:spPr>
          <a:xfrm>
            <a:off x="8229600" y="228600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3x improvement in user experience</a:t>
            </a:r>
            <a:endParaRPr sz="1700"/>
          </a:p>
        </p:txBody>
      </p:sp>
      <p:sp>
        <p:nvSpPr>
          <p:cNvPr id="1560" name="Google Shape;1560;p36"/>
          <p:cNvSpPr txBox="1"/>
          <p:nvPr/>
        </p:nvSpPr>
        <p:spPr>
          <a:xfrm>
            <a:off x="8229600" y="2606040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Applicable to 6+ major industries</a:t>
            </a:r>
            <a:endParaRPr sz="1700"/>
          </a:p>
        </p:txBody>
      </p:sp>
      <p:sp>
        <p:nvSpPr>
          <p:cNvPr id="1561" name="Google Shape;1561;p36"/>
          <p:cNvSpPr/>
          <p:nvPr/>
        </p:nvSpPr>
        <p:spPr>
          <a:xfrm>
            <a:off x="365760" y="3383280"/>
            <a:ext cx="5394960" cy="2011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A85C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36"/>
          <p:cNvSpPr/>
          <p:nvPr/>
        </p:nvSpPr>
        <p:spPr>
          <a:xfrm>
            <a:off x="365760" y="3383280"/>
            <a:ext cx="539496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36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☁</a:t>
            </a:r>
            <a:endParaRPr sz="1700"/>
          </a:p>
        </p:txBody>
      </p:sp>
      <p:sp>
        <p:nvSpPr>
          <p:cNvPr id="1564" name="Google Shape;1564;p36"/>
          <p:cNvSpPr txBox="1"/>
          <p:nvPr/>
        </p:nvSpPr>
        <p:spPr>
          <a:xfrm>
            <a:off x="1051560" y="3566160"/>
            <a:ext cx="448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Optimization</a:t>
            </a:r>
            <a:endParaRPr sz="1700"/>
          </a:p>
        </p:txBody>
      </p:sp>
      <p:sp>
        <p:nvSpPr>
          <p:cNvPr id="1565" name="Google Shape;1565;p36"/>
          <p:cNvSpPr txBox="1"/>
          <p:nvPr/>
        </p:nvSpPr>
        <p:spPr>
          <a:xfrm>
            <a:off x="548640" y="393192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Eliminates reactive scaling delays</a:t>
            </a:r>
            <a:endParaRPr sz="1700"/>
          </a:p>
        </p:txBody>
      </p:sp>
      <p:sp>
        <p:nvSpPr>
          <p:cNvPr id="1566" name="Google Shape;1566;p36"/>
          <p:cNvSpPr txBox="1"/>
          <p:nvPr/>
        </p:nvSpPr>
        <p:spPr>
          <a:xfrm>
            <a:off x="548640" y="425196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Handles flash crowds proactively</a:t>
            </a:r>
            <a:endParaRPr sz="1700"/>
          </a:p>
        </p:txBody>
      </p:sp>
      <p:sp>
        <p:nvSpPr>
          <p:cNvPr id="1567" name="Google Shape;1567;p36"/>
          <p:cNvSpPr txBox="1"/>
          <p:nvPr/>
        </p:nvSpPr>
        <p:spPr>
          <a:xfrm>
            <a:off x="548640" y="457200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Optimizes resource utilization by 45%</a:t>
            </a:r>
            <a:endParaRPr sz="1700"/>
          </a:p>
        </p:txBody>
      </p:sp>
      <p:sp>
        <p:nvSpPr>
          <p:cNvPr id="1568" name="Google Shape;1568;p36"/>
          <p:cNvSpPr txBox="1"/>
          <p:nvPr/>
        </p:nvSpPr>
        <p:spPr>
          <a:xfrm>
            <a:off x="548640" y="489204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Supports 2-10 instance auto-scaling</a:t>
            </a:r>
            <a:endParaRPr sz="1700"/>
          </a:p>
        </p:txBody>
      </p:sp>
      <p:sp>
        <p:nvSpPr>
          <p:cNvPr id="1569" name="Google Shape;1569;p36"/>
          <p:cNvSpPr/>
          <p:nvPr/>
        </p:nvSpPr>
        <p:spPr>
          <a:xfrm>
            <a:off x="6126480" y="3383280"/>
            <a:ext cx="5394960" cy="201168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36"/>
          <p:cNvSpPr/>
          <p:nvPr/>
        </p:nvSpPr>
        <p:spPr>
          <a:xfrm>
            <a:off x="6126480" y="3383280"/>
            <a:ext cx="5394960" cy="45720"/>
          </a:xfrm>
          <a:prstGeom prst="rect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6"/>
          <p:cNvSpPr/>
          <p:nvPr/>
        </p:nvSpPr>
        <p:spPr>
          <a:xfrm>
            <a:off x="6263640" y="3520440"/>
            <a:ext cx="457200" cy="457200"/>
          </a:xfrm>
          <a:prstGeom prst="ellipse">
            <a:avLst/>
          </a:prstGeom>
          <a:solidFill>
            <a:srgbClr val="FF9F4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🔮</a:t>
            </a:r>
            <a:endParaRPr sz="1700"/>
          </a:p>
        </p:txBody>
      </p:sp>
      <p:sp>
        <p:nvSpPr>
          <p:cNvPr id="1572" name="Google Shape;1572;p36"/>
          <p:cNvSpPr txBox="1"/>
          <p:nvPr/>
        </p:nvSpPr>
        <p:spPr>
          <a:xfrm>
            <a:off x="6812280" y="3566160"/>
            <a:ext cx="4480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Improvements</a:t>
            </a:r>
            <a:endParaRPr sz="1700"/>
          </a:p>
        </p:txBody>
      </p:sp>
      <p:sp>
        <p:nvSpPr>
          <p:cNvPr id="1573" name="Google Shape;1573;p36"/>
          <p:cNvSpPr txBox="1"/>
          <p:nvPr/>
        </p:nvSpPr>
        <p:spPr>
          <a:xfrm>
            <a:off x="6309360" y="393192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AWS/Azure/GCP cloud deployment</a:t>
            </a:r>
            <a:endParaRPr sz="1700"/>
          </a:p>
        </p:txBody>
      </p:sp>
      <p:sp>
        <p:nvSpPr>
          <p:cNvPr id="1574" name="Google Shape;1574;p36"/>
          <p:cNvSpPr txBox="1"/>
          <p:nvPr/>
        </p:nvSpPr>
        <p:spPr>
          <a:xfrm>
            <a:off x="6309360" y="425196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Kubernetes container orchestration</a:t>
            </a:r>
            <a:endParaRPr sz="1700"/>
          </a:p>
        </p:txBody>
      </p:sp>
      <p:sp>
        <p:nvSpPr>
          <p:cNvPr id="1575" name="Google Shape;1575;p36"/>
          <p:cNvSpPr txBox="1"/>
          <p:nvPr/>
        </p:nvSpPr>
        <p:spPr>
          <a:xfrm>
            <a:off x="6309360" y="457200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Real-time Kafka streaming pipeline</a:t>
            </a:r>
            <a:endParaRPr sz="1700"/>
          </a:p>
        </p:txBody>
      </p:sp>
      <p:sp>
        <p:nvSpPr>
          <p:cNvPr id="1576" name="Google Shape;1576;p36"/>
          <p:cNvSpPr txBox="1"/>
          <p:nvPr/>
        </p:nvSpPr>
        <p:spPr>
          <a:xfrm>
            <a:off x="6309360" y="4892040"/>
            <a:ext cx="502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Reinforcement Learning + Gen AI</a:t>
            </a:r>
            <a:endParaRPr sz="1700"/>
          </a:p>
        </p:txBody>
      </p:sp>
      <p:sp>
        <p:nvSpPr>
          <p:cNvPr id="1577" name="Google Shape;1577;p36"/>
          <p:cNvSpPr/>
          <p:nvPr/>
        </p:nvSpPr>
        <p:spPr>
          <a:xfrm>
            <a:off x="365750" y="5577853"/>
            <a:ext cx="11430000" cy="797400"/>
          </a:xfrm>
          <a:prstGeom prst="roundRect">
            <a:avLst>
              <a:gd name="adj" fmla="val 16667"/>
            </a:avLst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6"/>
          <p:cNvSpPr txBox="1"/>
          <p:nvPr/>
        </p:nvSpPr>
        <p:spPr>
          <a:xfrm>
            <a:off x="640080" y="5623560"/>
            <a:ext cx="10972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KEY TAKEAWAY</a:t>
            </a:r>
            <a:endParaRPr sz="1700"/>
          </a:p>
        </p:txBody>
      </p:sp>
      <p:sp>
        <p:nvSpPr>
          <p:cNvPr id="1579" name="Google Shape;1579;p36"/>
          <p:cNvSpPr txBox="1"/>
          <p:nvPr/>
        </p:nvSpPr>
        <p:spPr>
          <a:xfrm>
            <a:off x="640080" y="585216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autoscaling with ML transforms cloud infrastructure from reactive to proactive — reducing costs, improving performance, and delivering superior user experiences.</a:t>
            </a:r>
            <a:endParaRPr sz="1700"/>
          </a:p>
        </p:txBody>
      </p:sp>
      <p:sp>
        <p:nvSpPr>
          <p:cNvPr id="1580" name="Google Shape;1580;p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36"/>
          <p:cNvSpPr txBox="1"/>
          <p:nvPr/>
        </p:nvSpPr>
        <p:spPr>
          <a:xfrm>
            <a:off x="457200" y="6583680"/>
            <a:ext cx="5486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700"/>
          </a:p>
        </p:txBody>
      </p:sp>
      <p:sp>
        <p:nvSpPr>
          <p:cNvPr id="1582" name="Google Shape;1582;p36"/>
          <p:cNvSpPr txBox="1"/>
          <p:nvPr/>
        </p:nvSpPr>
        <p:spPr>
          <a:xfrm>
            <a:off x="10972800" y="6492240"/>
            <a:ext cx="1097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24 / 26</a:t>
            </a:r>
            <a:endParaRPr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3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7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References</a:t>
            </a:r>
            <a:endParaRPr/>
          </a:p>
        </p:txBody>
      </p:sp>
      <p:sp>
        <p:nvSpPr>
          <p:cNvPr id="1590" name="Google Shape;1590;p37"/>
          <p:cNvSpPr/>
          <p:nvPr/>
        </p:nvSpPr>
        <p:spPr>
          <a:xfrm>
            <a:off x="640080" y="731520"/>
            <a:ext cx="182880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7"/>
          <p:cNvSpPr txBox="1"/>
          <p:nvPr/>
        </p:nvSpPr>
        <p:spPr>
          <a:xfrm>
            <a:off x="640080" y="8229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Papers, Documentation &amp; Resources</a:t>
            </a:r>
            <a:endParaRPr/>
          </a:p>
        </p:txBody>
      </p:sp>
      <p:sp>
        <p:nvSpPr>
          <p:cNvPr id="1592" name="Google Shape;1592;p37"/>
          <p:cNvSpPr/>
          <p:nvPr/>
        </p:nvSpPr>
        <p:spPr>
          <a:xfrm>
            <a:off x="365760" y="1097280"/>
            <a:ext cx="5577840" cy="22860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7"/>
          <p:cNvSpPr/>
          <p:nvPr/>
        </p:nvSpPr>
        <p:spPr>
          <a:xfrm>
            <a:off x="365760" y="1097280"/>
            <a:ext cx="5577840" cy="45720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7"/>
          <p:cNvSpPr txBox="1"/>
          <p:nvPr/>
        </p:nvSpPr>
        <p:spPr>
          <a:xfrm>
            <a:off x="548640" y="1207008"/>
            <a:ext cx="5212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6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Platforms &amp; Services</a:t>
            </a:r>
            <a:endParaRPr sz="1800"/>
          </a:p>
        </p:txBody>
      </p:sp>
      <p:sp>
        <p:nvSpPr>
          <p:cNvPr id="1595" name="Google Shape;1595;p37"/>
          <p:cNvSpPr txBox="1"/>
          <p:nvPr/>
        </p:nvSpPr>
        <p:spPr>
          <a:xfrm>
            <a:off x="548640" y="1508760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[1] IBM Cloud Documentation — cloud.ibm.com/docs</a:t>
            </a:r>
            <a:endParaRPr sz="1800"/>
          </a:p>
        </p:txBody>
      </p:sp>
      <p:sp>
        <p:nvSpPr>
          <p:cNvPr id="1596" name="Google Shape;1596;p37"/>
          <p:cNvSpPr txBox="1"/>
          <p:nvPr/>
        </p:nvSpPr>
        <p:spPr>
          <a:xfrm>
            <a:off x="548640" y="1929384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[2] AWS Auto Scaling — docs.aws.amazon.com/autoscaling</a:t>
            </a:r>
            <a:endParaRPr sz="1800"/>
          </a:p>
        </p:txBody>
      </p:sp>
      <p:sp>
        <p:nvSpPr>
          <p:cNvPr id="1597" name="Google Shape;1597;p37"/>
          <p:cNvSpPr txBox="1"/>
          <p:nvPr/>
        </p:nvSpPr>
        <p:spPr>
          <a:xfrm>
            <a:off x="548640" y="2350008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[3] AWS EC2 Documentation — docs.aws.amazon.com/ec2</a:t>
            </a:r>
            <a:endParaRPr sz="1800"/>
          </a:p>
        </p:txBody>
      </p:sp>
      <p:sp>
        <p:nvSpPr>
          <p:cNvPr id="1598" name="Google Shape;1598;p37"/>
          <p:cNvSpPr txBox="1"/>
          <p:nvPr/>
        </p:nvSpPr>
        <p:spPr>
          <a:xfrm>
            <a:off x="548640" y="2770632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[4] Google Cloud Autoscaler — cloud.google.com/compute/docs/autoscaler</a:t>
            </a:r>
            <a:endParaRPr sz="1800"/>
          </a:p>
        </p:txBody>
      </p:sp>
      <p:sp>
        <p:nvSpPr>
          <p:cNvPr id="1599" name="Google Shape;1599;p37"/>
          <p:cNvSpPr/>
          <p:nvPr/>
        </p:nvSpPr>
        <p:spPr>
          <a:xfrm>
            <a:off x="6172200" y="1097280"/>
            <a:ext cx="5577840" cy="22860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7"/>
          <p:cNvSpPr/>
          <p:nvPr/>
        </p:nvSpPr>
        <p:spPr>
          <a:xfrm>
            <a:off x="6172200" y="1097280"/>
            <a:ext cx="5577840" cy="45720"/>
          </a:xfrm>
          <a:prstGeom prst="rect">
            <a:avLst/>
          </a:prstGeom>
          <a:solidFill>
            <a:srgbClr val="00D68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7"/>
          <p:cNvSpPr txBox="1"/>
          <p:nvPr/>
        </p:nvSpPr>
        <p:spPr>
          <a:xfrm>
            <a:off x="6355080" y="1207008"/>
            <a:ext cx="5212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D6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ML Frameworks &amp; Libraries</a:t>
            </a:r>
            <a:endParaRPr sz="1800"/>
          </a:p>
        </p:txBody>
      </p:sp>
      <p:sp>
        <p:nvSpPr>
          <p:cNvPr id="1602" name="Google Shape;1602;p37"/>
          <p:cNvSpPr txBox="1"/>
          <p:nvPr/>
        </p:nvSpPr>
        <p:spPr>
          <a:xfrm>
            <a:off x="6355080" y="1508760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[5] XGBoost: Chen &amp; Guestrin, KDD 2016 — xgboost.readthedocs.io</a:t>
            </a:r>
            <a:endParaRPr sz="1800"/>
          </a:p>
        </p:txBody>
      </p:sp>
      <p:sp>
        <p:nvSpPr>
          <p:cNvPr id="1603" name="Google Shape;1603;p37"/>
          <p:cNvSpPr txBox="1"/>
          <p:nvPr/>
        </p:nvSpPr>
        <p:spPr>
          <a:xfrm>
            <a:off x="6355080" y="1929384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[6] Facebook Prophet — facebook.github.io/prophet</a:t>
            </a:r>
            <a:endParaRPr sz="1800"/>
          </a:p>
        </p:txBody>
      </p:sp>
      <p:sp>
        <p:nvSpPr>
          <p:cNvPr id="1604" name="Google Shape;1604;p37"/>
          <p:cNvSpPr txBox="1"/>
          <p:nvPr/>
        </p:nvSpPr>
        <p:spPr>
          <a:xfrm>
            <a:off x="6355080" y="2350008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[7] Scikit-learn — scikit-learn.org/stable/documentation</a:t>
            </a:r>
            <a:endParaRPr sz="1800"/>
          </a:p>
        </p:txBody>
      </p:sp>
      <p:sp>
        <p:nvSpPr>
          <p:cNvPr id="1605" name="Google Shape;1605;p37"/>
          <p:cNvSpPr txBox="1"/>
          <p:nvPr/>
        </p:nvSpPr>
        <p:spPr>
          <a:xfrm>
            <a:off x="6355080" y="2770632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[8] TensorFlow LSTM — tensorflow.org/api_docs</a:t>
            </a:r>
            <a:endParaRPr sz="1800"/>
          </a:p>
        </p:txBody>
      </p:sp>
      <p:sp>
        <p:nvSpPr>
          <p:cNvPr id="1606" name="Google Shape;1606;p37"/>
          <p:cNvSpPr/>
          <p:nvPr/>
        </p:nvSpPr>
        <p:spPr>
          <a:xfrm>
            <a:off x="365760" y="3611880"/>
            <a:ext cx="5577840" cy="22860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37"/>
          <p:cNvSpPr/>
          <p:nvPr/>
        </p:nvSpPr>
        <p:spPr>
          <a:xfrm>
            <a:off x="365760" y="3611880"/>
            <a:ext cx="557784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7"/>
          <p:cNvSpPr txBox="1"/>
          <p:nvPr/>
        </p:nvSpPr>
        <p:spPr>
          <a:xfrm>
            <a:off x="548640" y="3721608"/>
            <a:ext cx="5212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Technologies</a:t>
            </a:r>
            <a:endParaRPr sz="1800"/>
          </a:p>
        </p:txBody>
      </p:sp>
      <p:sp>
        <p:nvSpPr>
          <p:cNvPr id="1609" name="Google Shape;1609;p37"/>
          <p:cNvSpPr txBox="1"/>
          <p:nvPr/>
        </p:nvSpPr>
        <p:spPr>
          <a:xfrm>
            <a:off x="548640" y="4023360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[9] FastAPI Framework — fastapi.tiangolo.com</a:t>
            </a:r>
            <a:endParaRPr sz="1800"/>
          </a:p>
        </p:txBody>
      </p:sp>
      <p:sp>
        <p:nvSpPr>
          <p:cNvPr id="1610" name="Google Shape;1610;p37"/>
          <p:cNvSpPr txBox="1"/>
          <p:nvPr/>
        </p:nvSpPr>
        <p:spPr>
          <a:xfrm>
            <a:off x="548640" y="4443984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[10] Plotly.js Documentation — plotly.com/javascript</a:t>
            </a:r>
            <a:endParaRPr sz="1800"/>
          </a:p>
        </p:txBody>
      </p:sp>
      <p:sp>
        <p:nvSpPr>
          <p:cNvPr id="1611" name="Google Shape;1611;p37"/>
          <p:cNvSpPr txBox="1"/>
          <p:nvPr/>
        </p:nvSpPr>
        <p:spPr>
          <a:xfrm>
            <a:off x="548640" y="4864608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[11] ApexCharts — apexcharts.com/docs</a:t>
            </a:r>
            <a:endParaRPr sz="1800"/>
          </a:p>
        </p:txBody>
      </p:sp>
      <p:sp>
        <p:nvSpPr>
          <p:cNvPr id="1612" name="Google Shape;1612;p37"/>
          <p:cNvSpPr txBox="1"/>
          <p:nvPr/>
        </p:nvSpPr>
        <p:spPr>
          <a:xfrm>
            <a:off x="548640" y="5285232"/>
            <a:ext cx="5212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[12] Bootstrap 5 — getbootstrap.com/docs/5.0</a:t>
            </a:r>
            <a:endParaRPr sz="1800"/>
          </a:p>
        </p:txBody>
      </p:sp>
      <p:sp>
        <p:nvSpPr>
          <p:cNvPr id="1613" name="Google Shape;1613;p37"/>
          <p:cNvSpPr/>
          <p:nvPr/>
        </p:nvSpPr>
        <p:spPr>
          <a:xfrm>
            <a:off x="6172200" y="3611880"/>
            <a:ext cx="5577840" cy="228600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142A5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7"/>
          <p:cNvSpPr/>
          <p:nvPr/>
        </p:nvSpPr>
        <p:spPr>
          <a:xfrm>
            <a:off x="6172200" y="3611880"/>
            <a:ext cx="5577840" cy="45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37"/>
          <p:cNvSpPr txBox="1"/>
          <p:nvPr/>
        </p:nvSpPr>
        <p:spPr>
          <a:xfrm>
            <a:off x="6355080" y="3721608"/>
            <a:ext cx="5212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85C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Research Papers</a:t>
            </a:r>
            <a:endParaRPr sz="1800"/>
          </a:p>
        </p:txBody>
      </p:sp>
      <p:sp>
        <p:nvSpPr>
          <p:cNvPr id="1616" name="Google Shape;1616;p37"/>
          <p:cNvSpPr txBox="1"/>
          <p:nvPr/>
        </p:nvSpPr>
        <p:spPr>
          <a:xfrm>
            <a:off x="6355080" y="4023360"/>
            <a:ext cx="5212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[13] Lorido-Botran et al., 'Auto-scaling Techniques for Elastic Applications in Cloud'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Environments, J. Grid Computing, 2014</a:t>
            </a:r>
            <a:endParaRPr sz="1800"/>
          </a:p>
        </p:txBody>
      </p:sp>
      <p:sp>
        <p:nvSpPr>
          <p:cNvPr id="1617" name="Google Shape;1617;p37"/>
          <p:cNvSpPr txBox="1"/>
          <p:nvPr/>
        </p:nvSpPr>
        <p:spPr>
          <a:xfrm>
            <a:off x="6355080" y="4443984"/>
            <a:ext cx="5212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[14] Qu et al., 'Auto-scaling Web Applications in Clouds: A Taxonomy and Survey',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ACM Computing Surveys, 2018</a:t>
            </a:r>
            <a:endParaRPr sz="1800"/>
          </a:p>
        </p:txBody>
      </p:sp>
      <p:sp>
        <p:nvSpPr>
          <p:cNvPr id="1618" name="Google Shape;1618;p37"/>
          <p:cNvSpPr txBox="1"/>
          <p:nvPr/>
        </p:nvSpPr>
        <p:spPr>
          <a:xfrm>
            <a:off x="6355080" y="4864608"/>
            <a:ext cx="5212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[15] Zhang et al., 'Predictive Cloud Resource Scaling Using Machine Learning',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IEEE Cloud Computing, 2020</a:t>
            </a:r>
            <a:endParaRPr sz="1800"/>
          </a:p>
        </p:txBody>
      </p:sp>
      <p:sp>
        <p:nvSpPr>
          <p:cNvPr id="1619" name="Google Shape;1619;p37"/>
          <p:cNvSpPr txBox="1"/>
          <p:nvPr/>
        </p:nvSpPr>
        <p:spPr>
          <a:xfrm>
            <a:off x="6355080" y="5285232"/>
            <a:ext cx="52122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[16] Roy et al., 'Efficient Autoscaling in the Cloud Using Predictive Models',</a:t>
            </a:r>
            <a:b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1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IEEE CLOUD, 2011</a:t>
            </a:r>
            <a:endParaRPr sz="1800"/>
          </a:p>
        </p:txBody>
      </p:sp>
      <p:sp>
        <p:nvSpPr>
          <p:cNvPr id="1620" name="Google Shape;1620;p3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37"/>
          <p:cNvSpPr txBox="1"/>
          <p:nvPr/>
        </p:nvSpPr>
        <p:spPr>
          <a:xfrm>
            <a:off x="457200" y="6583680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|  Predictive Autoscaling Using ML on Cloud</a:t>
            </a:r>
            <a:endParaRPr sz="1800"/>
          </a:p>
        </p:txBody>
      </p:sp>
      <p:sp>
        <p:nvSpPr>
          <p:cNvPr id="1622" name="Google Shape;1622;p37"/>
          <p:cNvSpPr txBox="1"/>
          <p:nvPr/>
        </p:nvSpPr>
        <p:spPr>
          <a:xfrm>
            <a:off x="10972800" y="6492240"/>
            <a:ext cx="1097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 / 26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E2B"/>
        </a:solidFill>
        <a:effectLst/>
      </p:bgPr>
    </p:bg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38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0618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38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0618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2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8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You!</a:t>
            </a:r>
            <a:endParaRPr/>
          </a:p>
        </p:txBody>
      </p:sp>
      <p:sp>
        <p:nvSpPr>
          <p:cNvPr id="1632" name="Google Shape;1632;p38"/>
          <p:cNvSpPr/>
          <p:nvPr/>
        </p:nvSpPr>
        <p:spPr>
          <a:xfrm>
            <a:off x="4754880" y="2286000"/>
            <a:ext cx="2743200" cy="45720"/>
          </a:xfrm>
          <a:prstGeom prst="rect">
            <a:avLst/>
          </a:prstGeom>
          <a:solidFill>
            <a:srgbClr val="00B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8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B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Predictive Autoscaling Using Machine Learning on Cloud</a:t>
            </a:r>
            <a:endParaRPr/>
          </a:p>
        </p:txBody>
      </p:sp>
      <p:sp>
        <p:nvSpPr>
          <p:cNvPr id="1634" name="Google Shape;1634;p38"/>
          <p:cNvSpPr txBox="1"/>
          <p:nvPr/>
        </p:nvSpPr>
        <p:spPr>
          <a:xfrm>
            <a:off x="0" y="310896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4CCD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Internship  •  Final Project Review</a:t>
            </a:r>
            <a:endParaRPr/>
          </a:p>
        </p:txBody>
      </p:sp>
      <p:sp>
        <p:nvSpPr>
          <p:cNvPr id="1635" name="Google Shape;1635;p38"/>
          <p:cNvSpPr/>
          <p:nvPr/>
        </p:nvSpPr>
        <p:spPr>
          <a:xfrm>
            <a:off x="3657600" y="3840480"/>
            <a:ext cx="4846320" cy="1188720"/>
          </a:xfrm>
          <a:prstGeom prst="roundRect">
            <a:avLst>
              <a:gd name="adj" fmla="val 16667"/>
            </a:avLst>
          </a:prstGeom>
          <a:solidFill>
            <a:srgbClr val="0A1A3C"/>
          </a:solidFill>
          <a:ln w="12700" cap="flat" cmpd="sng">
            <a:solidFill>
              <a:srgbClr val="0062F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38"/>
          <p:cNvSpPr txBox="1"/>
          <p:nvPr/>
        </p:nvSpPr>
        <p:spPr>
          <a:xfrm>
            <a:off x="3657600" y="3977639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❓  Questions &amp; Answers</a:t>
            </a:r>
            <a:endParaRPr/>
          </a:p>
        </p:txBody>
      </p:sp>
      <p:sp>
        <p:nvSpPr>
          <p:cNvPr id="1637" name="Google Shape;1637;p38"/>
          <p:cNvSpPr txBox="1"/>
          <p:nvPr/>
        </p:nvSpPr>
        <p:spPr>
          <a:xfrm>
            <a:off x="3657600" y="44348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for Discussion</a:t>
            </a:r>
            <a:endParaRPr/>
          </a:p>
        </p:txBody>
      </p:sp>
      <p:sp>
        <p:nvSpPr>
          <p:cNvPr id="1641" name="Google Shape;1641;p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3081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8"/>
          <p:cNvSpPr txBox="1"/>
          <p:nvPr/>
        </p:nvSpPr>
        <p:spPr>
          <a:xfrm>
            <a:off x="0" y="6565392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IBM SkillsBuild  •  Cloud Computing  •  Machine Learning  •  © 2026</a:t>
            </a:r>
            <a:endParaRPr/>
          </a:p>
        </p:txBody>
      </p:sp>
      <p:sp>
        <p:nvSpPr>
          <p:cNvPr id="1643" name="Google Shape;1643;p3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C99B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 / 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8034</Words>
  <Application>Microsoft Office PowerPoint</Application>
  <PresentationFormat>Widescreen</PresentationFormat>
  <Paragraphs>1389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Quattrocento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Siddharth Negi</cp:lastModifiedBy>
  <cp:revision>2</cp:revision>
  <dcterms:modified xsi:type="dcterms:W3CDTF">2026-07-19T04:31:14Z</dcterms:modified>
</cp:coreProperties>
</file>